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= 80x</c:v>
                </c:pt>
              </c:strCache>
            </c:strRef>
          </c:tx>
          <c:spPr>
            <a:solidFill>
              <a:srgbClr val="1B4965"/>
            </a:solidFill>
            <a:ln w="38100" cap="flat">
              <a:solidFill>
                <a:srgbClr val="1B496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4965"/>
              </a:solidFill>
              <a:ln w="9525" cap="flat">
                <a:solidFill>
                  <a:srgbClr val="1B496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80</c:v>
                </c:pt>
                <c:pt idx="2">
                  <c:v>160</c:v>
                </c:pt>
                <c:pt idx="3">
                  <c:v>240</c:v>
                </c:pt>
                <c:pt idx="4">
                  <c:v>320</c:v>
                </c:pt>
                <c:pt idx="5">
                  <c:v>400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x（個数）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30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y（円）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30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920901" cy="51435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1830437"/>
            <a:ext cx="253893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73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授業スライド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31750" y="2217688"/>
            <a:ext cx="253893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spcBef>
                <a:spcPts val="800"/>
              </a:spcBef>
              <a:buNone/>
            </a:pPr>
            <a:r>
              <a:rPr lang="en-US" sz="6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3055888"/>
            <a:ext cx="25129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9DC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 3 回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0901" y="0"/>
            <a:ext cx="126950" cy="5143500"/>
          </a:xfrm>
          <a:prstGeom prst="rect">
            <a:avLst/>
          </a:prstGeom>
          <a:solidFill>
            <a:srgbClr val="E873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55802" y="1195536"/>
            <a:ext cx="5181853" cy="1206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1B496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比例と反比例</a:t>
            </a:r>
            <a:endParaRPr lang="en-US" sz="3800" dirty="0"/>
          </a:p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1B496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 日常事例から考える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555802" y="2630537"/>
            <a:ext cx="518185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buNone/>
            </a:pPr>
            <a:r>
              <a:rPr lang="en-US" sz="1900" dirty="0">
                <a:solidFill>
                  <a:srgbClr val="3E5C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中学受験算数 ／ 数の関係を見つける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555802" y="3322588"/>
            <a:ext cx="1524000" cy="63401"/>
          </a:xfrm>
          <a:prstGeom prst="roundRect">
            <a:avLst>
              <a:gd name="adj" fmla="val 60094"/>
            </a:avLst>
          </a:prstGeom>
          <a:solidFill>
            <a:srgbClr val="E873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55802" y="3690789"/>
            <a:ext cx="518185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buNone/>
            </a:pPr>
            <a:r>
              <a:rPr lang="en-US" sz="1400" dirty="0">
                <a:solidFill>
                  <a:srgbClr val="6B78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授業者：山田 直子　／　2026 年 7 月 5 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66299" y="0"/>
            <a:ext cx="177701" cy="711101"/>
          </a:xfrm>
          <a:prstGeom prst="rect">
            <a:avLst/>
          </a:prstGeom>
          <a:solidFill>
            <a:srgbClr val="E873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4150" y="1555998"/>
            <a:ext cx="507950" cy="507950"/>
          </a:xfrm>
          <a:prstGeom prst="roundRect">
            <a:avLst>
              <a:gd name="adj" fmla="val 20002"/>
            </a:avLst>
          </a:prstGeom>
          <a:solidFill>
            <a:srgbClr val="E873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3992" y="1624161"/>
            <a:ext cx="19203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20701" y="2044898"/>
            <a:ext cx="7239149" cy="0"/>
          </a:xfrm>
          <a:prstGeom prst="line">
            <a:avLst/>
          </a:prstGeom>
          <a:noFill/>
          <a:ln w="9525">
            <a:solidFill>
              <a:srgbClr val="E3E9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0701" y="1570286"/>
            <a:ext cx="73839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 — 身近な「変わり方」を見つける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84150" y="2241649"/>
            <a:ext cx="507950" cy="507950"/>
          </a:xfrm>
          <a:prstGeom prst="roundRect">
            <a:avLst>
              <a:gd name="adj" fmla="val 20002"/>
            </a:avLst>
          </a:prstGeom>
          <a:solidFill>
            <a:srgbClr val="E873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3992" y="2309813"/>
            <a:ext cx="19203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320701" y="2730550"/>
            <a:ext cx="7239149" cy="0"/>
          </a:xfrm>
          <a:prstGeom prst="line">
            <a:avLst/>
          </a:prstGeom>
          <a:noFill/>
          <a:ln w="9525">
            <a:solidFill>
              <a:srgbClr val="E3E9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0701" y="2255937"/>
            <a:ext cx="73839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比例 — 式・表・グラフで考える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84150" y="2927300"/>
            <a:ext cx="507950" cy="507950"/>
          </a:xfrm>
          <a:prstGeom prst="roundRect">
            <a:avLst>
              <a:gd name="adj" fmla="val 20002"/>
            </a:avLst>
          </a:prstGeom>
          <a:solidFill>
            <a:srgbClr val="E873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3992" y="2995464"/>
            <a:ext cx="19203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320701" y="3416201"/>
            <a:ext cx="7239149" cy="0"/>
          </a:xfrm>
          <a:prstGeom prst="line">
            <a:avLst/>
          </a:prstGeom>
          <a:noFill/>
          <a:ln w="9525">
            <a:solidFill>
              <a:srgbClr val="E3E9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0701" y="2941588"/>
            <a:ext cx="73839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反比例 — 比例との違いをつかむ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84150" y="3612952"/>
            <a:ext cx="507950" cy="507950"/>
          </a:xfrm>
          <a:prstGeom prst="roundRect">
            <a:avLst>
              <a:gd name="adj" fmla="val 20002"/>
            </a:avLst>
          </a:prstGeom>
          <a:solidFill>
            <a:srgbClr val="E873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43992" y="3681115"/>
            <a:ext cx="19203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320701" y="4101852"/>
            <a:ext cx="7239149" cy="0"/>
          </a:xfrm>
          <a:prstGeom prst="line">
            <a:avLst/>
          </a:prstGeom>
          <a:noFill/>
          <a:ln w="9525">
            <a:solidFill>
              <a:srgbClr val="E3E9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0701" y="3627239"/>
            <a:ext cx="73839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演習とまとめ — 自分の言葉で説明する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174950" cy="51435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22747" y="1614488"/>
            <a:ext cx="1151894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E873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940296" y="3214688"/>
            <a:ext cx="132024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600" dirty="0">
                <a:solidFill>
                  <a:srgbClr val="9DC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4950" y="0"/>
            <a:ext cx="101501" cy="5143500"/>
          </a:xfrm>
          <a:prstGeom prst="rect">
            <a:avLst/>
          </a:prstGeom>
          <a:solidFill>
            <a:srgbClr val="E873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35152" y="0"/>
            <a:ext cx="4750147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35152" y="1324273"/>
            <a:ext cx="48451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73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 1 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35152" y="1736973"/>
            <a:ext cx="4845150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spcBef>
                <a:spcPts val="1000"/>
              </a:spcBef>
              <a:buNone/>
            </a:pPr>
            <a:r>
              <a:rPr lang="en-US" sz="4000" dirty="0">
                <a:solidFill>
                  <a:srgbClr val="1B496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比例 —</a:t>
            </a:r>
            <a:endParaRPr lang="en-US" sz="4000" dirty="0"/>
          </a:p>
          <a:p>
            <a:pPr algn="l" indent="0" marL="0">
              <a:lnSpc>
                <a:spcPts val="4800"/>
              </a:lnSpc>
              <a:spcBef>
                <a:spcPts val="1000"/>
              </a:spcBef>
              <a:buNone/>
            </a:pPr>
            <a:r>
              <a:rPr lang="en-US" sz="4000" dirty="0">
                <a:solidFill>
                  <a:srgbClr val="1B496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式・表・グラフ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835152" y="3209776"/>
            <a:ext cx="4845150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2000"/>
              </a:spcBef>
              <a:buNone/>
            </a:pPr>
            <a:r>
              <a:rPr lang="en-US" sz="1600" dirty="0">
                <a:solidFill>
                  <a:srgbClr val="3E5C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つの表し方を行き来して、</a:t>
            </a:r>
            <a:endParaRPr lang="en-US" sz="1600" dirty="0"/>
          </a:p>
          <a:p>
            <a:pPr algn="l" indent="0" marL="0">
              <a:lnSpc>
                <a:spcPts val="2400"/>
              </a:lnSpc>
              <a:spcBef>
                <a:spcPts val="2000"/>
              </a:spcBef>
              <a:buNone/>
            </a:pPr>
            <a:r>
              <a:rPr lang="en-US" sz="1600" dirty="0">
                <a:solidFill>
                  <a:srgbClr val="3E5C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「変わり方」を数で説明する。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3825"/>
            <a:ext cx="2076233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本日のポイント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966299" y="0"/>
            <a:ext cx="177701" cy="685800"/>
          </a:xfrm>
          <a:prstGeom prst="rect">
            <a:avLst/>
          </a:prstGeom>
          <a:solidFill>
            <a:srgbClr val="E873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19100" y="914400"/>
            <a:ext cx="0" cy="285750"/>
          </a:xfrm>
          <a:prstGeom prst="line">
            <a:avLst/>
          </a:prstGeom>
          <a:noFill/>
          <a:ln w="76200">
            <a:solidFill>
              <a:srgbClr val="E87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4150" y="914400"/>
            <a:ext cx="367898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96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学習のねらい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1000" y="1263551"/>
            <a:ext cx="3810000" cy="920948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233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比例・反比例の式を立てて、表とグラフを読みとる</a:t>
            </a:r>
            <a:endParaRPr lang="en-US" sz="1250" dirty="0"/>
          </a:p>
          <a:p>
            <a:pPr algn="l" marL="127000" indent="-127000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233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日常事例（買い物／速さ）から関係を見つける</a:t>
            </a:r>
            <a:endParaRPr lang="en-US" sz="1250" dirty="0"/>
          </a:p>
          <a:p>
            <a:pPr algn="l" marL="127000" indent="-127000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233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 が増えたとき y がどう変わるかを説明できる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9100" y="2324100"/>
            <a:ext cx="0" cy="285750"/>
          </a:xfrm>
          <a:prstGeom prst="line">
            <a:avLst/>
          </a:prstGeom>
          <a:noFill/>
          <a:ln w="76200">
            <a:solidFill>
              <a:srgbClr val="E873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4150" y="2324100"/>
            <a:ext cx="367898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96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キーワード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1000" y="2673251"/>
            <a:ext cx="3810000" cy="230237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233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比例定数・反比例・グラフ・表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9100" y="3043089"/>
            <a:ext cx="0" cy="285750"/>
          </a:xfrm>
          <a:prstGeom prst="line">
            <a:avLst/>
          </a:prstGeom>
          <a:noFill/>
          <a:ln w="76200">
            <a:solidFill>
              <a:srgbClr val="E873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4150" y="3043089"/>
            <a:ext cx="367898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96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授業の流れ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1000" y="3392239"/>
            <a:ext cx="3810000" cy="69071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233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導入：身近な事例で「変わり方」を観察</a:t>
            </a:r>
            <a:endParaRPr lang="en-US" sz="1250" dirty="0"/>
          </a:p>
          <a:p>
            <a:pPr algn="l" marL="127000" indent="-127000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233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展開：式 → 表 → グラフ を行き来</a:t>
            </a:r>
            <a:endParaRPr lang="en-US" sz="1250" dirty="0"/>
          </a:p>
          <a:p>
            <a:pPr algn="l" marL="127000" indent="-127000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233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演習：3 問 → ペアで確認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95800" y="914400"/>
            <a:ext cx="43525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3E5C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グラフ：y = 80x（あめ 1 個 80 円）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95800" y="3774877"/>
            <a:ext cx="4267200" cy="536377"/>
          </a:xfrm>
          <a:prstGeom prst="roundRect">
            <a:avLst>
              <a:gd name="adj" fmla="val 18942"/>
            </a:avLst>
          </a:prstGeom>
          <a:solidFill>
            <a:srgbClr val="E873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60341" y="3914477"/>
            <a:ext cx="393811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確認問題：x が 2 倍になると y はどうなる？</a:t>
            </a:r>
            <a:endParaRPr lang="en-US" sz="13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495800" y="1215926"/>
          <a:ext cx="4286250" cy="24065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32121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 — 比例 と 反比例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66299" y="0"/>
            <a:ext cx="177701" cy="711101"/>
          </a:xfrm>
          <a:prstGeom prst="rect">
            <a:avLst/>
          </a:prstGeom>
          <a:solidFill>
            <a:srgbClr val="E873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990451"/>
            <a:ext cx="4064050" cy="3873698"/>
          </a:xfrm>
          <a:prstGeom prst="roundRect">
            <a:avLst>
              <a:gd name="adj" fmla="val 3279"/>
            </a:avLst>
          </a:prstGeom>
          <a:noFill/>
          <a:ln w="9525">
            <a:solidFill>
              <a:srgbClr val="D8DF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0525" y="999976"/>
            <a:ext cx="4045000" cy="58415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953369" y="1106239"/>
            <a:ext cx="93769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Ⅰ. 比例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90525" y="1584127"/>
            <a:ext cx="4045000" cy="327049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9125" y="2186136"/>
            <a:ext cx="36595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496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9125" y="2471886"/>
            <a:ext cx="365955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B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 = a × x　（a は比例定数）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9125" y="2938611"/>
            <a:ext cx="36595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496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9125" y="3224361"/>
            <a:ext cx="3659556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734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あめ 1 個 80 円 → y = 80x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734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x（個数）が増えると y（代金）も増える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9125" y="3719364"/>
            <a:ext cx="36595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496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グラフ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9125" y="4005114"/>
            <a:ext cx="3659556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734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原点を通る右上がりの直線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98950" y="990451"/>
            <a:ext cx="4064050" cy="3873698"/>
          </a:xfrm>
          <a:prstGeom prst="roundRect">
            <a:avLst>
              <a:gd name="adj" fmla="val 3279"/>
            </a:avLst>
          </a:prstGeom>
          <a:noFill/>
          <a:ln w="9525">
            <a:solidFill>
              <a:srgbClr val="D8DF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08475" y="999976"/>
            <a:ext cx="4045000" cy="584150"/>
          </a:xfrm>
          <a:prstGeom prst="rect">
            <a:avLst/>
          </a:prstGeom>
          <a:solidFill>
            <a:srgbClr val="E873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44369" y="1106239"/>
            <a:ext cx="119667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Ⅱ. 反比例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08475" y="1584127"/>
            <a:ext cx="4045000" cy="327049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37075" y="2186136"/>
            <a:ext cx="36595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873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075" y="2471886"/>
            <a:ext cx="365955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B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 = a ÷ x　（a は一定）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075" y="2938611"/>
            <a:ext cx="36595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873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075" y="3224361"/>
            <a:ext cx="3659556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734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12km を時速 x で進む → y = 12 ÷ x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734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x（速さ）が増えると y（時間）は減る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075" y="3719364"/>
            <a:ext cx="36595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873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グラフ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075" y="4005114"/>
            <a:ext cx="3659556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734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なめらかな右下がりの曲線（双曲線）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3681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表で確かめる — y = 80x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66299" y="0"/>
            <a:ext cx="177701" cy="711101"/>
          </a:xfrm>
          <a:prstGeom prst="rect">
            <a:avLst/>
          </a:prstGeom>
          <a:solidFill>
            <a:srgbClr val="E873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19100" y="2130475"/>
            <a:ext cx="0" cy="314325"/>
          </a:xfrm>
          <a:prstGeom prst="line">
            <a:avLst/>
          </a:prstGeom>
          <a:noFill/>
          <a:ln w="76200">
            <a:solidFill>
              <a:srgbClr val="E87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4150" y="2130475"/>
            <a:ext cx="367898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96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表の読み方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2571750"/>
            <a:ext cx="3886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33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 が 1 増えるごとに y は 80 ずつ増えます。</a:t>
            </a:r>
            <a:endParaRPr lang="en-US" sz="1350" dirty="0"/>
          </a:p>
          <a:p>
            <a:pPr algn="l" indent="0" marL="0">
              <a:lnSpc>
                <a:spcPts val="2025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33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「いつも 80 倍」 = これが比例定数 a。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1000" y="3263801"/>
            <a:ext cx="1988790" cy="460177"/>
          </a:xfrm>
          <a:prstGeom prst="roundRect">
            <a:avLst>
              <a:gd name="adj" fmla="val 16559"/>
            </a:avLst>
          </a:prstGeom>
          <a:solidFill>
            <a:srgbClr val="EA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3400" y="3365302"/>
            <a:ext cx="17176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96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 ÷ x は つねに 80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95800" y="1466850"/>
          <a:ext cx="4267200" cy="2920901"/>
        </p:xfrm>
        <a:graphic>
          <a:graphicData uri="http://schemas.openxmlformats.org/drawingml/2006/table">
            <a:tbl>
              <a:tblPr/>
              <a:tblGrid>
                <a:gridCol w="960120"/>
                <a:gridCol w="551180"/>
                <a:gridCol w="551180"/>
                <a:gridCol w="551180"/>
                <a:gridCol w="551180"/>
                <a:gridCol w="551180"/>
                <a:gridCol w="55118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x （個）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4965"/>
                          </a:solidFill>
                        </a:rPr>
                        <a:t>y （円）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303A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303A"/>
                          </a:solidFill>
                        </a:rPr>
                        <a:t>80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303A"/>
                          </a:solidFill>
                        </a:rPr>
                        <a:t>160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303A"/>
                          </a:solidFill>
                        </a:rPr>
                        <a:t>240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303A"/>
                          </a:solidFill>
                        </a:rPr>
                        <a:t>320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303A"/>
                          </a:solidFill>
                        </a:rPr>
                        <a:t>400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2694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 と 振り返り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66299" y="0"/>
            <a:ext cx="177701" cy="711101"/>
          </a:xfrm>
          <a:prstGeom prst="rect">
            <a:avLst/>
          </a:prstGeom>
          <a:solidFill>
            <a:srgbClr val="E873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19100" y="1673572"/>
            <a:ext cx="0" cy="323850"/>
          </a:xfrm>
          <a:prstGeom prst="line">
            <a:avLst/>
          </a:prstGeom>
          <a:noFill/>
          <a:ln w="76200">
            <a:solidFill>
              <a:srgbClr val="E87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4150" y="1673572"/>
            <a:ext cx="41970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496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今日のまとめ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81000" y="2149822"/>
            <a:ext cx="330101" cy="330101"/>
          </a:xfrm>
          <a:prstGeom prst="roundRect">
            <a:avLst>
              <a:gd name="adj" fmla="val 50015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4882" y="2191048"/>
            <a:ext cx="1247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3501" y="2199084"/>
            <a:ext cx="3912159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233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比例は y = a × x、反比例は y = a ÷ x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1000" y="2619524"/>
            <a:ext cx="330101" cy="330101"/>
          </a:xfrm>
          <a:prstGeom prst="roundRect">
            <a:avLst>
              <a:gd name="adj" fmla="val 50015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4882" y="2660749"/>
            <a:ext cx="1247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3501" y="2668786"/>
            <a:ext cx="3912159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233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表・式・グラフは同じ関係の3つの見方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81000" y="3089225"/>
            <a:ext cx="330101" cy="330101"/>
          </a:xfrm>
          <a:prstGeom prst="roundRect">
            <a:avLst>
              <a:gd name="adj" fmla="val 50015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4882" y="3130451"/>
            <a:ext cx="1247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3501" y="3138488"/>
            <a:ext cx="3912159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233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身近な事例に当てはめると関係が見える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81000" y="3558927"/>
            <a:ext cx="330101" cy="330101"/>
          </a:xfrm>
          <a:prstGeom prst="roundRect">
            <a:avLst>
              <a:gd name="adj" fmla="val 50015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4882" y="3600152"/>
            <a:ext cx="1247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3501" y="3608189"/>
            <a:ext cx="3912159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2330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変わり方を一言で説明できれば理解できた証拠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03750" y="939701"/>
            <a:ext cx="3759250" cy="3032522"/>
          </a:xfrm>
          <a:prstGeom prst="roundRect">
            <a:avLst>
              <a:gd name="adj" fmla="val 4188"/>
            </a:avLst>
          </a:prstGeom>
          <a:solidFill>
            <a:srgbClr val="F2F6F9"/>
          </a:solidFill>
          <a:ln w="9525">
            <a:solidFill>
              <a:srgbClr val="CFE0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67176" y="1544092"/>
            <a:ext cx="3297046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B496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ひとことで書こう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67176" y="2011263"/>
            <a:ext cx="3297046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734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「x が増えると y は ____ なる。</a:t>
            </a:r>
            <a:endParaRPr lang="en-US" sz="1400" dirty="0"/>
          </a:p>
          <a:p>
            <a:pPr algn="l" indent="0" marL="0">
              <a:lnSpc>
                <a:spcPts val="217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734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なぜなら ____ だから。」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67176" y="2689473"/>
            <a:ext cx="3297046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734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比例・反比例それぞれで 1 文ずつ書いてみよう。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03750" y="4149923"/>
            <a:ext cx="3759250" cy="612577"/>
          </a:xfrm>
          <a:prstGeom prst="roundRect">
            <a:avLst>
              <a:gd name="adj" fmla="val 20732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73371" y="4327624"/>
            <a:ext cx="34200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次回：グラフから式を読みとる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授業スライド テンプレート — 比例と反比例</dc:title>
  <dc:subject>PptxGenJS Presentation</dc:subject>
  <dc:creator>Daisuke</dc:creator>
  <cp:lastModifiedBy>Daisuke</cp:lastModifiedBy>
  <cp:revision>1</cp:revision>
  <dcterms:created xsi:type="dcterms:W3CDTF">2026-06-29T09:27:04Z</dcterms:created>
  <dcterms:modified xsi:type="dcterms:W3CDTF">2026-06-29T09:27:04Z</dcterms:modified>
</cp:coreProperties>
</file>