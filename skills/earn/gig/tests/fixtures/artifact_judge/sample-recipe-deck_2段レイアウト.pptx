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507200" cy="1300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d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507200" cy="13004800"/>
          </a:xfrm>
          <a:prstGeom prst="rect">
            <a:avLst/>
          </a:prstGeom>
        </p:spPr>
      </p:pic>
      <p:pic>
        <p:nvPicPr>
          <p:cNvPr id="3" name="Picture 2" descr="2dan_photo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2146300"/>
            <a:ext cx="2654300" cy="1041400"/>
          </a:xfrm>
          <a:prstGeom prst="rect">
            <a:avLst/>
          </a:prstGeom>
        </p:spPr>
      </p:pic>
      <p:pic>
        <p:nvPicPr>
          <p:cNvPr id="4" name="Picture 3" descr="2dan_phot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700" y="2146300"/>
            <a:ext cx="2489200" cy="1041400"/>
          </a:xfrm>
          <a:prstGeom prst="rect">
            <a:avLst/>
          </a:prstGeom>
        </p:spPr>
      </p:pic>
      <p:pic>
        <p:nvPicPr>
          <p:cNvPr id="5" name="Picture 4" descr="2dan_phot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700" y="2146300"/>
            <a:ext cx="2438400" cy="1041400"/>
          </a:xfrm>
          <a:prstGeom prst="rect">
            <a:avLst/>
          </a:prstGeom>
        </p:spPr>
      </p:pic>
      <p:pic>
        <p:nvPicPr>
          <p:cNvPr id="6" name="Picture 5" descr="2dan_photo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5130800"/>
            <a:ext cx="5105400" cy="1866900"/>
          </a:xfrm>
          <a:prstGeom prst="rect">
            <a:avLst/>
          </a:prstGeom>
        </p:spPr>
      </p:pic>
      <p:pic>
        <p:nvPicPr>
          <p:cNvPr id="7" name="Picture 6" descr="2dan_photo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7900" y="2146300"/>
            <a:ext cx="2641600" cy="1041400"/>
          </a:xfrm>
          <a:prstGeom prst="rect">
            <a:avLst/>
          </a:prstGeom>
        </p:spPr>
      </p:pic>
      <p:pic>
        <p:nvPicPr>
          <p:cNvPr id="8" name="Picture 7" descr="2dan_photo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0" y="2146300"/>
            <a:ext cx="2819400" cy="1041400"/>
          </a:xfrm>
          <a:prstGeom prst="rect">
            <a:avLst/>
          </a:prstGeom>
        </p:spPr>
      </p:pic>
      <p:pic>
        <p:nvPicPr>
          <p:cNvPr id="9" name="Picture 8" descr="2dan_photo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17900" y="2146300"/>
            <a:ext cx="2641600" cy="1041400"/>
          </a:xfrm>
          <a:prstGeom prst="rect">
            <a:avLst/>
          </a:prstGeom>
        </p:spPr>
      </p:pic>
      <p:pic>
        <p:nvPicPr>
          <p:cNvPr id="10" name="Picture 9" descr="2dan_photo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900" y="5130800"/>
            <a:ext cx="2971800" cy="1104900"/>
          </a:xfrm>
          <a:prstGeom prst="rect">
            <a:avLst/>
          </a:prstGeom>
        </p:spPr>
      </p:pic>
      <p:pic>
        <p:nvPicPr>
          <p:cNvPr id="11" name="Picture 10" descr="2dan_photo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11200" y="5130800"/>
            <a:ext cx="2984500" cy="1993900"/>
          </a:xfrm>
          <a:prstGeom prst="rect">
            <a:avLst/>
          </a:prstGeom>
        </p:spPr>
      </p:pic>
      <p:pic>
        <p:nvPicPr>
          <p:cNvPr id="12" name="Picture 11" descr="2dan_photo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5900" y="9004300"/>
            <a:ext cx="2133600" cy="939800"/>
          </a:xfrm>
          <a:prstGeom prst="rect">
            <a:avLst/>
          </a:prstGeom>
        </p:spPr>
      </p:pic>
      <p:pic>
        <p:nvPicPr>
          <p:cNvPr id="13" name="Picture 12" descr="2dan_photo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6400" y="9004300"/>
            <a:ext cx="1917700" cy="939800"/>
          </a:xfrm>
          <a:prstGeom prst="rect">
            <a:avLst/>
          </a:prstGeom>
        </p:spPr>
      </p:pic>
      <p:pic>
        <p:nvPicPr>
          <p:cNvPr id="14" name="Picture 13" descr="2dan_photo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82400" y="9004300"/>
            <a:ext cx="2336800" cy="939800"/>
          </a:xfrm>
          <a:prstGeom prst="rect">
            <a:avLst/>
          </a:prstGeom>
        </p:spPr>
      </p:pic>
      <p:pic>
        <p:nvPicPr>
          <p:cNvPr id="15" name="Picture 14" descr="2dan_photo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9400" y="10655300"/>
            <a:ext cx="1993900" cy="1346200"/>
          </a:xfrm>
          <a:prstGeom prst="rect">
            <a:avLst/>
          </a:prstGeom>
        </p:spPr>
      </p:pic>
      <p:pic>
        <p:nvPicPr>
          <p:cNvPr id="16" name="Picture 15" descr="2dan_photo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2400" y="10655300"/>
            <a:ext cx="1790700" cy="1346200"/>
          </a:xfrm>
          <a:prstGeom prst="rect">
            <a:avLst/>
          </a:prstGeom>
        </p:spPr>
      </p:pic>
      <p:pic>
        <p:nvPicPr>
          <p:cNvPr id="17" name="Picture 16" descr="2dan_photo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7400" y="10833100"/>
            <a:ext cx="4889500" cy="1600200"/>
          </a:xfrm>
          <a:prstGeom prst="rect">
            <a:avLst/>
          </a:prstGeom>
        </p:spPr>
      </p:pic>
      <p:pic>
        <p:nvPicPr>
          <p:cNvPr id="18" name="Picture 17" descr="2dan_ov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000" y="1638300"/>
            <a:ext cx="571500" cy="584200"/>
          </a:xfrm>
          <a:prstGeom prst="rect">
            <a:avLst/>
          </a:prstGeom>
        </p:spPr>
      </p:pic>
      <p:pic>
        <p:nvPicPr>
          <p:cNvPr id="19" name="Picture 18" descr="2dan_ov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05200" y="1638300"/>
            <a:ext cx="571500" cy="584200"/>
          </a:xfrm>
          <a:prstGeom prst="rect">
            <a:avLst/>
          </a:prstGeom>
        </p:spPr>
      </p:pic>
      <p:pic>
        <p:nvPicPr>
          <p:cNvPr id="20" name="Picture 19" descr="2dan_ov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1638300"/>
            <a:ext cx="571500" cy="584200"/>
          </a:xfrm>
          <a:prstGeom prst="rect">
            <a:avLst/>
          </a:prstGeom>
        </p:spPr>
      </p:pic>
      <p:pic>
        <p:nvPicPr>
          <p:cNvPr id="21" name="Picture 20" descr="2dan_ov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6600" y="4724400"/>
            <a:ext cx="609600" cy="609600"/>
          </a:xfrm>
          <a:prstGeom prst="rect">
            <a:avLst/>
          </a:prstGeom>
        </p:spPr>
      </p:pic>
      <p:pic>
        <p:nvPicPr>
          <p:cNvPr id="22" name="Picture 21" descr="2dan_ov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82200" y="1638300"/>
            <a:ext cx="571500" cy="584200"/>
          </a:xfrm>
          <a:prstGeom prst="rect">
            <a:avLst/>
          </a:prstGeom>
        </p:spPr>
      </p:pic>
      <p:pic>
        <p:nvPicPr>
          <p:cNvPr id="23" name="Picture 22" descr="2dan_ov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890500" y="1638300"/>
            <a:ext cx="571500" cy="584200"/>
          </a:xfrm>
          <a:prstGeom prst="rect">
            <a:avLst/>
          </a:prstGeom>
        </p:spPr>
      </p:pic>
      <p:pic>
        <p:nvPicPr>
          <p:cNvPr id="24" name="Picture 23" descr="2dan_ov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154400" y="1638300"/>
            <a:ext cx="571500" cy="584200"/>
          </a:xfrm>
          <a:prstGeom prst="rect">
            <a:avLst/>
          </a:prstGeom>
        </p:spPr>
      </p:pic>
      <p:pic>
        <p:nvPicPr>
          <p:cNvPr id="25" name="Picture 24" descr="2dan_ov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82200" y="4673600"/>
            <a:ext cx="571500" cy="571500"/>
          </a:xfrm>
          <a:prstGeom prst="rect">
            <a:avLst/>
          </a:prstGeom>
        </p:spPr>
      </p:pic>
      <p:pic>
        <p:nvPicPr>
          <p:cNvPr id="26" name="Picture 25" descr="2dan_ov8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385800" y="4686300"/>
            <a:ext cx="647700" cy="647700"/>
          </a:xfrm>
          <a:prstGeom prst="rect">
            <a:avLst/>
          </a:prstGeom>
        </p:spPr>
      </p:pic>
      <p:pic>
        <p:nvPicPr>
          <p:cNvPr id="27" name="Picture 26" descr="2dan_ov9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92200" y="8597900"/>
            <a:ext cx="596900" cy="558800"/>
          </a:xfrm>
          <a:prstGeom prst="rect">
            <a:avLst/>
          </a:prstGeom>
        </p:spPr>
      </p:pic>
      <p:pic>
        <p:nvPicPr>
          <p:cNvPr id="28" name="Picture 27" descr="2dan_ov1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8610600"/>
            <a:ext cx="546100" cy="546100"/>
          </a:xfrm>
          <a:prstGeom prst="rect">
            <a:avLst/>
          </a:prstGeom>
        </p:spPr>
      </p:pic>
      <p:pic>
        <p:nvPicPr>
          <p:cNvPr id="29" name="Picture 28" descr="2dan_ov1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163300" y="8610600"/>
            <a:ext cx="546100" cy="546100"/>
          </a:xfrm>
          <a:prstGeom prst="rect">
            <a:avLst/>
          </a:prstGeom>
        </p:spPr>
      </p:pic>
      <p:pic>
        <p:nvPicPr>
          <p:cNvPr id="30" name="Picture 29" descr="2dan_ov1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9500" y="10388600"/>
            <a:ext cx="596900" cy="558800"/>
          </a:xfrm>
          <a:prstGeom prst="rect">
            <a:avLst/>
          </a:prstGeom>
        </p:spPr>
      </p:pic>
      <p:pic>
        <p:nvPicPr>
          <p:cNvPr id="31" name="Picture 30" descr="2dan_ov1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969000" y="10388600"/>
            <a:ext cx="660400" cy="558800"/>
          </a:xfrm>
          <a:prstGeom prst="rect">
            <a:avLst/>
          </a:prstGeom>
        </p:spPr>
      </p:pic>
      <p:pic>
        <p:nvPicPr>
          <p:cNvPr id="32" name="Picture 31" descr="2dan_ov14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20400" y="10414000"/>
            <a:ext cx="647700" cy="647700"/>
          </a:xfrm>
          <a:prstGeom prst="rect">
            <a:avLst/>
          </a:prstGeom>
        </p:spPr>
      </p:pic>
      <p:pic>
        <p:nvPicPr>
          <p:cNvPr id="102" name="Picture 101" descr="tag_4k-hero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15100" y="6286500"/>
            <a:ext cx="1193800" cy="520700"/>
          </a:xfrm>
          <a:prstGeom prst="rect">
            <a:avLst/>
          </a:prstGeom>
        </p:spPr>
      </p:pic>
      <p:pic>
        <p:nvPicPr>
          <p:cNvPr id="103" name="Picture 102" descr="tag_5k-hero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018000" y="6400800"/>
            <a:ext cx="1092200" cy="482600"/>
          </a:xfrm>
          <a:prstGeom prst="rect">
            <a:avLst/>
          </a:prstGeom>
        </p:spPr>
      </p:pic>
      <p:pic>
        <p:nvPicPr>
          <p:cNvPr id="104" name="Picture 103" descr="tag_6k-hero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6002000" y="11823700"/>
            <a:ext cx="1231900" cy="5207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41400" y="224472"/>
            <a:ext cx="2286000" cy="313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50" b="0" spc="-40">
                <a:solidFill>
                  <a:srgbClr val="EFCE7C"/>
                </a:solidFill>
                <a:latin typeface="Noto Sans JP"/>
                <a:ea typeface="Noto Sans JP"/>
                <a:cs typeface="Noto Sans JP"/>
              </a:rPr>
              <a:t>4コマ・2段レイアウト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3100" y="377190"/>
            <a:ext cx="5867400" cy="10363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0" b="1" spc="-26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焼肉の美味しい焼き方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1606550"/>
            <a:ext cx="5715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3500" y="1685798"/>
            <a:ext cx="4318000" cy="3368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焼く前に常温に戻す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600" y="34163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冷たいままだと火の通りが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不均一になります。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9900" y="4070667"/>
            <a:ext cx="4318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10〜15分が目安！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5200" y="1606550"/>
            <a:ext cx="5715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9100" y="1685798"/>
            <a:ext cx="4318000" cy="3368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強火で焼き始める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2200" y="34163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まずは強火で表面を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サッと焼きます。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8200" y="4070667"/>
            <a:ext cx="4318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旨みを閉じ込める！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8900" y="1606550"/>
            <a:ext cx="5715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100" y="1685798"/>
            <a:ext cx="4318000" cy="3368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片面をしっかり焼く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0500" y="34163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焦げ目がつくまで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じっくり待ちます。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1900" y="4070667"/>
            <a:ext cx="4318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裏返しは1回だけ！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600" y="4689157"/>
            <a:ext cx="609600" cy="6800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5900" y="4755451"/>
            <a:ext cx="5080000" cy="3950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83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焼き上がり！ベストなタイミングでどうぞ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0500" y="5308600"/>
            <a:ext cx="2794000" cy="838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70"/>
              </a:lnSpc>
            </a:pPr>
            <a:r>
              <a:rPr sz="125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中はジューシーに、</a:t>
            </a:r>
          </a:p>
          <a:p>
            <a:pPr algn="l">
              <a:lnSpc>
                <a:spcPts val="2070"/>
              </a:lnSpc>
            </a:pPr>
            <a:r>
              <a:rPr sz="125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外は香ばしく焼き上げるのが</a:t>
            </a:r>
          </a:p>
          <a:p>
            <a:pPr algn="l">
              <a:lnSpc>
                <a:spcPts val="2070"/>
              </a:lnSpc>
            </a:pPr>
            <a:r>
              <a:rPr sz="125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一番の美味しさです。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0800" y="6510655"/>
            <a:ext cx="2032000" cy="2374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焼きすぎ注意！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14000" y="224472"/>
            <a:ext cx="2286000" cy="313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50" b="0" spc="-40">
                <a:solidFill>
                  <a:srgbClr val="EFCE7C"/>
                </a:solidFill>
                <a:latin typeface="Noto Sans JP"/>
                <a:ea typeface="Noto Sans JP"/>
                <a:cs typeface="Noto Sans JP"/>
              </a:rPr>
              <a:t>5コマ・2段レイアウト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31600" y="366395"/>
            <a:ext cx="5943600" cy="10579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900" b="1" spc="-26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焼肉の美味しい焼き方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2200" y="1606550"/>
            <a:ext cx="5715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8000" y="1673098"/>
            <a:ext cx="4318000" cy="3368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焼く前に常温に戻す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9200" y="34163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冷たいままだと火の通りが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不均一になります。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88700" y="4057967"/>
            <a:ext cx="4318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10〜15分が目安！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90500" y="1606550"/>
            <a:ext cx="5715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601700" y="1673098"/>
            <a:ext cx="4318000" cy="3368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強火で焼き始める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30200" y="34163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まずは強火で表面を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サッと焼きます。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200" y="4057967"/>
            <a:ext cx="4318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旨みを閉じ込める！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154400" y="1606550"/>
            <a:ext cx="5715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865600" y="1673098"/>
            <a:ext cx="4318000" cy="3368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片面をしっかり焼く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256000" y="34163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焦げ目がつくまで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じっくり待ちます。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399000" y="4057967"/>
            <a:ext cx="4318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裏返しは1回だけ！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2200" y="4646295"/>
            <a:ext cx="571500" cy="6261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9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80700" y="4698936"/>
            <a:ext cx="4318000" cy="330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3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裏返してさっと焼く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21900" y="63500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裏返したら短時間で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焼きすぎないように。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41100" y="69246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焼き時間は短く！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385800" y="4653915"/>
            <a:ext cx="647700" cy="7124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3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98600" y="4703318"/>
            <a:ext cx="3810000" cy="4231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96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焼き上がり！最高の瞬間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030700" y="5486400"/>
            <a:ext cx="2286000" cy="812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10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中はジューシーに、</a:t>
            </a:r>
          </a:p>
          <a:p>
            <a:pPr algn="l">
              <a:lnSpc>
                <a:spcPts val="1950"/>
              </a:lnSpc>
            </a:pPr>
            <a:r>
              <a:rPr sz="110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外は香ばしく焼き上げるのが</a:t>
            </a:r>
          </a:p>
          <a:p>
            <a:pPr algn="l">
              <a:lnSpc>
                <a:spcPts val="1950"/>
              </a:lnSpc>
            </a:pPr>
            <a:r>
              <a:rPr sz="110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一番の美味しさです。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161000" y="6551168"/>
            <a:ext cx="1524000" cy="2072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焼きすぎ注意！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1400" y="7692072"/>
            <a:ext cx="2286000" cy="313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50" b="0" spc="-40">
                <a:solidFill>
                  <a:srgbClr val="EFCE7C"/>
                </a:solidFill>
                <a:latin typeface="Noto Sans JP"/>
                <a:ea typeface="Noto Sans JP"/>
                <a:cs typeface="Noto Sans JP"/>
              </a:rPr>
              <a:t>6コマ・2段レイアウト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70600" y="7537450"/>
            <a:ext cx="6172200" cy="1079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000" b="1" spc="-26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焼肉の美味しい焼き方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2200" y="8564245"/>
            <a:ext cx="596900" cy="6261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9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41500" y="86137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焼く前に常温に戻す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59200" y="90551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冷たいままだと火の通りが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不均一になります。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60900" y="9769411"/>
            <a:ext cx="4318000" cy="222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3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10〜15分が目安！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24600" y="8570595"/>
            <a:ext cx="546100" cy="6261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9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7700" y="86137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強火で焼き始める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26500" y="90551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まずは強火で表面を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サッと焼きます。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64700" y="9785604"/>
            <a:ext cx="4318000" cy="1899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旨みを閉じ込める！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63300" y="8570595"/>
            <a:ext cx="546100" cy="6261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9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36400" y="86137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片面をしっかり焼く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084300" y="89789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焦げ目がつくまで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じっくり待ちます。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392400" y="96551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裏返しは1回だけ！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9500" y="10354945"/>
            <a:ext cx="596900" cy="6261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9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78000" y="104425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裏返してさっと焼く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83000" y="109220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裏返したら短時間で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焼きすぎないように。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46600" y="11654409"/>
            <a:ext cx="4318000" cy="2115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焼き時間は短く！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69000" y="10354945"/>
            <a:ext cx="660400" cy="6261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9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54800" y="10442575"/>
            <a:ext cx="43180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1" spc="-6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余熱で火を通す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45500" y="10922000"/>
            <a:ext cx="4318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強火を避け、余熱で</a:t>
            </a:r>
          </a:p>
          <a:p>
            <a:pPr algn="l">
              <a:lnSpc>
                <a:spcPts val="2000"/>
              </a:lnSpc>
            </a:pPr>
            <a:r>
              <a:rPr sz="123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中まで火を通します。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83700" y="11668442"/>
            <a:ext cx="4318000" cy="1835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ふっくらジューシー！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20400" y="10370820"/>
            <a:ext cx="647700" cy="7340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Noto Serif JP"/>
                <a:ea typeface="Noto Serif JP"/>
                <a:cs typeface="Noto Serif JP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582400" y="10464800"/>
            <a:ext cx="381000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spc="-60">
                <a:solidFill>
                  <a:srgbClr val="EFCE7C"/>
                </a:solidFill>
                <a:latin typeface="Noto Sans JP"/>
                <a:ea typeface="Noto Sans JP"/>
                <a:cs typeface="Noto Sans JP"/>
              </a:rPr>
              <a:t>焼き上がり！最高の瞬間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02000" y="10947400"/>
            <a:ext cx="2794000" cy="76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00"/>
              </a:lnSpc>
            </a:pPr>
            <a:r>
              <a:rPr sz="116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中はジューシーに、</a:t>
            </a:r>
          </a:p>
          <a:p>
            <a:pPr algn="l">
              <a:lnSpc>
                <a:spcPts val="1900"/>
              </a:lnSpc>
            </a:pPr>
            <a:r>
              <a:rPr sz="116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外は香ばしく焼き上げるのが</a:t>
            </a:r>
          </a:p>
          <a:p>
            <a:pPr algn="l">
              <a:lnSpc>
                <a:spcPts val="1900"/>
              </a:lnSpc>
            </a:pPr>
            <a:r>
              <a:rPr sz="1160" b="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一番の美味しさです。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208500" y="12029757"/>
            <a:ext cx="2286000" cy="2482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1" spc="-3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焼きすぎ注意！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94200" y="12541567"/>
            <a:ext cx="7112000" cy="2914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50" b="0" spc="-30">
                <a:solidFill>
                  <a:srgbClr val="F0F0F0"/>
                </a:solidFill>
                <a:latin typeface="Noto Sans JP"/>
                <a:ea typeface="Noto Sans JP"/>
                <a:cs typeface="Noto Sans JP"/>
              </a:rPr>
              <a:t>※写真はイメージです。お肉の種類や厚さによって焼き時間は調整してください。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