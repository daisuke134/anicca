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今日は、Life Managerで何を任せられるようにしたいのか、いま何が動いていて、何が残っているのかを話す。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自分は、次の予定、出発時刻、予約、連絡をずっと気にしている。小さな用事でも、忘れないように抱えているだけで疲れる。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Life Managerには、身体、心、お金の用事を任せたい。予定、場所、本人の希望をまとめて見て、次に片づけることを決める。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開発の指示はChatGPTのiPhoneアプリから出している。Mac miniに接続したCodexがコードを読み、作り、試し、GitHubへ残す。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本人は予定を入れる。Life Managerは移動時間を足し、必要なら電話し、遅刻の連絡を送り、最後にTelegramで結果を知らせる。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予定、電話、個人パネル、設定、結果の集計、画面の安全対策は、本番で実物を使って確認した。APIが成功を返しただけでは完了にしていない。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本人の希望、予定、場所、許可、予算、過去の結果を見て、健康、心、お金のどれを処理するか決める。実行にはブラウザ、メール、電話などを使う。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普段の連絡は電話とTelegramで受け取る。個人パネルは毎日開く画面ではなく、設定を変えたり、実行結果を確かめたりするときに使う。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ログと数値から失敗を見つけ、原因を調べ、コードを直し、本物の電話やメールで確認する。同じ失敗はテストに残す。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GitHubで確認できる正本は8i。別のCodexスレッドでは、その先の作業も進んでいる。ただし、未pushや別ブランチの作業は完了扱いにしない。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残作業はこの順番で進める。まずリポジトリを一本化し、集客と開発の自動修復を作る。その後、健康、心、お金の機能を仕上げる。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任せた範囲では、実行してから報告する。権限は必要な分だけ受け取り、実行結果は録音やMessage-IDなどで確認する。失敗も隠さない。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長期目標は、AIが仕事で収入を得て、自分のモデル代とサーバー代を払うこと。残りを本人へ送り、利用料を下げる。まだ実績ではなく、今後作る部分。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Life Managerは、予定と場所を読み、必要な処理を実行し、結果を本人へ伝える。失敗したら原因を調べて直す。そこまでを任せたい。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7700"/>
            <a:ext cx="69951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LIGHTNING TALK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066800"/>
            <a:ext cx="6995160" cy="2098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8"/>
              </a:lnSpc>
              <a:spcBef>
                <a:spcPts val="2100"/>
              </a:spcBef>
              <a:buNone/>
            </a:pPr>
            <a:r>
              <a:rPr lang="en-US" sz="51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予定も連絡も、
</a:t>
            </a:r>
            <a:pPr algn="l" indent="0" marL="0">
              <a:lnSpc>
                <a:spcPts val="5508"/>
              </a:lnSpc>
              <a:spcBef>
                <a:spcPts val="2100"/>
              </a:spcBef>
              <a:buNone/>
            </a:pPr>
            <a:r>
              <a:rPr lang="en-US" sz="51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先回りして終わらせる。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685800" y="3431977"/>
            <a:ext cx="63150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25"/>
              </a:lnSpc>
              <a:spcBef>
                <a:spcPts val="2100"/>
              </a:spcBef>
              <a:buNone/>
            </a:pPr>
            <a:r>
              <a:rPr lang="en-US" sz="18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スマホから指示を出し、Life Managerが予定、健康、お金の用事を片づける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8724900" y="914400"/>
            <a:ext cx="2324100" cy="4572000"/>
          </a:xfrm>
          <a:prstGeom prst="roundRect">
            <a:avLst>
              <a:gd name="adj" fmla="val 17213"/>
            </a:avLst>
          </a:prstGeom>
          <a:solidFill>
            <a:srgbClr val="111C27"/>
          </a:solidFill>
          <a:ln w="28575">
            <a:solidFill>
              <a:srgbClr val="F7F4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58325" y="1095375"/>
            <a:ext cx="914400" cy="76200"/>
          </a:xfrm>
          <a:prstGeom prst="roundRect">
            <a:avLst>
              <a:gd name="adj" fmla="val 100000"/>
            </a:avLst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982075" y="1628775"/>
            <a:ext cx="1904238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07:50  LIFE MANAGER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8982075" y="1961555"/>
            <a:ext cx="1866900" cy="1195090"/>
          </a:xfrm>
          <a:prstGeom prst="roundRect">
            <a:avLst>
              <a:gd name="adj" fmla="val 14346"/>
            </a:avLst>
          </a:prstGeom>
          <a:solidFill>
            <a:srgbClr val="111C27"/>
          </a:solidFill>
          <a:ln w="9525">
            <a:solidFill>
              <a:srgbClr val="57D6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163050" y="2142530"/>
            <a:ext cx="153504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9:30 出発。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63050" y="2538710"/>
            <a:ext cx="1535049" cy="436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spcBef>
                <a:spcPts val="600"/>
              </a:spcBef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雨なので10分早めました。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8982075" y="3289995"/>
            <a:ext cx="1866900" cy="1287066"/>
          </a:xfrm>
          <a:prstGeom prst="roundRect">
            <a:avLst>
              <a:gd name="adj" fmla="val 13321"/>
            </a:avLst>
          </a:prstGeom>
          <a:solidFill>
            <a:srgbClr val="111C27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163050" y="3470970"/>
            <a:ext cx="1535049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9163050" y="3756124"/>
            <a:ext cx="1535049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525"/>
              </a:spcBef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移動時間を追加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982075" y="4710410"/>
            <a:ext cx="1866900" cy="967085"/>
          </a:xfrm>
          <a:prstGeom prst="roundRect">
            <a:avLst>
              <a:gd name="adj" fmla="val 17729"/>
            </a:avLst>
          </a:prstGeom>
          <a:solidFill>
            <a:srgbClr val="111C27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163050" y="4891385"/>
            <a:ext cx="1535049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9163050" y="5176540"/>
            <a:ext cx="153504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525"/>
              </a:spcBef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T-10 電話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29775" y="5276850"/>
            <a:ext cx="571500" cy="47625"/>
          </a:xfrm>
          <a:prstGeom prst="roundRect">
            <a:avLst>
              <a:gd name="adj" fmla="val 100000"/>
            </a:avLst>
          </a:prstGeom>
          <a:solidFill>
            <a:srgbClr val="A6B3B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いま困っていること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暮らしには、</a:t>
            </a:r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FF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覚えておく用事が多い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23900" y="1952625"/>
            <a:ext cx="2476500" cy="1428750"/>
          </a:xfrm>
          <a:prstGeom prst="roundRect">
            <a:avLst>
              <a:gd name="adj" fmla="val 12000"/>
            </a:avLst>
          </a:prstGeom>
          <a:solidFill>
            <a:srgbClr val="111C27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2025" y="2190750"/>
            <a:ext cx="204025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FF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962025" y="2523530"/>
            <a:ext cx="2040255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4"/>
              </a:lnSpc>
              <a:spcBef>
                <a:spcPts val="9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次は何時？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962025" y="2916436"/>
            <a:ext cx="20402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何度も時計を見る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91600" y="1952625"/>
            <a:ext cx="2476500" cy="1428750"/>
          </a:xfrm>
          <a:prstGeom prst="roundRect">
            <a:avLst>
              <a:gd name="adj" fmla="val 12000"/>
            </a:avLst>
          </a:prstGeom>
          <a:solidFill>
            <a:srgbClr val="111C27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229725" y="2190750"/>
            <a:ext cx="204025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移動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9229725" y="2523530"/>
            <a:ext cx="2040255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4"/>
              </a:lnSpc>
              <a:spcBef>
                <a:spcPts val="9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何時に出る？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9229725" y="2916436"/>
            <a:ext cx="20402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毎回、自分で逆算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23900" y="4143375"/>
            <a:ext cx="2476500" cy="1428750"/>
          </a:xfrm>
          <a:prstGeom prst="roundRect">
            <a:avLst>
              <a:gd name="adj" fmla="val 12000"/>
            </a:avLst>
          </a:prstGeom>
          <a:solidFill>
            <a:srgbClr val="111C27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62025" y="4381500"/>
            <a:ext cx="204025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962025" y="4714280"/>
            <a:ext cx="2040255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4"/>
              </a:lnSpc>
              <a:spcBef>
                <a:spcPts val="9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予約しなきゃ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62025" y="5107186"/>
            <a:ext cx="20402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気づくと来週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91600" y="4143375"/>
            <a:ext cx="2476500" cy="1428750"/>
          </a:xfrm>
          <a:prstGeom prst="roundRect">
            <a:avLst>
              <a:gd name="adj" fmla="val 12000"/>
            </a:avLst>
          </a:prstGeom>
          <a:solidFill>
            <a:srgbClr val="111C27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229725" y="4381500"/>
            <a:ext cx="204025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お金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9229725" y="4714280"/>
            <a:ext cx="2040255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4"/>
              </a:lnSpc>
              <a:spcBef>
                <a:spcPts val="9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もっと稼がなきゃ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9229725" y="5107186"/>
            <a:ext cx="20402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750"/>
              </a:spcBef>
              <a:buNone/>
            </a:pPr>
            <a:r>
              <a:rPr lang="en-US" sz="15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考えるだけで終わる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0" y="2686050"/>
            <a:ext cx="3048000" cy="2152650"/>
          </a:xfrm>
          <a:prstGeom prst="roundRect">
            <a:avLst>
              <a:gd name="adj" fmla="val 12389"/>
            </a:avLst>
          </a:prstGeom>
          <a:solidFill>
            <a:srgbClr val="182635"/>
          </a:solidFill>
          <a:ln w="19050">
            <a:solidFill>
              <a:srgbClr val="57D6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449919" y="3199507"/>
            <a:ext cx="12921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頭から離れない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05165" y="3523357"/>
            <a:ext cx="2781669" cy="456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591"/>
              </a:lnSpc>
              <a:spcBef>
                <a:spcPts val="1350"/>
              </a:spcBef>
              <a:buNone/>
            </a:pPr>
            <a:r>
              <a:rPr lang="en-US" sz="31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ずっと気になる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5134166" y="4093666"/>
            <a:ext cx="1923669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23"/>
              </a:lnSpc>
              <a:spcBef>
                <a:spcPts val="900"/>
              </a:spcBef>
              <a:buNone/>
            </a:pPr>
            <a:r>
              <a:rPr lang="en-US" sz="135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一日中、気が休まらない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26" name="Text 24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任せたいこと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Managerが扱う</a:t>
            </a:r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3つの領域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800" y="1952625"/>
            <a:ext cx="3467100" cy="2952750"/>
          </a:xfrm>
          <a:prstGeom prst="roundRect">
            <a:avLst>
              <a:gd name="adj" fmla="val 5806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85800" y="1981200"/>
            <a:ext cx="3467100" cy="0"/>
          </a:xfrm>
          <a:prstGeom prst="line">
            <a:avLst/>
          </a:prstGeom>
          <a:noFill/>
          <a:ln w="57150">
            <a:solidFill>
              <a:srgbClr val="73D49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48137" y="1952625"/>
            <a:ext cx="0" cy="295275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4900613"/>
            <a:ext cx="3467100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0563" y="1952625"/>
            <a:ext cx="0" cy="295275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925" y="2238375"/>
            <a:ext cx="3050667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身体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923925" y="2628305"/>
            <a:ext cx="3050667" cy="456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spcBef>
                <a:spcPts val="1350"/>
              </a:spcBef>
              <a:buNone/>
            </a:pPr>
            <a:r>
              <a:rPr lang="en-US" sz="31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923925" y="3293864"/>
            <a:ext cx="305066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16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通院やケアの抜けを探し、空いている時間に予約する。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23925" y="4181475"/>
            <a:ext cx="305066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1950"/>
              </a:spcBef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「木曜18時、歯医者を取った」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62450" y="1952625"/>
            <a:ext cx="3467100" cy="2952750"/>
          </a:xfrm>
          <a:prstGeom prst="roundRect">
            <a:avLst>
              <a:gd name="adj" fmla="val 5806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62450" y="1981200"/>
            <a:ext cx="3467100" cy="0"/>
          </a:xfrm>
          <a:prstGeom prst="line">
            <a:avLst/>
          </a:prstGeom>
          <a:noFill/>
          <a:ln w="57150">
            <a:solidFill>
              <a:srgbClr val="C89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24787" y="1952625"/>
            <a:ext cx="0" cy="295275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62450" y="4900613"/>
            <a:ext cx="3467100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67212" y="1952625"/>
            <a:ext cx="0" cy="295275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00575" y="2238375"/>
            <a:ext cx="3050667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心</a:t>
            </a:r>
            <a:endParaRPr lang="en-US" sz="1275" dirty="0"/>
          </a:p>
        </p:txBody>
      </p:sp>
      <p:sp>
        <p:nvSpPr>
          <p:cNvPr id="20" name="Text 18"/>
          <p:cNvSpPr/>
          <p:nvPr/>
        </p:nvSpPr>
        <p:spPr>
          <a:xfrm>
            <a:off x="4600575" y="2628305"/>
            <a:ext cx="3050667" cy="456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spcBef>
                <a:spcPts val="1350"/>
              </a:spcBef>
              <a:buNone/>
            </a:pPr>
            <a:r>
              <a:rPr lang="en-US" sz="31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気持ち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4600575" y="3293864"/>
            <a:ext cx="305066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16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予定と場所を見て、必要になる直前に連絡する。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00575" y="4181475"/>
            <a:ext cx="305066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1950"/>
              </a:spcBef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「準備は全部入ってる」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039100" y="1952625"/>
            <a:ext cx="3467100" cy="2952750"/>
          </a:xfrm>
          <a:prstGeom prst="roundRect">
            <a:avLst>
              <a:gd name="adj" fmla="val 5806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8039100" y="1981200"/>
            <a:ext cx="3467100" cy="0"/>
          </a:xfrm>
          <a:prstGeom prst="line">
            <a:avLst/>
          </a:prstGeom>
          <a:noFill/>
          <a:ln w="57150">
            <a:solidFill>
              <a:srgbClr val="FFC85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501437" y="1952625"/>
            <a:ext cx="0" cy="295275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39100" y="4900613"/>
            <a:ext cx="3467100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3863" y="1952625"/>
            <a:ext cx="0" cy="295275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7225" y="2238375"/>
            <a:ext cx="3050667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お金</a:t>
            </a:r>
            <a:endParaRPr lang="en-US" sz="1275" dirty="0"/>
          </a:p>
        </p:txBody>
      </p:sp>
      <p:sp>
        <p:nvSpPr>
          <p:cNvPr id="29" name="Text 27"/>
          <p:cNvSpPr/>
          <p:nvPr/>
        </p:nvSpPr>
        <p:spPr>
          <a:xfrm>
            <a:off x="8277225" y="2628305"/>
            <a:ext cx="3050667" cy="456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spcBef>
                <a:spcPts val="1350"/>
              </a:spcBef>
              <a:buNone/>
            </a:pPr>
            <a:r>
              <a:rPr lang="en-US" sz="31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収入</a:t>
            </a:r>
            <a:endParaRPr lang="en-US" sz="3150" dirty="0"/>
          </a:p>
        </p:txBody>
      </p:sp>
      <p:sp>
        <p:nvSpPr>
          <p:cNvPr id="30" name="Text 28"/>
          <p:cNvSpPr/>
          <p:nvPr/>
        </p:nvSpPr>
        <p:spPr>
          <a:xfrm>
            <a:off x="8277225" y="3293864"/>
            <a:ext cx="3050667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16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AIが仕事で得た収入から、クラウド代を払い、残りを送る。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77225" y="4501455"/>
            <a:ext cx="305066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1950"/>
              </a:spcBef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「今月 $120 稼いだ」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889885" y="5276850"/>
            <a:ext cx="641223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判断：</a:t>
            </a:r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予定、場所、本人の希望を見て、次に片づける用事を決める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開発の指示は、すべて</a:t>
            </a:r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スマホから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38250" y="2036266"/>
            <a:ext cx="1123950" cy="2000250"/>
          </a:xfrm>
          <a:prstGeom prst="roundRect">
            <a:avLst>
              <a:gd name="adj" fmla="val 20339"/>
            </a:avLst>
          </a:prstGeom>
          <a:solidFill>
            <a:srgbClr val="111C27"/>
          </a:solidFill>
          <a:ln w="38100">
            <a:solidFill>
              <a:srgbClr val="F7F4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643412" y="2649736"/>
            <a:ext cx="313477" cy="773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090"/>
              </a:lnSpc>
              <a:buNone/>
            </a:pPr>
            <a:r>
              <a:rPr lang="en-US" sz="435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780098" y="4207966"/>
            <a:ext cx="2040255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13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app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780098" y="4562773"/>
            <a:ext cx="2040255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4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声とテキストで指示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847975" y="3259485"/>
            <a:ext cx="524637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en-US" sz="4050" dirty="0">
                <a:solidFill>
                  <a:srgbClr val="2A3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050" dirty="0"/>
          </a:p>
        </p:txBody>
      </p:sp>
      <p:sp>
        <p:nvSpPr>
          <p:cNvPr id="10" name="Text 8"/>
          <p:cNvSpPr/>
          <p:nvPr/>
        </p:nvSpPr>
        <p:spPr>
          <a:xfrm>
            <a:off x="3409950" y="2619375"/>
            <a:ext cx="2381250" cy="2000250"/>
          </a:xfrm>
          <a:prstGeom prst="roundRect">
            <a:avLst>
              <a:gd name="adj" fmla="val 8571"/>
            </a:avLst>
          </a:prstGeom>
          <a:solidFill>
            <a:srgbClr val="111C27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29025" y="3001119"/>
            <a:ext cx="1943100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MAC MINI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3629025" y="3391049"/>
            <a:ext cx="1943100" cy="41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49"/>
              </a:lnSpc>
              <a:spcBef>
                <a:spcPts val="1350"/>
              </a:spcBef>
              <a:buNone/>
            </a:pPr>
            <a:r>
              <a:rPr lang="en-US" sz="28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3629025" y="3917900"/>
            <a:ext cx="19431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90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読む・作る・試す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838825" y="3259485"/>
            <a:ext cx="524637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en-US" sz="4050" dirty="0">
                <a:solidFill>
                  <a:srgbClr val="2A3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050" dirty="0"/>
          </a:p>
        </p:txBody>
      </p:sp>
      <p:sp>
        <p:nvSpPr>
          <p:cNvPr id="15" name="Text 13"/>
          <p:cNvSpPr/>
          <p:nvPr/>
        </p:nvSpPr>
        <p:spPr>
          <a:xfrm>
            <a:off x="6400800" y="2619375"/>
            <a:ext cx="2381250" cy="2000250"/>
          </a:xfrm>
          <a:prstGeom prst="roundRect">
            <a:avLst>
              <a:gd name="adj" fmla="val 8571"/>
            </a:avLst>
          </a:prstGeom>
          <a:solidFill>
            <a:srgbClr val="111C27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19875" y="2841129"/>
            <a:ext cx="1943100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記録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6619875" y="3231059"/>
            <a:ext cx="1943100" cy="41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49"/>
              </a:lnSpc>
              <a:spcBef>
                <a:spcPts val="1350"/>
              </a:spcBef>
              <a:buNone/>
            </a:pPr>
            <a:r>
              <a:rPr lang="en-US" sz="28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6619875" y="3757910"/>
            <a:ext cx="19431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90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仕様・コード・実行結果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29675" y="3259485"/>
            <a:ext cx="524637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en-US" sz="4050" dirty="0">
                <a:solidFill>
                  <a:srgbClr val="2A3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050" dirty="0"/>
          </a:p>
        </p:txBody>
      </p:sp>
      <p:sp>
        <p:nvSpPr>
          <p:cNvPr id="20" name="Text 18"/>
          <p:cNvSpPr/>
          <p:nvPr/>
        </p:nvSpPr>
        <p:spPr>
          <a:xfrm>
            <a:off x="9391650" y="2619375"/>
            <a:ext cx="2000250" cy="2000250"/>
          </a:xfrm>
          <a:prstGeom prst="roundRect">
            <a:avLst>
              <a:gd name="adj" fmla="val 8571"/>
            </a:avLst>
          </a:prstGeom>
          <a:solidFill>
            <a:srgbClr val="111C27"/>
          </a:solidFill>
          <a:ln w="9525">
            <a:solidFill>
              <a:srgbClr val="73D4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614535" y="3001119"/>
            <a:ext cx="1554480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本番</a:t>
            </a:r>
            <a:endParaRPr lang="en-US" sz="1275" dirty="0"/>
          </a:p>
        </p:txBody>
      </p:sp>
      <p:sp>
        <p:nvSpPr>
          <p:cNvPr id="22" name="Text 20"/>
          <p:cNvSpPr/>
          <p:nvPr/>
        </p:nvSpPr>
        <p:spPr>
          <a:xfrm>
            <a:off x="9614535" y="3391049"/>
            <a:ext cx="1554480" cy="41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49"/>
              </a:lnSpc>
              <a:spcBef>
                <a:spcPts val="1350"/>
              </a:spcBef>
              <a:buNone/>
            </a:pPr>
            <a:r>
              <a:rPr lang="en-US" sz="28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9614535" y="3917900"/>
            <a:ext cx="155448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90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いつでも動く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258378" y="5429250"/>
            <a:ext cx="7675245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40"/>
              </a:lnSpc>
              <a:buNone/>
            </a:pPr>
            <a:r>
              <a:rPr lang="en-US" sz="21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miniにつないだCodexへ、</a:t>
            </a:r>
            <a:pPr algn="ctr"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ChatGPTアプリから話しかける</a:t>
            </a:r>
            <a:pPr algn="ctr" indent="0" marL="0">
              <a:lnSpc>
                <a:spcPts val="2940"/>
              </a:lnSpc>
              <a:buNone/>
            </a:pPr>
            <a:r>
              <a:rPr lang="en-US" sz="21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26" name="Text 24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毎日の使い方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予定を書いた後は、Life Managerが動く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23950" y="2886075"/>
            <a:ext cx="9944100" cy="3810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647825" y="2114550"/>
            <a:ext cx="514350" cy="514350"/>
          </a:xfrm>
          <a:prstGeom prst="roundRect">
            <a:avLst>
              <a:gd name="adj" fmla="val 177778"/>
            </a:avLst>
          </a:prstGeom>
          <a:solidFill>
            <a:srgbClr val="57D6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842762" y="2262188"/>
            <a:ext cx="1243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5"/>
              </a:lnSpc>
              <a:buNone/>
            </a:pPr>
            <a:r>
              <a:rPr lang="en-US" sz="1725" b="1" dirty="0">
                <a:solidFill>
                  <a:srgbClr val="081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25" dirty="0"/>
          </a:p>
        </p:txBody>
      </p:sp>
      <p:sp>
        <p:nvSpPr>
          <p:cNvPr id="8" name="Text 6"/>
          <p:cNvSpPr/>
          <p:nvPr/>
        </p:nvSpPr>
        <p:spPr>
          <a:xfrm>
            <a:off x="816864" y="2876550"/>
            <a:ext cx="2176272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19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予定を入れる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816864" y="3259931"/>
            <a:ext cx="2176272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675"/>
              </a:spcBef>
              <a:buNone/>
            </a:pPr>
            <a:r>
              <a:rPr lang="en-US" sz="12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カレンダー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816864" y="3573661"/>
            <a:ext cx="21762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内容を読み取る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43325" y="2114550"/>
            <a:ext cx="514350" cy="514350"/>
          </a:xfrm>
          <a:prstGeom prst="roundRect">
            <a:avLst>
              <a:gd name="adj" fmla="val 177778"/>
            </a:avLst>
          </a:prstGeom>
          <a:solidFill>
            <a:srgbClr val="57D6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938262" y="2262188"/>
            <a:ext cx="1243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5"/>
              </a:lnSpc>
              <a:buNone/>
            </a:pPr>
            <a:r>
              <a:rPr lang="en-US" sz="1725" b="1" dirty="0">
                <a:solidFill>
                  <a:srgbClr val="081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2912364" y="2876550"/>
            <a:ext cx="2176272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19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移動を追加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2912364" y="3259931"/>
            <a:ext cx="2176272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675"/>
              </a:spcBef>
              <a:buNone/>
            </a:pPr>
            <a:r>
              <a:rPr lang="en-US" sz="12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出発時刻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2912364" y="3573661"/>
            <a:ext cx="21762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出発地から逆算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838825" y="2114550"/>
            <a:ext cx="514350" cy="514350"/>
          </a:xfrm>
          <a:prstGeom prst="roundRect">
            <a:avLst>
              <a:gd name="adj" fmla="val 177778"/>
            </a:avLst>
          </a:prstGeom>
          <a:solidFill>
            <a:srgbClr val="57D6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033762" y="2262188"/>
            <a:ext cx="1243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5"/>
              </a:lnSpc>
              <a:buNone/>
            </a:pPr>
            <a:r>
              <a:rPr lang="en-US" sz="1725" b="1" dirty="0">
                <a:solidFill>
                  <a:srgbClr val="081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5007864" y="2876550"/>
            <a:ext cx="2176272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19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電話で起こす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5007864" y="3259931"/>
            <a:ext cx="2176272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675"/>
              </a:spcBef>
              <a:buNone/>
            </a:pPr>
            <a:r>
              <a:rPr lang="en-US" sz="12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10分前・5分前</a:t>
            </a:r>
            <a:endParaRPr lang="en-US" sz="1275" dirty="0"/>
          </a:p>
        </p:txBody>
      </p:sp>
      <p:sp>
        <p:nvSpPr>
          <p:cNvPr id="20" name="Text 18"/>
          <p:cNvSpPr/>
          <p:nvPr/>
        </p:nvSpPr>
        <p:spPr>
          <a:xfrm>
            <a:off x="5007864" y="3573661"/>
            <a:ext cx="21762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出るまで知らせる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934325" y="2114550"/>
            <a:ext cx="514350" cy="514350"/>
          </a:xfrm>
          <a:prstGeom prst="roundRect">
            <a:avLst>
              <a:gd name="adj" fmla="val 177778"/>
            </a:avLst>
          </a:prstGeom>
          <a:solidFill>
            <a:srgbClr val="FFC8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129262" y="2262188"/>
            <a:ext cx="1243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5"/>
              </a:lnSpc>
              <a:buNone/>
            </a:pPr>
            <a:r>
              <a:rPr lang="en-US" sz="1725" b="1" dirty="0">
                <a:solidFill>
                  <a:srgbClr val="081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7103364" y="2876550"/>
            <a:ext cx="2176272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19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遅刻を連絡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7103364" y="3259931"/>
            <a:ext cx="2176272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675"/>
              </a:spcBef>
              <a:buNone/>
            </a:pPr>
            <a:r>
              <a:rPr lang="en-US" sz="1275" b="1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メール</a:t>
            </a:r>
            <a:endParaRPr lang="en-US" sz="1275" dirty="0"/>
          </a:p>
        </p:txBody>
      </p:sp>
      <p:sp>
        <p:nvSpPr>
          <p:cNvPr id="25" name="Text 23"/>
          <p:cNvSpPr/>
          <p:nvPr/>
        </p:nvSpPr>
        <p:spPr>
          <a:xfrm>
            <a:off x="7103364" y="3573661"/>
            <a:ext cx="21762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位置を確認して送る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29825" y="2114550"/>
            <a:ext cx="514350" cy="514350"/>
          </a:xfrm>
          <a:prstGeom prst="roundRect">
            <a:avLst>
              <a:gd name="adj" fmla="val 177778"/>
            </a:avLst>
          </a:prstGeom>
          <a:solidFill>
            <a:srgbClr val="73D4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224762" y="2262188"/>
            <a:ext cx="1243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5"/>
              </a:lnSpc>
              <a:buNone/>
            </a:pPr>
            <a:r>
              <a:rPr lang="en-US" sz="1725" b="1" dirty="0">
                <a:solidFill>
                  <a:srgbClr val="081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25" dirty="0"/>
          </a:p>
        </p:txBody>
      </p:sp>
      <p:sp>
        <p:nvSpPr>
          <p:cNvPr id="28" name="Text 26"/>
          <p:cNvSpPr/>
          <p:nvPr/>
        </p:nvSpPr>
        <p:spPr>
          <a:xfrm>
            <a:off x="9198864" y="2876550"/>
            <a:ext cx="2176272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19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結果を知らせる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9198864" y="3259931"/>
            <a:ext cx="2176272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675"/>
              </a:spcBef>
              <a:buNone/>
            </a:pPr>
            <a:r>
              <a:rPr lang="en-US" sz="1275" b="1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1275" dirty="0"/>
          </a:p>
        </p:txBody>
      </p:sp>
      <p:sp>
        <p:nvSpPr>
          <p:cNvPr id="30" name="Text 28"/>
          <p:cNvSpPr/>
          <p:nvPr/>
        </p:nvSpPr>
        <p:spPr>
          <a:xfrm>
            <a:off x="9198864" y="3573661"/>
            <a:ext cx="21762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終わった内容を報告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476500" y="5295900"/>
            <a:ext cx="7239000" cy="1001911"/>
          </a:xfrm>
          <a:prstGeom prst="roundRect">
            <a:avLst>
              <a:gd name="adj" fmla="val 17112"/>
            </a:avLst>
          </a:prstGeom>
          <a:solidFill>
            <a:srgbClr val="111C27"/>
          </a:solidFill>
          <a:ln w="9525">
            <a:solidFill>
              <a:srgbClr val="57D6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588705" y="5476875"/>
            <a:ext cx="7014591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普段は </a:t>
            </a:r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電話とTelegram</a:t>
            </a:r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。Webは、許可、停止、実行結果の確認に使う。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7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現在地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本番で動いている</a:t>
            </a:r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もの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3505200" cy="1524000"/>
          </a:xfrm>
          <a:prstGeom prst="roundRect">
            <a:avLst>
              <a:gd name="adj" fmla="val 11250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85800" y="1847850"/>
            <a:ext cx="3505200" cy="0"/>
          </a:xfrm>
          <a:prstGeom prst="line">
            <a:avLst/>
          </a:prstGeom>
          <a:noFill/>
          <a:ln w="38100">
            <a:solidFill>
              <a:srgbClr val="57D6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86238" y="18288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348038"/>
            <a:ext cx="3505200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0563" y="18288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925" y="2095500"/>
            <a:ext cx="3089529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毎日の予定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923925" y="2428280"/>
            <a:ext cx="3089529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4"/>
              </a:lnSpc>
              <a:spcBef>
                <a:spcPts val="9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予定・移動・電話・報告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923925" y="2821186"/>
            <a:ext cx="308952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本番の依存先 9/9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43400" y="1828800"/>
            <a:ext cx="3505200" cy="1524000"/>
          </a:xfrm>
          <a:prstGeom prst="roundRect">
            <a:avLst>
              <a:gd name="adj" fmla="val 11250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43400" y="1847850"/>
            <a:ext cx="3505200" cy="0"/>
          </a:xfrm>
          <a:prstGeom prst="line">
            <a:avLst/>
          </a:prstGeom>
          <a:noFill/>
          <a:ln w="38100">
            <a:solidFill>
              <a:srgbClr val="57D6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43838" y="18288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43400" y="3348038"/>
            <a:ext cx="3505200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8163" y="18288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81525" y="2095500"/>
            <a:ext cx="3089529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電話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4581525" y="2428280"/>
            <a:ext cx="3089529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4"/>
              </a:lnSpc>
              <a:spcBef>
                <a:spcPts val="9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Telnyx + Gemini Live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4581525" y="2821186"/>
            <a:ext cx="308952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実際に通話・録音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001000" y="1828800"/>
            <a:ext cx="3505200" cy="1524000"/>
          </a:xfrm>
          <a:prstGeom prst="roundRect">
            <a:avLst>
              <a:gd name="adj" fmla="val 11250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8001000" y="1847850"/>
            <a:ext cx="3505200" cy="0"/>
          </a:xfrm>
          <a:prstGeom prst="line">
            <a:avLst/>
          </a:prstGeom>
          <a:noFill/>
          <a:ln w="38100">
            <a:solidFill>
              <a:srgbClr val="73D49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501438" y="18288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01000" y="3348038"/>
            <a:ext cx="3505200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05763" y="18288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9125" y="2095500"/>
            <a:ext cx="3089529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個人パネル</a:t>
            </a:r>
            <a:endParaRPr lang="en-US" sz="1275" dirty="0"/>
          </a:p>
        </p:txBody>
      </p:sp>
      <p:sp>
        <p:nvSpPr>
          <p:cNvPr id="27" name="Text 25"/>
          <p:cNvSpPr/>
          <p:nvPr/>
        </p:nvSpPr>
        <p:spPr>
          <a:xfrm>
            <a:off x="8239125" y="2428280"/>
            <a:ext cx="3089529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4"/>
              </a:lnSpc>
              <a:spcBef>
                <a:spcPts val="9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/panel + 個人認証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8239125" y="2821186"/>
            <a:ext cx="308952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/ Web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5800" y="3505200"/>
            <a:ext cx="3505200" cy="1524000"/>
          </a:xfrm>
          <a:prstGeom prst="roundRect">
            <a:avLst>
              <a:gd name="adj" fmla="val 11250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685800" y="3524250"/>
            <a:ext cx="3505200" cy="0"/>
          </a:xfrm>
          <a:prstGeom prst="line">
            <a:avLst/>
          </a:prstGeom>
          <a:noFill/>
          <a:ln w="38100">
            <a:solidFill>
              <a:srgbClr val="73D49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86238" y="35052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5800" y="5024438"/>
            <a:ext cx="3505200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0563" y="35052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3925" y="3771900"/>
            <a:ext cx="3089529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</a:t>
            </a:r>
            <a:endParaRPr lang="en-US" sz="1275" dirty="0"/>
          </a:p>
        </p:txBody>
      </p:sp>
      <p:sp>
        <p:nvSpPr>
          <p:cNvPr id="35" name="Text 33"/>
          <p:cNvSpPr/>
          <p:nvPr/>
        </p:nvSpPr>
        <p:spPr>
          <a:xfrm>
            <a:off x="923925" y="4104680"/>
            <a:ext cx="3089529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4"/>
              </a:lnSpc>
              <a:spcBef>
                <a:spcPts val="9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接続・通知・電話</a:t>
            </a:r>
            <a:endParaRPr lang="en-US" sz="1875" dirty="0"/>
          </a:p>
        </p:txBody>
      </p:sp>
      <p:sp>
        <p:nvSpPr>
          <p:cNvPr id="36" name="Text 34"/>
          <p:cNvSpPr/>
          <p:nvPr/>
        </p:nvSpPr>
        <p:spPr>
          <a:xfrm>
            <a:off x="923925" y="4497586"/>
            <a:ext cx="308952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2画面で同じ状態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343400" y="3505200"/>
            <a:ext cx="3505200" cy="1524000"/>
          </a:xfrm>
          <a:prstGeom prst="roundRect">
            <a:avLst>
              <a:gd name="adj" fmla="val 11250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4343400" y="3524250"/>
            <a:ext cx="3505200" cy="0"/>
          </a:xfrm>
          <a:prstGeom prst="line">
            <a:avLst/>
          </a:prstGeom>
          <a:noFill/>
          <a:ln w="38100">
            <a:solidFill>
              <a:srgbClr val="C89B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43838" y="35052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43400" y="5024438"/>
            <a:ext cx="3505200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48163" y="35052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81525" y="3771900"/>
            <a:ext cx="3089529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結果の集計</a:t>
            </a:r>
            <a:endParaRPr lang="en-US" sz="1275" dirty="0"/>
          </a:p>
        </p:txBody>
      </p:sp>
      <p:sp>
        <p:nvSpPr>
          <p:cNvPr id="43" name="Text 41"/>
          <p:cNvSpPr/>
          <p:nvPr/>
        </p:nvSpPr>
        <p:spPr>
          <a:xfrm>
            <a:off x="4581525" y="4104680"/>
            <a:ext cx="3089529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4"/>
              </a:lnSpc>
              <a:spcBef>
                <a:spcPts val="9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4領域の結果を集計</a:t>
            </a:r>
            <a:endParaRPr lang="en-US" sz="1875" dirty="0"/>
          </a:p>
        </p:txBody>
      </p:sp>
      <p:sp>
        <p:nvSpPr>
          <p:cNvPr id="44" name="Text 42"/>
          <p:cNvSpPr/>
          <p:nvPr/>
        </p:nvSpPr>
        <p:spPr>
          <a:xfrm>
            <a:off x="4581525" y="4497586"/>
            <a:ext cx="308952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対象0件も区別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8001000" y="3505200"/>
            <a:ext cx="3505200" cy="1524000"/>
          </a:xfrm>
          <a:prstGeom prst="roundRect">
            <a:avLst>
              <a:gd name="adj" fmla="val 11250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8001000" y="3524250"/>
            <a:ext cx="3505200" cy="0"/>
          </a:xfrm>
          <a:prstGeom prst="line">
            <a:avLst/>
          </a:prstGeom>
          <a:noFill/>
          <a:ln w="38100">
            <a:solidFill>
              <a:srgbClr val="C89B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501438" y="35052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001000" y="5024438"/>
            <a:ext cx="3505200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05763" y="3505200"/>
            <a:ext cx="0" cy="15240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39125" y="3771900"/>
            <a:ext cx="3089529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画面の安全</a:t>
            </a:r>
            <a:endParaRPr lang="en-US" sz="1275" dirty="0"/>
          </a:p>
        </p:txBody>
      </p:sp>
      <p:sp>
        <p:nvSpPr>
          <p:cNvPr id="51" name="Text 49"/>
          <p:cNvSpPr/>
          <p:nvPr/>
        </p:nvSpPr>
        <p:spPr>
          <a:xfrm>
            <a:off x="8239125" y="4104680"/>
            <a:ext cx="3089529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4"/>
              </a:lnSpc>
              <a:spcBef>
                <a:spcPts val="9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ログ・秘密情報を隠す</a:t>
            </a:r>
            <a:endParaRPr lang="en-US" sz="1875" dirty="0"/>
          </a:p>
        </p:txBody>
      </p:sp>
      <p:sp>
        <p:nvSpPr>
          <p:cNvPr id="52" name="Text 50"/>
          <p:cNvSpPr/>
          <p:nvPr/>
        </p:nvSpPr>
        <p:spPr>
          <a:xfrm>
            <a:off x="8239125" y="4497586"/>
            <a:ext cx="308952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7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スマホ / PCで確認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685800" y="5810250"/>
            <a:ext cx="422867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= 本物の電話、メール、Message-IDなどで結果を確認</a:t>
            </a:r>
            <a:endParaRPr lang="en-US" sz="1275" dirty="0"/>
          </a:p>
        </p:txBody>
      </p:sp>
      <p:sp>
        <p:nvSpPr>
          <p:cNvPr id="54" name="Text 52"/>
          <p:cNvSpPr/>
          <p:nvPr/>
        </p:nvSpPr>
        <p:spPr>
          <a:xfrm>
            <a:off x="8537228" y="5810250"/>
            <a:ext cx="3028352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APIが200を返しただけでは完了にしない</a:t>
            </a:r>
            <a:endParaRPr lang="en-US" sz="1275" dirty="0"/>
          </a:p>
        </p:txBody>
      </p:sp>
      <p:sp>
        <p:nvSpPr>
          <p:cNvPr id="55" name="Text 53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56" name="Text 54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仕組み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Managerの</a:t>
            </a:r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処理の流れ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19250" y="1790700"/>
            <a:ext cx="8953500" cy="819150"/>
          </a:xfrm>
          <a:prstGeom prst="roundRect">
            <a:avLst>
              <a:gd name="adj" fmla="val 20930"/>
            </a:avLst>
          </a:prstGeom>
          <a:solidFill>
            <a:srgbClr val="111C27"/>
          </a:solidFill>
          <a:ln w="9525">
            <a:solidFill>
              <a:srgbClr val="57D6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772603" y="2028825"/>
            <a:ext cx="864679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判断に使う情報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1772603" y="2323505"/>
            <a:ext cx="8646795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6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本人の希望 / 予定 / 場所 / 許可 / 予算 / 過去の結果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619250" y="2819400"/>
            <a:ext cx="2867025" cy="990600"/>
          </a:xfrm>
          <a:prstGeom prst="roundRect">
            <a:avLst>
              <a:gd name="adj" fmla="val 17308"/>
            </a:avLst>
          </a:prstGeom>
          <a:solidFill>
            <a:srgbClr val="111C27"/>
          </a:solidFill>
          <a:ln w="9525">
            <a:solidFill>
              <a:srgbClr val="73D4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33467" y="3057525"/>
            <a:ext cx="243859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1833467" y="3399830"/>
            <a:ext cx="2438591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975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予約・健康行動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4657725" y="2819400"/>
            <a:ext cx="2867025" cy="990600"/>
          </a:xfrm>
          <a:prstGeom prst="roundRect">
            <a:avLst>
              <a:gd name="adj" fmla="val 17308"/>
            </a:avLst>
          </a:prstGeom>
          <a:solidFill>
            <a:srgbClr val="111C27"/>
          </a:solidFill>
          <a:ln w="9525">
            <a:solidFill>
              <a:srgbClr val="C89B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71942" y="3057525"/>
            <a:ext cx="243859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心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4871942" y="3399830"/>
            <a:ext cx="2438591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975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習慣・睡眠・支援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7696200" y="2819400"/>
            <a:ext cx="2867025" cy="990600"/>
          </a:xfrm>
          <a:prstGeom prst="roundRect">
            <a:avLst>
              <a:gd name="adj" fmla="val 17308"/>
            </a:avLst>
          </a:prstGeom>
          <a:solidFill>
            <a:srgbClr val="111C27"/>
          </a:solidFill>
          <a:ln w="9525">
            <a:solidFill>
              <a:srgbClr val="FFC8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910417" y="3057525"/>
            <a:ext cx="243859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お金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7910417" y="3399830"/>
            <a:ext cx="2438591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975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稼ぐ・払う・送る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1619250" y="4038600"/>
            <a:ext cx="8953500" cy="838200"/>
          </a:xfrm>
          <a:prstGeom prst="roundRect">
            <a:avLst>
              <a:gd name="adj" fmla="val 20455"/>
            </a:avLst>
          </a:prstGeom>
          <a:solidFill>
            <a:srgbClr val="111C27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772603" y="4276725"/>
            <a:ext cx="864679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実行する手段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1772603" y="4590455"/>
            <a:ext cx="8646795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7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定期実行 / ブラウザ / メール / 電話 / ウォレット / 評価 / 記録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619250" y="5105400"/>
            <a:ext cx="1653480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12640" y="5191125"/>
            <a:ext cx="2720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電話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44180" y="5105400"/>
            <a:ext cx="1653629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979366" y="5191125"/>
            <a:ext cx="5947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269260" y="5105400"/>
            <a:ext cx="1653480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769173" y="5191125"/>
            <a:ext cx="6665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カレンダー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094190" y="5105400"/>
            <a:ext cx="1653629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527727" y="5191125"/>
            <a:ext cx="8021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メール / Web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919270" y="5105400"/>
            <a:ext cx="1653480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412635" y="5191125"/>
            <a:ext cx="6800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個人パネル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31" name="Text 29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使う画面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本人への連絡と、</a:t>
            </a:r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確認画面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81050" y="1981200"/>
            <a:ext cx="4095750" cy="3429000"/>
          </a:xfrm>
          <a:prstGeom prst="roundRect">
            <a:avLst>
              <a:gd name="adj" fmla="val 5000"/>
            </a:avLst>
          </a:prstGeom>
          <a:solidFill>
            <a:srgbClr val="111C27"/>
          </a:solidFill>
          <a:ln w="9525">
            <a:solidFill>
              <a:srgbClr val="57D6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19175" y="2219325"/>
            <a:ext cx="3691890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ふだん使う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1019175" y="2647355"/>
            <a:ext cx="3691890" cy="456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spcBef>
                <a:spcPts val="1650"/>
              </a:spcBef>
              <a:buNone/>
            </a:pPr>
            <a:r>
              <a:rPr lang="en-US" sz="31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電話 + Telegram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019175" y="3351014"/>
            <a:ext cx="369189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19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起こす。出発を促す。連絡する。予約する。終わったら報告する。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19175" y="4352925"/>
            <a:ext cx="1333500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73D4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52525" y="4438650"/>
            <a:ext cx="10881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必要なときに届く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105400" y="1981200"/>
            <a:ext cx="6305550" cy="3429000"/>
          </a:xfrm>
          <a:prstGeom prst="roundRect">
            <a:avLst>
              <a:gd name="adj" fmla="val 5000"/>
            </a:avLst>
          </a:prstGeom>
          <a:solidFill>
            <a:srgbClr val="111C27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343525" y="2219325"/>
            <a:ext cx="1020279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確認と設定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5343525" y="2571155"/>
            <a:ext cx="1020279" cy="41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9"/>
              </a:lnSpc>
              <a:spcBef>
                <a:spcPts val="1050"/>
              </a:spcBef>
              <a:buNone/>
            </a:pPr>
            <a:r>
              <a:rPr lang="en-US" sz="28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/panel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0239375" y="2449116"/>
            <a:ext cx="933450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73D4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372725" y="2534841"/>
            <a:ext cx="6800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本番稼働中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43525" y="3269456"/>
            <a:ext cx="2847975" cy="552450"/>
          </a:xfrm>
          <a:prstGeom prst="roundRect">
            <a:avLst>
              <a:gd name="adj" fmla="val 20690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524500" y="3431381"/>
            <a:ext cx="2535746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今日の予定</a:t>
            </a:r>
            <a:endParaRPr lang="en-US" sz="1275" dirty="0"/>
          </a:p>
        </p:txBody>
      </p:sp>
      <p:sp>
        <p:nvSpPr>
          <p:cNvPr id="18" name="Text 16"/>
          <p:cNvSpPr/>
          <p:nvPr/>
        </p:nvSpPr>
        <p:spPr>
          <a:xfrm>
            <a:off x="8324850" y="3269456"/>
            <a:ext cx="2847975" cy="552450"/>
          </a:xfrm>
          <a:prstGeom prst="roundRect">
            <a:avLst>
              <a:gd name="adj" fmla="val 20690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505825" y="3431381"/>
            <a:ext cx="2535746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3領域の結果</a:t>
            </a:r>
            <a:endParaRPr lang="en-US" sz="1275" dirty="0"/>
          </a:p>
        </p:txBody>
      </p:sp>
      <p:sp>
        <p:nvSpPr>
          <p:cNvPr id="20" name="Text 18"/>
          <p:cNvSpPr/>
          <p:nvPr/>
        </p:nvSpPr>
        <p:spPr>
          <a:xfrm>
            <a:off x="5343525" y="3955256"/>
            <a:ext cx="2847975" cy="552450"/>
          </a:xfrm>
          <a:prstGeom prst="roundRect">
            <a:avLst>
              <a:gd name="adj" fmla="val 20690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524500" y="4117181"/>
            <a:ext cx="2535746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収益と送金</a:t>
            </a:r>
            <a:endParaRPr lang="en-US" sz="1275" dirty="0"/>
          </a:p>
        </p:txBody>
      </p:sp>
      <p:sp>
        <p:nvSpPr>
          <p:cNvPr id="22" name="Text 20"/>
          <p:cNvSpPr/>
          <p:nvPr/>
        </p:nvSpPr>
        <p:spPr>
          <a:xfrm>
            <a:off x="8324850" y="3955256"/>
            <a:ext cx="2847975" cy="552450"/>
          </a:xfrm>
          <a:prstGeom prst="roundRect">
            <a:avLst>
              <a:gd name="adj" fmla="val 20690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505825" y="4117181"/>
            <a:ext cx="2535746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判断に使った情報</a:t>
            </a:r>
            <a:endParaRPr lang="en-US" sz="1275" dirty="0"/>
          </a:p>
        </p:txBody>
      </p:sp>
      <p:sp>
        <p:nvSpPr>
          <p:cNvPr id="24" name="Text 22"/>
          <p:cNvSpPr/>
          <p:nvPr/>
        </p:nvSpPr>
        <p:spPr>
          <a:xfrm>
            <a:off x="5343525" y="4641056"/>
            <a:ext cx="2847975" cy="552450"/>
          </a:xfrm>
          <a:prstGeom prst="roundRect">
            <a:avLst>
              <a:gd name="adj" fmla="val 20690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524500" y="4802981"/>
            <a:ext cx="2535746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接続と権限</a:t>
            </a:r>
            <a:endParaRPr lang="en-US" sz="1275" dirty="0"/>
          </a:p>
        </p:txBody>
      </p:sp>
      <p:sp>
        <p:nvSpPr>
          <p:cNvPr id="26" name="Text 24"/>
          <p:cNvSpPr/>
          <p:nvPr/>
        </p:nvSpPr>
        <p:spPr>
          <a:xfrm>
            <a:off x="8324850" y="4641056"/>
            <a:ext cx="2847975" cy="552450"/>
          </a:xfrm>
          <a:prstGeom prst="roundRect">
            <a:avLst>
              <a:gd name="adj" fmla="val 20690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505825" y="4802981"/>
            <a:ext cx="2535746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停止と再開</a:t>
            </a:r>
            <a:endParaRPr lang="en-US" sz="1275" dirty="0"/>
          </a:p>
        </p:txBody>
      </p:sp>
      <p:sp>
        <p:nvSpPr>
          <p:cNvPr id="28" name="Text 26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29" name="Text 27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自動修復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失敗を見つけて、直し、</a:t>
            </a:r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次を防ぐ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19150" y="2695575"/>
            <a:ext cx="1695450" cy="1695450"/>
          </a:xfrm>
          <a:prstGeom prst="roundRect">
            <a:avLst>
              <a:gd name="adj" fmla="val 10112"/>
            </a:avLst>
          </a:prstGeom>
          <a:solidFill>
            <a:srgbClr val="111C27"/>
          </a:solidFill>
          <a:ln w="9525">
            <a:solidFill>
              <a:srgbClr val="57D6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45083" y="2933700"/>
            <a:ext cx="1243584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1045083" y="3323630"/>
            <a:ext cx="124358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25"/>
              </a:lnSpc>
              <a:spcBef>
                <a:spcPts val="1350"/>
              </a:spcBef>
              <a:buNone/>
            </a:pPr>
            <a:r>
              <a:rPr lang="en-US" sz="21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観測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5083" y="3790355"/>
            <a:ext cx="1243584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1050"/>
              </a:spcBef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ログ・数値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2628900" y="3276600"/>
            <a:ext cx="38862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>
                <a:solidFill>
                  <a:srgbClr val="2A3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124200" y="2695575"/>
            <a:ext cx="1695450" cy="1695450"/>
          </a:xfrm>
          <a:prstGeom prst="roundRect">
            <a:avLst>
              <a:gd name="adj" fmla="val 10112"/>
            </a:avLst>
          </a:prstGeom>
          <a:solidFill>
            <a:srgbClr val="111C27"/>
          </a:solidFill>
          <a:ln w="9525">
            <a:solidFill>
              <a:srgbClr val="C89B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50133" y="2933700"/>
            <a:ext cx="1243584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3350133" y="3323630"/>
            <a:ext cx="124358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25"/>
              </a:lnSpc>
              <a:spcBef>
                <a:spcPts val="1350"/>
              </a:spcBef>
              <a:buNone/>
            </a:pPr>
            <a:r>
              <a:rPr lang="en-US" sz="21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判定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50133" y="3790355"/>
            <a:ext cx="1243584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1050"/>
              </a:spcBef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合格 / 失敗</a:t>
            </a:r>
            <a:endParaRPr lang="en-US" sz="1275" dirty="0"/>
          </a:p>
        </p:txBody>
      </p:sp>
      <p:sp>
        <p:nvSpPr>
          <p:cNvPr id="14" name="Text 12"/>
          <p:cNvSpPr/>
          <p:nvPr/>
        </p:nvSpPr>
        <p:spPr>
          <a:xfrm>
            <a:off x="4933950" y="3276600"/>
            <a:ext cx="38862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>
                <a:solidFill>
                  <a:srgbClr val="2A3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429250" y="2695575"/>
            <a:ext cx="1695450" cy="1695450"/>
          </a:xfrm>
          <a:prstGeom prst="roundRect">
            <a:avLst>
              <a:gd name="adj" fmla="val 10112"/>
            </a:avLst>
          </a:prstGeom>
          <a:solidFill>
            <a:srgbClr val="111C27"/>
          </a:solidFill>
          <a:ln w="9525">
            <a:solidFill>
              <a:srgbClr val="FFC8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655183" y="2933700"/>
            <a:ext cx="1243584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5655183" y="3323630"/>
            <a:ext cx="124358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25"/>
              </a:lnSpc>
              <a:spcBef>
                <a:spcPts val="1350"/>
              </a:spcBef>
              <a:buNone/>
            </a:pPr>
            <a:r>
              <a:rPr lang="en-US" sz="21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655183" y="3790355"/>
            <a:ext cx="1243584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1050"/>
              </a:spcBef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コード・PR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7239000" y="3276600"/>
            <a:ext cx="38862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>
                <a:solidFill>
                  <a:srgbClr val="2A3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734300" y="2695575"/>
            <a:ext cx="1695450" cy="1695450"/>
          </a:xfrm>
          <a:prstGeom prst="roundRect">
            <a:avLst>
              <a:gd name="adj" fmla="val 10112"/>
            </a:avLst>
          </a:prstGeom>
          <a:solidFill>
            <a:srgbClr val="111C27"/>
          </a:solidFill>
          <a:ln w="9525">
            <a:solidFill>
              <a:srgbClr val="73D4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960233" y="2933700"/>
            <a:ext cx="1243584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75" dirty="0"/>
          </a:p>
        </p:txBody>
      </p:sp>
      <p:sp>
        <p:nvSpPr>
          <p:cNvPr id="22" name="Text 20"/>
          <p:cNvSpPr/>
          <p:nvPr/>
        </p:nvSpPr>
        <p:spPr>
          <a:xfrm>
            <a:off x="7960233" y="3323630"/>
            <a:ext cx="124358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25"/>
              </a:lnSpc>
              <a:spcBef>
                <a:spcPts val="1350"/>
              </a:spcBef>
              <a:buNone/>
            </a:pPr>
            <a:r>
              <a:rPr lang="en-US" sz="21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960233" y="3790355"/>
            <a:ext cx="1243584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1050"/>
              </a:spcBef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実物で試す</a:t>
            </a:r>
            <a:endParaRPr lang="en-US" sz="1275" dirty="0"/>
          </a:p>
        </p:txBody>
      </p:sp>
      <p:sp>
        <p:nvSpPr>
          <p:cNvPr id="24" name="Text 22"/>
          <p:cNvSpPr/>
          <p:nvPr/>
        </p:nvSpPr>
        <p:spPr>
          <a:xfrm>
            <a:off x="9544050" y="3276600"/>
            <a:ext cx="38862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>
                <a:solidFill>
                  <a:srgbClr val="2A3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0039350" y="2695575"/>
            <a:ext cx="1695450" cy="1695450"/>
          </a:xfrm>
          <a:prstGeom prst="roundRect">
            <a:avLst>
              <a:gd name="adj" fmla="val 10112"/>
            </a:avLst>
          </a:prstGeom>
          <a:solidFill>
            <a:srgbClr val="111C27"/>
          </a:solidFill>
          <a:ln w="9525">
            <a:solidFill>
              <a:srgbClr val="FF7A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0265283" y="2933700"/>
            <a:ext cx="1243584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FF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75" dirty="0"/>
          </a:p>
        </p:txBody>
      </p:sp>
      <p:sp>
        <p:nvSpPr>
          <p:cNvPr id="27" name="Text 25"/>
          <p:cNvSpPr/>
          <p:nvPr/>
        </p:nvSpPr>
        <p:spPr>
          <a:xfrm>
            <a:off x="10265283" y="3323630"/>
            <a:ext cx="124358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25"/>
              </a:lnSpc>
              <a:spcBef>
                <a:spcPts val="1350"/>
              </a:spcBef>
              <a:buNone/>
            </a:pPr>
            <a:r>
              <a:rPr lang="en-US" sz="21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再発防止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0265283" y="3790355"/>
            <a:ext cx="1243584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1050"/>
              </a:spcBef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テストに残す</a:t>
            </a:r>
            <a:endParaRPr lang="en-US" sz="1275" dirty="0"/>
          </a:p>
        </p:txBody>
      </p:sp>
      <p:sp>
        <p:nvSpPr>
          <p:cNvPr id="29" name="Text 27"/>
          <p:cNvSpPr/>
          <p:nvPr/>
        </p:nvSpPr>
        <p:spPr>
          <a:xfrm>
            <a:off x="1847850" y="5086350"/>
            <a:ext cx="8496300" cy="762000"/>
          </a:xfrm>
          <a:prstGeom prst="roundRect">
            <a:avLst>
              <a:gd name="adj" fmla="val 22500"/>
            </a:avLst>
          </a:prstGeom>
          <a:solidFill>
            <a:srgbClr val="111C27"/>
          </a:solidFill>
          <a:ln w="9525">
            <a:solidFill>
              <a:srgbClr val="FF7A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085975" y="5147370"/>
            <a:ext cx="1072348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失敗したら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3137297" y="5147370"/>
            <a:ext cx="7108103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成功扱いしない → 原因を探す → テストを追加 → 修正 → もう一度動かす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33" name="Text 31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進行中の作業 / 2026-07-28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別のCodexスレッドで、</a:t>
            </a:r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開発は続いている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800" y="1866900"/>
            <a:ext cx="4095750" cy="3638550"/>
          </a:xfrm>
          <a:prstGeom prst="roundRect">
            <a:avLst>
              <a:gd name="adj" fmla="val 4712"/>
            </a:avLst>
          </a:prstGeom>
          <a:solidFill>
            <a:srgbClr val="111C27"/>
          </a:solidFill>
          <a:ln w="9525">
            <a:solidFill>
              <a:srgbClr val="FFC8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3925" y="2105025"/>
            <a:ext cx="1304032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FFC8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57275" y="2190750"/>
            <a:ext cx="1058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PUSH済みの正本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23925" y="2695575"/>
            <a:ext cx="3691890" cy="564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46"/>
              </a:lnSpc>
              <a:spcBef>
                <a:spcPts val="2250"/>
              </a:spcBef>
              <a:buNone/>
            </a:pPr>
            <a:r>
              <a:rPr lang="en-US" sz="39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8i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23925" y="3336280"/>
            <a:ext cx="3691890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4"/>
              </a:lnSpc>
              <a:spcBef>
                <a:spcPts val="60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リポジトリ統合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923925" y="3862536"/>
            <a:ext cx="369189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anicca-products から</a:t>
            </a:r>
            <a:endParaRPr lang="en-US" sz="1800" dirty="0"/>
          </a:p>
          <a:p>
            <a:pPr algn="l" indent="0" marL="0">
              <a:lnSpc>
                <a:spcPts val="252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life-manager へ正本を一本化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23925" y="4788247"/>
            <a:ext cx="3691890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spcBef>
                <a:spcPts val="2250"/>
              </a:spcBef>
              <a:buNone/>
            </a:pPr>
            <a:r>
              <a:rPr lang="en-US" sz="1275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GitHubで確認した位置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4991100" y="1866900"/>
            <a:ext cx="6515100" cy="3638550"/>
          </a:xfrm>
          <a:prstGeom prst="roundRect">
            <a:avLst>
              <a:gd name="adj" fmla="val 4712"/>
            </a:avLst>
          </a:prstGeom>
          <a:solidFill>
            <a:srgbClr val="111C27"/>
          </a:solidFill>
          <a:ln w="9525">
            <a:solidFill>
              <a:srgbClr val="73D4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229225" y="2105025"/>
            <a:ext cx="1807815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73D4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362575" y="2190750"/>
            <a:ext cx="15719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CODEXスレッド：稼働中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0458450" y="2148185"/>
            <a:ext cx="825818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いま処理中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5229225" y="2676525"/>
            <a:ext cx="2957513" cy="781050"/>
          </a:xfrm>
          <a:prstGeom prst="roundRect">
            <a:avLst>
              <a:gd name="adj" fmla="val 14634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91150" y="2819400"/>
            <a:ext cx="2686336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</a:t>
            </a:r>
            <a:endParaRPr lang="en-US" sz="1275" dirty="0"/>
          </a:p>
        </p:txBody>
      </p:sp>
      <p:sp>
        <p:nvSpPr>
          <p:cNvPr id="18" name="Text 16"/>
          <p:cNvSpPr/>
          <p:nvPr/>
        </p:nvSpPr>
        <p:spPr>
          <a:xfrm>
            <a:off x="5391150" y="3104555"/>
            <a:ext cx="2686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525"/>
              </a:spcBef>
              <a:buNone/>
            </a:pPr>
            <a:r>
              <a:rPr lang="en-US" sz="15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健康診断の仕様 → 実装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10562" y="2676525"/>
            <a:ext cx="2957513" cy="781050"/>
          </a:xfrm>
          <a:prstGeom prst="roundRect">
            <a:avLst>
              <a:gd name="adj" fmla="val 14634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472488" y="2819400"/>
            <a:ext cx="2686336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</a:t>
            </a:r>
            <a:endParaRPr lang="en-US" sz="1275" dirty="0"/>
          </a:p>
        </p:txBody>
      </p:sp>
      <p:sp>
        <p:nvSpPr>
          <p:cNvPr id="21" name="Text 19"/>
          <p:cNvSpPr/>
          <p:nvPr/>
        </p:nvSpPr>
        <p:spPr>
          <a:xfrm>
            <a:off x="8472488" y="3104555"/>
            <a:ext cx="2686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525"/>
              </a:spcBef>
              <a:buNone/>
            </a:pPr>
            <a:r>
              <a:rPr lang="en-US" sz="15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人間関係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229225" y="3581400"/>
            <a:ext cx="2957513" cy="781050"/>
          </a:xfrm>
          <a:prstGeom prst="roundRect">
            <a:avLst>
              <a:gd name="adj" fmla="val 14634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391150" y="3724275"/>
            <a:ext cx="2686336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9d</a:t>
            </a:r>
            <a:endParaRPr lang="en-US" sz="1275" dirty="0"/>
          </a:p>
        </p:txBody>
      </p:sp>
      <p:sp>
        <p:nvSpPr>
          <p:cNvPr id="24" name="Text 22"/>
          <p:cNvSpPr/>
          <p:nvPr/>
        </p:nvSpPr>
        <p:spPr>
          <a:xfrm>
            <a:off x="5391150" y="4009430"/>
            <a:ext cx="2686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525"/>
              </a:spcBef>
              <a:buNone/>
            </a:pPr>
            <a:r>
              <a:rPr lang="en-US" sz="15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2〜7日目の収益台帳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310562" y="3581400"/>
            <a:ext cx="2957513" cy="781050"/>
          </a:xfrm>
          <a:prstGeom prst="roundRect">
            <a:avLst>
              <a:gd name="adj" fmla="val 14634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472488" y="3724275"/>
            <a:ext cx="2686336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11a</a:t>
            </a:r>
            <a:endParaRPr lang="en-US" sz="1275" dirty="0"/>
          </a:p>
        </p:txBody>
      </p:sp>
      <p:sp>
        <p:nvSpPr>
          <p:cNvPr id="27" name="Text 25"/>
          <p:cNvSpPr/>
          <p:nvPr/>
        </p:nvSpPr>
        <p:spPr>
          <a:xfrm>
            <a:off x="8472488" y="4009430"/>
            <a:ext cx="2686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525"/>
              </a:spcBef>
              <a:buNone/>
            </a:pPr>
            <a:r>
              <a:rPr lang="en-US" sz="15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検知 → 候補 → 予約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29225" y="4486275"/>
            <a:ext cx="2957513" cy="781050"/>
          </a:xfrm>
          <a:prstGeom prst="roundRect">
            <a:avLst>
              <a:gd name="adj" fmla="val 14634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391150" y="4629150"/>
            <a:ext cx="2686336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運用</a:t>
            </a:r>
            <a:endParaRPr lang="en-US" sz="1275" dirty="0"/>
          </a:p>
        </p:txBody>
      </p:sp>
      <p:sp>
        <p:nvSpPr>
          <p:cNvPr id="30" name="Text 28"/>
          <p:cNvSpPr/>
          <p:nvPr/>
        </p:nvSpPr>
        <p:spPr>
          <a:xfrm>
            <a:off x="5391150" y="4914305"/>
            <a:ext cx="2686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525"/>
              </a:spcBef>
              <a:buNone/>
            </a:pPr>
            <a:r>
              <a:rPr lang="en-US" sz="15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食事 / 戒律 初回配信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310562" y="4486275"/>
            <a:ext cx="2957513" cy="781050"/>
          </a:xfrm>
          <a:prstGeom prst="roundRect">
            <a:avLst>
              <a:gd name="adj" fmla="val 14634"/>
            </a:avLst>
          </a:prstGeom>
          <a:solidFill>
            <a:srgbClr val="182635"/>
          </a:solidFill>
          <a:ln w="9525">
            <a:solidFill>
              <a:srgbClr val="2A3A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472488" y="4629150"/>
            <a:ext cx="2686336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TELNYX</a:t>
            </a:r>
            <a:endParaRPr lang="en-US" sz="1275" dirty="0"/>
          </a:p>
        </p:txBody>
      </p:sp>
      <p:sp>
        <p:nvSpPr>
          <p:cNvPr id="33" name="Text 31"/>
          <p:cNvSpPr/>
          <p:nvPr/>
        </p:nvSpPr>
        <p:spPr>
          <a:xfrm>
            <a:off x="8472488" y="4914305"/>
            <a:ext cx="2686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525"/>
              </a:spcBef>
              <a:buNone/>
            </a:pPr>
            <a:r>
              <a:rPr lang="en-US" sz="15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残高の自動補充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5800" y="5762625"/>
            <a:ext cx="5478328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右側には未pushや別ブランチの作業も含む。ここでは完了扱いにしない。</a:t>
            </a:r>
            <a:endParaRPr lang="en-US" sz="1275" dirty="0"/>
          </a:p>
        </p:txBody>
      </p:sp>
      <p:sp>
        <p:nvSpPr>
          <p:cNvPr id="35" name="Text 33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36" name="Text 34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残作業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残っている作業</a:t>
            </a:r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と、その順番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800" y="1885950"/>
            <a:ext cx="5324475" cy="876300"/>
          </a:xfrm>
          <a:prstGeom prst="roundRect">
            <a:avLst>
              <a:gd name="adj" fmla="val 19565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85800" y="1890713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05513" y="1885950"/>
            <a:ext cx="0" cy="8763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757488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4375" y="1885950"/>
            <a:ext cx="0" cy="876300"/>
          </a:xfrm>
          <a:prstGeom prst="line">
            <a:avLst/>
          </a:prstGeom>
          <a:noFill/>
          <a:ln w="57150">
            <a:solidFill>
              <a:srgbClr val="FFC8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021532"/>
            <a:ext cx="99098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最優先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914400" y="2306687"/>
            <a:ext cx="99098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525"/>
              </a:spcBef>
              <a:buNone/>
            </a:pPr>
            <a:r>
              <a:rPr lang="en-US" sz="18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85950" y="2205038"/>
            <a:ext cx="14087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リポジトリ統合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67075" y="2204145"/>
            <a:ext cx="261347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正本・実装・配備先を一本化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181725" y="1885950"/>
            <a:ext cx="5324475" cy="876300"/>
          </a:xfrm>
          <a:prstGeom prst="roundRect">
            <a:avLst>
              <a:gd name="adj" fmla="val 19565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181725" y="1890713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501438" y="1885950"/>
            <a:ext cx="0" cy="8763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1725" y="2757488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0300" y="1885950"/>
            <a:ext cx="0" cy="876300"/>
          </a:xfrm>
          <a:prstGeom prst="line">
            <a:avLst/>
          </a:prstGeom>
          <a:noFill/>
          <a:ln w="57150">
            <a:solidFill>
              <a:srgbClr val="57D6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0325" y="2021532"/>
            <a:ext cx="99098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その次</a:t>
            </a:r>
            <a:endParaRPr lang="en-US" sz="1275" dirty="0"/>
          </a:p>
        </p:txBody>
      </p:sp>
      <p:sp>
        <p:nvSpPr>
          <p:cNvPr id="20" name="Text 18"/>
          <p:cNvSpPr/>
          <p:nvPr/>
        </p:nvSpPr>
        <p:spPr>
          <a:xfrm>
            <a:off x="6410325" y="2306687"/>
            <a:ext cx="99098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525"/>
              </a:spcBef>
              <a:buNone/>
            </a:pPr>
            <a:r>
              <a:rPr lang="en-US" sz="18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9b–9f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81875" y="2205038"/>
            <a:ext cx="14087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集客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763000" y="2204145"/>
            <a:ext cx="261347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動画作成→投稿→計測→修正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85800" y="2895600"/>
            <a:ext cx="5324475" cy="876300"/>
          </a:xfrm>
          <a:prstGeom prst="roundRect">
            <a:avLst>
              <a:gd name="adj" fmla="val 19565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85800" y="2900363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513" y="2895600"/>
            <a:ext cx="0" cy="8763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3767138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4375" y="2895600"/>
            <a:ext cx="0" cy="876300"/>
          </a:xfrm>
          <a:prstGeom prst="line">
            <a:avLst/>
          </a:prstGeom>
          <a:noFill/>
          <a:ln w="57150">
            <a:solidFill>
              <a:srgbClr val="C89B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3031182"/>
            <a:ext cx="99098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75" dirty="0"/>
          </a:p>
        </p:txBody>
      </p:sp>
      <p:sp>
        <p:nvSpPr>
          <p:cNvPr id="29" name="Text 27"/>
          <p:cNvSpPr/>
          <p:nvPr/>
        </p:nvSpPr>
        <p:spPr>
          <a:xfrm>
            <a:off x="914400" y="3316337"/>
            <a:ext cx="99098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525"/>
              </a:spcBef>
              <a:buNone/>
            </a:pPr>
            <a:r>
              <a:rPr lang="en-US" sz="18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10a–10f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885950" y="3214688"/>
            <a:ext cx="14087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開発の自動修復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267075" y="3213795"/>
            <a:ext cx="261347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不具合→PR→配備→回復確認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181725" y="2895600"/>
            <a:ext cx="5324475" cy="876300"/>
          </a:xfrm>
          <a:prstGeom prst="roundRect">
            <a:avLst>
              <a:gd name="adj" fmla="val 19565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6181725" y="2900363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501438" y="2895600"/>
            <a:ext cx="0" cy="8763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1725" y="3767138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0300" y="2895600"/>
            <a:ext cx="0" cy="876300"/>
          </a:xfrm>
          <a:prstGeom prst="line">
            <a:avLst/>
          </a:prstGeom>
          <a:noFill/>
          <a:ln w="57150">
            <a:solidFill>
              <a:srgbClr val="57D6C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10325" y="3031182"/>
            <a:ext cx="99098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75" dirty="0"/>
          </a:p>
        </p:txBody>
      </p:sp>
      <p:sp>
        <p:nvSpPr>
          <p:cNvPr id="38" name="Text 36"/>
          <p:cNvSpPr/>
          <p:nvPr/>
        </p:nvSpPr>
        <p:spPr>
          <a:xfrm>
            <a:off x="6410325" y="3316337"/>
            <a:ext cx="99098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525"/>
              </a:spcBef>
              <a:buNone/>
            </a:pPr>
            <a:r>
              <a:rPr lang="en-US" sz="18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10g–10i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381875" y="3214688"/>
            <a:ext cx="14087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763000" y="3213795"/>
            <a:ext cx="261347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予定と本人の意図から次を選ぶ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85800" y="3905250"/>
            <a:ext cx="5324475" cy="876300"/>
          </a:xfrm>
          <a:prstGeom prst="roundRect">
            <a:avLst>
              <a:gd name="adj" fmla="val 19565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685800" y="3910012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05513" y="3905250"/>
            <a:ext cx="0" cy="8763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5800" y="4776788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14375" y="3905250"/>
            <a:ext cx="0" cy="876300"/>
          </a:xfrm>
          <a:prstGeom prst="line">
            <a:avLst/>
          </a:prstGeom>
          <a:noFill/>
          <a:ln w="57150">
            <a:solidFill>
              <a:srgbClr val="73D49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4040832"/>
            <a:ext cx="99098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75" dirty="0"/>
          </a:p>
        </p:txBody>
      </p:sp>
      <p:sp>
        <p:nvSpPr>
          <p:cNvPr id="47" name="Text 45"/>
          <p:cNvSpPr/>
          <p:nvPr/>
        </p:nvSpPr>
        <p:spPr>
          <a:xfrm>
            <a:off x="914400" y="4325987"/>
            <a:ext cx="99098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525"/>
              </a:spcBef>
              <a:buNone/>
            </a:pPr>
            <a:r>
              <a:rPr lang="en-US" sz="18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11a–11d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1885950" y="4224338"/>
            <a:ext cx="14087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3267075" y="4223445"/>
            <a:ext cx="261347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未ケア検知→候補→予約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6181725" y="3905250"/>
            <a:ext cx="5324475" cy="876300"/>
          </a:xfrm>
          <a:prstGeom prst="roundRect">
            <a:avLst>
              <a:gd name="adj" fmla="val 19565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Shape 49"/>
          <p:cNvSpPr/>
          <p:nvPr/>
        </p:nvSpPr>
        <p:spPr>
          <a:xfrm>
            <a:off x="6181725" y="3910012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501438" y="3905250"/>
            <a:ext cx="0" cy="8763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81725" y="4776788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0300" y="3905250"/>
            <a:ext cx="0" cy="876300"/>
          </a:xfrm>
          <a:prstGeom prst="line">
            <a:avLst/>
          </a:prstGeom>
          <a:noFill/>
          <a:ln w="57150">
            <a:solidFill>
              <a:srgbClr val="C89B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10325" y="4040832"/>
            <a:ext cx="99098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75" dirty="0"/>
          </a:p>
        </p:txBody>
      </p:sp>
      <p:sp>
        <p:nvSpPr>
          <p:cNvPr id="56" name="Text 54"/>
          <p:cNvSpPr/>
          <p:nvPr/>
        </p:nvSpPr>
        <p:spPr>
          <a:xfrm>
            <a:off x="6410325" y="4325987"/>
            <a:ext cx="99098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525"/>
              </a:spcBef>
              <a:buNone/>
            </a:pPr>
            <a:r>
              <a:rPr lang="en-US" sz="18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12a–12c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7381875" y="4224338"/>
            <a:ext cx="14087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心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8763000" y="4223445"/>
            <a:ext cx="261347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予定と場所に合わせて連絡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685800" y="4914900"/>
            <a:ext cx="5324475" cy="876300"/>
          </a:xfrm>
          <a:prstGeom prst="roundRect">
            <a:avLst>
              <a:gd name="adj" fmla="val 19565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Shape 58"/>
          <p:cNvSpPr/>
          <p:nvPr/>
        </p:nvSpPr>
        <p:spPr>
          <a:xfrm>
            <a:off x="685800" y="4919663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05513" y="4914900"/>
            <a:ext cx="0" cy="8763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5786438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14375" y="4914900"/>
            <a:ext cx="0" cy="876300"/>
          </a:xfrm>
          <a:prstGeom prst="line">
            <a:avLst/>
          </a:prstGeom>
          <a:noFill/>
          <a:ln w="57150">
            <a:solidFill>
              <a:srgbClr val="FFC85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0" y="5050482"/>
            <a:ext cx="99098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75" dirty="0"/>
          </a:p>
        </p:txBody>
      </p:sp>
      <p:sp>
        <p:nvSpPr>
          <p:cNvPr id="65" name="Text 63"/>
          <p:cNvSpPr/>
          <p:nvPr/>
        </p:nvSpPr>
        <p:spPr>
          <a:xfrm>
            <a:off x="914400" y="5335637"/>
            <a:ext cx="99098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525"/>
              </a:spcBef>
              <a:buNone/>
            </a:pPr>
            <a:r>
              <a:rPr lang="en-US" sz="18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13a–13d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1885950" y="5233988"/>
            <a:ext cx="14087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お金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3267075" y="5233095"/>
            <a:ext cx="261347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収入→支払い→送金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6181725" y="4914900"/>
            <a:ext cx="5324475" cy="876300"/>
          </a:xfrm>
          <a:prstGeom prst="roundRect">
            <a:avLst>
              <a:gd name="adj" fmla="val 19565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6181725" y="4919663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1501438" y="4914900"/>
            <a:ext cx="0" cy="8763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181725" y="5786438"/>
            <a:ext cx="532447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210300" y="4914900"/>
            <a:ext cx="0" cy="876300"/>
          </a:xfrm>
          <a:prstGeom prst="line">
            <a:avLst/>
          </a:prstGeom>
          <a:noFill/>
          <a:ln w="57150">
            <a:solidFill>
              <a:srgbClr val="FF7A6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10325" y="5050482"/>
            <a:ext cx="990981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条件待ち</a:t>
            </a:r>
            <a:endParaRPr lang="en-US" sz="1275" dirty="0"/>
          </a:p>
        </p:txBody>
      </p:sp>
      <p:sp>
        <p:nvSpPr>
          <p:cNvPr id="74" name="Text 72"/>
          <p:cNvSpPr/>
          <p:nvPr/>
        </p:nvSpPr>
        <p:spPr>
          <a:xfrm>
            <a:off x="6410325" y="5335637"/>
            <a:ext cx="99098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525"/>
              </a:spcBef>
              <a:buNone/>
            </a:pPr>
            <a:r>
              <a:rPr lang="en-US" sz="18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8e / 8f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7381875" y="5233988"/>
            <a:ext cx="14087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本番確認</a:t>
            </a:r>
            <a:endParaRPr lang="en-US" sz="1500" dirty="0"/>
          </a:p>
        </p:txBody>
      </p:sp>
      <p:sp>
        <p:nvSpPr>
          <p:cNvPr id="76" name="Text 74"/>
          <p:cNvSpPr/>
          <p:nvPr/>
        </p:nvSpPr>
        <p:spPr>
          <a:xfrm>
            <a:off x="8763000" y="5233095"/>
            <a:ext cx="261347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受信箱の読取り / 実際の位置情報</a:t>
            </a:r>
            <a:endParaRPr lang="en-US" sz="1350" dirty="0"/>
          </a:p>
        </p:txBody>
      </p:sp>
      <p:sp>
        <p:nvSpPr>
          <p:cNvPr id="77" name="Text 75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78" name="Text 76"/>
          <p:cNvSpPr/>
          <p:nvPr/>
        </p:nvSpPr>
        <p:spPr>
          <a:xfrm>
            <a:off x="11352312" y="6467475"/>
            <a:ext cx="15696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安全のためのルール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自動化の</a:t>
            </a:r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境界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800" y="1962150"/>
            <a:ext cx="3476625" cy="3352800"/>
          </a:xfrm>
          <a:prstGeom prst="roundRect">
            <a:avLst>
              <a:gd name="adj" fmla="val 5114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85800" y="1990725"/>
            <a:ext cx="3476625" cy="0"/>
          </a:xfrm>
          <a:prstGeom prst="line">
            <a:avLst/>
          </a:prstGeom>
          <a:noFill/>
          <a:ln w="57150">
            <a:solidFill>
              <a:srgbClr val="57D6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57663" y="1962150"/>
            <a:ext cx="0" cy="33528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5310188"/>
            <a:ext cx="347662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0563" y="1962150"/>
            <a:ext cx="0" cy="33528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925" y="2247900"/>
            <a:ext cx="3060383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任せた範囲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923925" y="2656880"/>
            <a:ext cx="3060383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19"/>
              </a:lnSpc>
              <a:spcBef>
                <a:spcPts val="1500"/>
              </a:spcBef>
              <a:buNone/>
            </a:pPr>
            <a:r>
              <a:rPr lang="en-US" sz="21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実行してから報告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923925" y="3230761"/>
            <a:ext cx="3060383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本人にしか決められない時だけ、短い選択肢を一度だけ聞く。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23925" y="4476452"/>
            <a:ext cx="306038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2250"/>
              </a:spcBef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同じことは聞かない。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52925" y="1962150"/>
            <a:ext cx="3476625" cy="3352800"/>
          </a:xfrm>
          <a:prstGeom prst="roundRect">
            <a:avLst>
              <a:gd name="adj" fmla="val 5114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52925" y="1990725"/>
            <a:ext cx="3476625" cy="0"/>
          </a:xfrm>
          <a:prstGeom prst="line">
            <a:avLst/>
          </a:prstGeom>
          <a:noFill/>
          <a:ln w="57150">
            <a:solidFill>
              <a:srgbClr val="FFC85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24787" y="1962150"/>
            <a:ext cx="0" cy="33528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52925" y="5310188"/>
            <a:ext cx="347662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57688" y="1962150"/>
            <a:ext cx="0" cy="33528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1050" y="2247900"/>
            <a:ext cx="3060383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使える情報</a:t>
            </a:r>
            <a:endParaRPr lang="en-US" sz="1275" dirty="0"/>
          </a:p>
        </p:txBody>
      </p:sp>
      <p:sp>
        <p:nvSpPr>
          <p:cNvPr id="20" name="Text 18"/>
          <p:cNvSpPr/>
          <p:nvPr/>
        </p:nvSpPr>
        <p:spPr>
          <a:xfrm>
            <a:off x="4591050" y="2656880"/>
            <a:ext cx="3060383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19"/>
              </a:lnSpc>
              <a:spcBef>
                <a:spcPts val="1500"/>
              </a:spcBef>
              <a:buNone/>
            </a:pPr>
            <a:r>
              <a:rPr lang="en-US" sz="21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権限は必要な分だけ</a:t>
            </a:r>
            <a:endParaRPr lang="en-US" sz="2175" dirty="0"/>
          </a:p>
        </p:txBody>
      </p:sp>
      <p:sp>
        <p:nvSpPr>
          <p:cNvPr id="21" name="Text 19"/>
          <p:cNvSpPr/>
          <p:nvPr/>
        </p:nvSpPr>
        <p:spPr>
          <a:xfrm>
            <a:off x="4591050" y="3230761"/>
            <a:ext cx="3060383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カレンダー、Telegram、位置情報、ウォレットの順に接続。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91050" y="4476452"/>
            <a:ext cx="306038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2250"/>
              </a:spcBef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最初から全部は求めない。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020050" y="1962150"/>
            <a:ext cx="3476625" cy="3352800"/>
          </a:xfrm>
          <a:prstGeom prst="roundRect">
            <a:avLst>
              <a:gd name="adj" fmla="val 5114"/>
            </a:avLst>
          </a:prstGeom>
          <a:solidFill>
            <a:srgbClr val="111C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8020050" y="1990725"/>
            <a:ext cx="3476625" cy="0"/>
          </a:xfrm>
          <a:prstGeom prst="line">
            <a:avLst/>
          </a:prstGeom>
          <a:noFill/>
          <a:ln w="57150">
            <a:solidFill>
              <a:srgbClr val="FF7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91913" y="1962150"/>
            <a:ext cx="0" cy="33528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20050" y="5310188"/>
            <a:ext cx="3476625" cy="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24813" y="1962150"/>
            <a:ext cx="0" cy="3352800"/>
          </a:xfrm>
          <a:prstGeom prst="line">
            <a:avLst/>
          </a:prstGeom>
          <a:noFill/>
          <a:ln w="9525">
            <a:solidFill>
              <a:srgbClr val="2A3A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58175" y="2247900"/>
            <a:ext cx="3060383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FF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実行結果</a:t>
            </a:r>
            <a:endParaRPr lang="en-US" sz="1275" dirty="0"/>
          </a:p>
        </p:txBody>
      </p:sp>
      <p:sp>
        <p:nvSpPr>
          <p:cNvPr id="29" name="Text 27"/>
          <p:cNvSpPr/>
          <p:nvPr/>
        </p:nvSpPr>
        <p:spPr>
          <a:xfrm>
            <a:off x="8258175" y="2656880"/>
            <a:ext cx="3060383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19"/>
              </a:lnSpc>
              <a:spcBef>
                <a:spcPts val="1500"/>
              </a:spcBef>
              <a:buNone/>
            </a:pPr>
            <a:r>
              <a:rPr lang="en-US" sz="21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失敗もそのまま伝える</a:t>
            </a:r>
            <a:endParaRPr lang="en-US" sz="2175" dirty="0"/>
          </a:p>
        </p:txBody>
      </p:sp>
      <p:sp>
        <p:nvSpPr>
          <p:cNvPr id="30" name="Text 28"/>
          <p:cNvSpPr/>
          <p:nvPr/>
        </p:nvSpPr>
        <p:spPr>
          <a:xfrm>
            <a:off x="8258175" y="3230761"/>
            <a:ext cx="3060383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録音、Message-ID、取引ID、投稿URLを確認する。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58175" y="4156472"/>
            <a:ext cx="306038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Bef>
                <a:spcPts val="2250"/>
              </a:spcBef>
              <a:buNone/>
            </a:pPr>
            <a:r>
              <a:rPr lang="en-US" sz="18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エラーを隠さない。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33" name="Text 31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52450"/>
            <a:ext cx="11036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長期目標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38200"/>
            <a:ext cx="11036808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AI自身が、</a:t>
            </a:r>
            <a:pPr algn="l" indent="0" marL="0">
              <a:lnSpc>
                <a:spcPts val="4104"/>
              </a:lnSpc>
              <a:spcBef>
                <a:spcPts val="1050"/>
              </a:spcBef>
              <a:buNone/>
            </a:pPr>
            <a:r>
              <a:rPr lang="en-US" sz="3600" b="1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運営費を稼ぐ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409700"/>
            <a:ext cx="10820400" cy="19050"/>
          </a:xfrm>
          <a:prstGeom prst="rect">
            <a:avLst/>
          </a:prstGeom>
          <a:solidFill>
            <a:srgbClr val="2A3A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2543175"/>
            <a:ext cx="1714500" cy="1752600"/>
          </a:xfrm>
          <a:prstGeom prst="roundRect">
            <a:avLst>
              <a:gd name="adj" fmla="val 10000"/>
            </a:avLst>
          </a:prstGeom>
          <a:solidFill>
            <a:srgbClr val="111C27"/>
          </a:solidFill>
          <a:ln w="9525">
            <a:solidFill>
              <a:srgbClr val="57D6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63943" y="2781300"/>
            <a:ext cx="126301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仕事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1063943" y="3171230"/>
            <a:ext cx="1263015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13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仕事をする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063943" y="3611761"/>
            <a:ext cx="126301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1125"/>
              </a:spcBef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販売・受託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2638425" y="3179415"/>
            <a:ext cx="349758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>
                <a:solidFill>
                  <a:srgbClr val="2A3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067050" y="2543175"/>
            <a:ext cx="1714500" cy="1752600"/>
          </a:xfrm>
          <a:prstGeom prst="roundRect">
            <a:avLst>
              <a:gd name="adj" fmla="val 10000"/>
            </a:avLst>
          </a:prstGeom>
          <a:solidFill>
            <a:srgbClr val="111C27"/>
          </a:solidFill>
          <a:ln w="9525">
            <a:solidFill>
              <a:srgbClr val="FFC8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92793" y="2781300"/>
            <a:ext cx="126301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収入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3292793" y="3171230"/>
            <a:ext cx="1263015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13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収入を受け取る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3292793" y="3909417"/>
            <a:ext cx="126301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1125"/>
              </a:spcBef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ウォレット</a:t>
            </a:r>
            <a:endParaRPr lang="en-US" sz="1275" dirty="0"/>
          </a:p>
        </p:txBody>
      </p:sp>
      <p:sp>
        <p:nvSpPr>
          <p:cNvPr id="14" name="Text 12"/>
          <p:cNvSpPr/>
          <p:nvPr/>
        </p:nvSpPr>
        <p:spPr>
          <a:xfrm>
            <a:off x="4867275" y="3179415"/>
            <a:ext cx="349758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>
                <a:solidFill>
                  <a:srgbClr val="2A3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5295900" y="2543175"/>
            <a:ext cx="1714500" cy="1752600"/>
          </a:xfrm>
          <a:prstGeom prst="roundRect">
            <a:avLst>
              <a:gd name="adj" fmla="val 10000"/>
            </a:avLst>
          </a:prstGeom>
          <a:solidFill>
            <a:srgbClr val="111C27"/>
          </a:solidFill>
          <a:ln w="9525">
            <a:solidFill>
              <a:srgbClr val="C89B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521643" y="2781300"/>
            <a:ext cx="126301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支払い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5521643" y="3171230"/>
            <a:ext cx="1263015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13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運営費を払う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5521643" y="3909417"/>
            <a:ext cx="1263015" cy="436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1125"/>
              </a:spcBef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モデル・サーバー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7096125" y="3179415"/>
            <a:ext cx="349758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>
                <a:solidFill>
                  <a:srgbClr val="2A3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7524750" y="2543175"/>
            <a:ext cx="1714500" cy="1752600"/>
          </a:xfrm>
          <a:prstGeom prst="roundRect">
            <a:avLst>
              <a:gd name="adj" fmla="val 10000"/>
            </a:avLst>
          </a:prstGeom>
          <a:solidFill>
            <a:srgbClr val="111C27"/>
          </a:solidFill>
          <a:ln w="9525">
            <a:solidFill>
              <a:srgbClr val="73D4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750493" y="2781300"/>
            <a:ext cx="126301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送金</a:t>
            </a:r>
            <a:endParaRPr lang="en-US" sz="1275" dirty="0"/>
          </a:p>
        </p:txBody>
      </p:sp>
      <p:sp>
        <p:nvSpPr>
          <p:cNvPr id="22" name="Text 20"/>
          <p:cNvSpPr/>
          <p:nvPr/>
        </p:nvSpPr>
        <p:spPr>
          <a:xfrm>
            <a:off x="7750493" y="3171230"/>
            <a:ext cx="1263015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13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残りを送る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7750493" y="3611761"/>
            <a:ext cx="126301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1125"/>
              </a:spcBef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本人の口座へ</a:t>
            </a:r>
            <a:endParaRPr lang="en-US" sz="1275" dirty="0"/>
          </a:p>
        </p:txBody>
      </p:sp>
      <p:sp>
        <p:nvSpPr>
          <p:cNvPr id="24" name="Text 22"/>
          <p:cNvSpPr/>
          <p:nvPr/>
        </p:nvSpPr>
        <p:spPr>
          <a:xfrm>
            <a:off x="9324975" y="3179415"/>
            <a:ext cx="349758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>
                <a:solidFill>
                  <a:srgbClr val="2A3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753600" y="2543175"/>
            <a:ext cx="1714500" cy="1752600"/>
          </a:xfrm>
          <a:prstGeom prst="roundRect">
            <a:avLst>
              <a:gd name="adj" fmla="val 10000"/>
            </a:avLst>
          </a:prstGeom>
          <a:solidFill>
            <a:srgbClr val="111C27"/>
          </a:solidFill>
          <a:ln w="9525">
            <a:solidFill>
              <a:srgbClr val="FF7A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979343" y="2781300"/>
            <a:ext cx="126301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FF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還元</a:t>
            </a:r>
            <a:endParaRPr lang="en-US" sz="1275" dirty="0"/>
          </a:p>
        </p:txBody>
      </p:sp>
      <p:sp>
        <p:nvSpPr>
          <p:cNvPr id="27" name="Text 25"/>
          <p:cNvSpPr/>
          <p:nvPr/>
        </p:nvSpPr>
        <p:spPr>
          <a:xfrm>
            <a:off x="9979343" y="3171230"/>
            <a:ext cx="1263015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44"/>
              </a:lnSpc>
              <a:spcBef>
                <a:spcPts val="1350"/>
              </a:spcBef>
              <a:buNone/>
            </a:pPr>
            <a:r>
              <a:rPr lang="en-US" sz="1875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利用料を下げる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9979343" y="3909417"/>
            <a:ext cx="1263015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spcBef>
                <a:spcPts val="1125"/>
              </a:spcBef>
              <a:buNone/>
            </a:pPr>
            <a:r>
              <a:rPr lang="en-US" sz="12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月額 → 0円</a:t>
            </a:r>
            <a:endParaRPr lang="en-US" sz="1275" dirty="0"/>
          </a:p>
        </p:txBody>
      </p:sp>
      <p:sp>
        <p:nvSpPr>
          <p:cNvPr id="29" name="Text 27"/>
          <p:cNvSpPr/>
          <p:nvPr/>
        </p:nvSpPr>
        <p:spPr>
          <a:xfrm>
            <a:off x="1626870" y="5105400"/>
            <a:ext cx="8938260" cy="453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570"/>
              </a:lnSpc>
              <a:buNone/>
            </a:pPr>
            <a:r>
              <a:rPr lang="en-US" sz="2550" b="1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1人 + 1台のスマホ + Life Manager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626870" y="5692080"/>
            <a:ext cx="893826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1050"/>
              </a:spcBef>
              <a:buNone/>
            </a:pPr>
            <a:r>
              <a:rPr lang="en-US" sz="180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毎日の予定、健康、お金の用事を、スマホ1台から任せられる状態へ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972800" y="5676900"/>
            <a:ext cx="533400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C89B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1106150" y="5762625"/>
            <a:ext cx="2720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1066800"/>
            <a:ext cx="107259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8200" y="1562100"/>
            <a:ext cx="10725912" cy="1481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32"/>
              </a:lnSpc>
              <a:spcBef>
                <a:spcPts val="2700"/>
              </a:spcBef>
              <a:buNone/>
            </a:pPr>
            <a:r>
              <a:rPr lang="en-US" sz="5400" dirty="0">
                <a:solidFill>
                  <a:srgbClr val="F7F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暮らしの用事を、
</a:t>
            </a:r>
            <a:pPr algn="l" indent="0" marL="0">
              <a:lnSpc>
                <a:spcPts val="5832"/>
              </a:lnSpc>
              <a:spcBef>
                <a:spcPts val="2700"/>
              </a:spcBef>
              <a:buNone/>
            </a:pPr>
            <a:r>
              <a:rPr lang="en-US" sz="5400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先回りして片づける。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38200" y="3367088"/>
            <a:ext cx="10725912" cy="912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spcBef>
                <a:spcPts val="2550"/>
              </a:spcBef>
              <a:buNone/>
            </a:pPr>
            <a:r>
              <a:rPr lang="en-US" sz="315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予定と場所を読み、必要な処理を実行する。</a:t>
            </a:r>
            <a:endParaRPr lang="en-US" sz="3150" dirty="0"/>
          </a:p>
          <a:p>
            <a:pPr algn="l" indent="0" marL="0">
              <a:lnSpc>
                <a:spcPts val="3591"/>
              </a:lnSpc>
              <a:spcBef>
                <a:spcPts val="2550"/>
              </a:spcBef>
              <a:buNone/>
            </a:pPr>
            <a:r>
              <a:rPr lang="en-US" sz="3150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結果を本人へ伝え、失敗したら直す。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838200" y="5353050"/>
            <a:ext cx="1885652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73D4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71550" y="5438775"/>
            <a:ext cx="16513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73D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稼働中：予定 + 個人パネル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57202" y="5353050"/>
            <a:ext cx="1485602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FFC8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990552" y="5438775"/>
            <a:ext cx="12432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次：統合 + 自動修復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476155" y="5353050"/>
            <a:ext cx="1866900" cy="304800"/>
          </a:xfrm>
          <a:prstGeom prst="roundRect">
            <a:avLst>
              <a:gd name="adj" fmla="val 3121875"/>
            </a:avLst>
          </a:prstGeom>
          <a:noFill/>
          <a:ln w="9525">
            <a:solidFill>
              <a:srgbClr val="C89B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09505" y="5438775"/>
            <a:ext cx="16322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1050" b="1" dirty="0">
                <a:solidFill>
                  <a:srgbClr val="C8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目標：自分で運営費を稼ぐ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6467475"/>
            <a:ext cx="1382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dirty="0">
                <a:solidFill>
                  <a:srgbClr val="A6B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MANAGER / LT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1345466" y="6467475"/>
            <a:ext cx="163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57D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Life Manager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 Manager — 暮らしの用事を先回りして片づける</dc:title>
  <dc:subject>Life Manager lightning talk</dc:subject>
  <dc:creator>Daisuke Narita / Codex</dc:creator>
  <cp:lastModifiedBy>Daisuke Narita / Codex</cp:lastModifiedBy>
  <cp:revision>1</cp:revision>
  <dcterms:created xsi:type="dcterms:W3CDTF">2026-07-28T11:12:01Z</dcterms:created>
  <dcterms:modified xsi:type="dcterms:W3CDTF">2026-07-28T11:12:01Z</dcterms:modified>
</cp:coreProperties>
</file>