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導入。今日は、Life Managerを「何を作っているか」「どこまでできたか」「何が残っているか」の順に話す。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Managerが解く問題は、アプリ不足ではない。人間の頭が、予定・移動・連絡・健康・収入のオペレーターになっていること。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北極星。Life Managerは三つの臓器を持つ。財務・身体・精神を別々のアプリで管理するのではなく、一つの文脈から動かす。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制作方法そのものも実験。私はPCの前に座らず、ChatGPTのiPhoneアプリからMac mini上のCodexへ指示し、コード・テスト・デプロイまで進めている。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organの理想体験。ユーザーが開く画面より、向こうから来る電話と報告が主UI。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完成済みと本番実証済みを分けない。正本では、DAILY核・電話・パネル認証・スコア・プライバシーがproduction L3済み。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システム構造。頭脳の下に三臓器、共有実行基盤、外部世界がある。チャネルはambient first。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ユーザー体験はambient first。パネルは主役ではなく、鏡とコントロールセンター。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自己改善の核はループ。観測、評価、行動、実世界検証、学習。失敗時は黙らず、止めて修復し、同じ失敗をテストに変える。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今日のライブ状況。CodexのLife Managerスレッドはactive。ローカル正本のカーソルは8iだが、ライブスレッドはより新しいH3/H5等のキューを処理中。push前の差を混同しない。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正本の残TODOをフェーズで示す。目先は統合。次に獲得と自己修復。最後に各臓器を完成させる。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自律性は無制限な自由ではない。委任範囲、可逆性、コスト、リスク、証拠でゲートする。質問を減らすことと、嘘をつかないことを両立する。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長期ビジョン。AIが外部経済から収益を得て、自分の計算資源を払い、ユーザー負担を下げる。これは現状では北極星であり、実績と分けて語る。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締め。Life ManagerはUIではなく、生活を観測し、行動し、実証し、学ぶオペレーター。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700"/>
            <a:ext cx="6995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LIGHTNING TALK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66800"/>
            <a:ext cx="6995160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8"/>
              </a:lnSpc>
              <a:spcBef>
                <a:spcPts val="2100"/>
              </a:spcBef>
              <a:buNone/>
            </a:pPr>
            <a:r>
              <a:rPr lang="en-US" sz="51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理想の生活が
</a:t>
            </a:r>
            <a:pPr algn="l" indent="0" marL="0">
              <a:lnSpc>
                <a:spcPts val="5508"/>
              </a:lnSpc>
              <a:spcBef>
                <a:spcPts val="2100"/>
              </a:spcBef>
              <a:buNone/>
            </a:pPr>
            <a:r>
              <a:rPr lang="en-US" sz="51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向こうから来る。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685800" y="2732484"/>
            <a:ext cx="63150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spcBef>
                <a:spcPts val="2100"/>
              </a:spcBef>
              <a:buNone/>
            </a:pPr>
            <a:r>
              <a:rPr lang="en-US" sz="18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1人・1台のスマホから、財務・身体・精神を動かす生活OSをつくる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724900" y="914400"/>
            <a:ext cx="2324100" cy="4572000"/>
          </a:xfrm>
          <a:prstGeom prst="roundRect">
            <a:avLst>
              <a:gd name="adj" fmla="val 17213"/>
            </a:avLst>
          </a:prstGeom>
          <a:solidFill>
            <a:srgbClr val="111C27"/>
          </a:solidFill>
          <a:ln w="28575">
            <a:solidFill>
              <a:srgbClr val="F7F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458325" y="1095375"/>
            <a:ext cx="914400" cy="76200"/>
          </a:xfrm>
          <a:prstGeom prst="roundRect">
            <a:avLst>
              <a:gd name="adj" fmla="val 100000"/>
            </a:avLst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82075" y="1628775"/>
            <a:ext cx="1904238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07:50  LIFE MANAGER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982075" y="1961555"/>
            <a:ext cx="1866900" cy="1195090"/>
          </a:xfrm>
          <a:prstGeom prst="roundRect">
            <a:avLst>
              <a:gd name="adj" fmla="val 14346"/>
            </a:avLst>
          </a:prstGeom>
          <a:solidFill>
            <a:srgbClr val="111C27"/>
          </a:solidFill>
          <a:ln w="9525">
            <a:solidFill>
              <a:srgbClr val="57D6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63050" y="2142530"/>
            <a:ext cx="153504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 出発。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63050" y="2538710"/>
            <a:ext cx="1535049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Bef>
                <a:spcPts val="600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雨なので10分早めました。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8982075" y="3289995"/>
            <a:ext cx="1866900" cy="1287066"/>
          </a:xfrm>
          <a:prstGeom prst="roundRect">
            <a:avLst>
              <a:gd name="adj" fmla="val 13321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63050" y="3470970"/>
            <a:ext cx="153504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163050" y="3756124"/>
            <a:ext cx="15350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移動時間を追加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82075" y="4710410"/>
            <a:ext cx="1866900" cy="967085"/>
          </a:xfrm>
          <a:prstGeom prst="roundRect">
            <a:avLst>
              <a:gd name="adj" fmla="val 17729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63050" y="4891385"/>
            <a:ext cx="153504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163050" y="5176540"/>
            <a:ext cx="153504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T-10 電話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9775" y="5276850"/>
            <a:ext cx="571500" cy="47625"/>
          </a:xfrm>
          <a:prstGeom prst="roundRect">
            <a:avLst>
              <a:gd name="adj" fmla="val 100000"/>
            </a:avLst>
          </a:prstGeom>
          <a:solidFill>
            <a:srgbClr val="A6B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問題は、生活が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FF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人間の頭のRAM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を食べ続けること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1952625"/>
            <a:ext cx="2476500" cy="1428750"/>
          </a:xfrm>
          <a:prstGeom prst="roundRect">
            <a:avLst>
              <a:gd name="adj" fmla="val 12000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2025" y="2190750"/>
            <a:ext cx="204025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962025" y="2523530"/>
            <a:ext cx="204025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次は何時？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62025" y="2916436"/>
            <a:ext cx="20402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時計を見続ける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91600" y="1952625"/>
            <a:ext cx="2476500" cy="1428750"/>
          </a:xfrm>
          <a:prstGeom prst="roundRect">
            <a:avLst>
              <a:gd name="adj" fmla="val 12000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29725" y="2190750"/>
            <a:ext cx="204025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229725" y="2523530"/>
            <a:ext cx="204025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何分前に出る？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229725" y="2916436"/>
            <a:ext cx="20402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毎回逆算する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3900" y="4143375"/>
            <a:ext cx="2476500" cy="1428750"/>
          </a:xfrm>
          <a:prstGeom prst="roundRect">
            <a:avLst>
              <a:gd name="adj" fmla="val 12000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2025" y="4381500"/>
            <a:ext cx="204025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62025" y="4714280"/>
            <a:ext cx="204025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予約しなきゃ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62025" y="5107186"/>
            <a:ext cx="20402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先送りが住みつく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91600" y="4143375"/>
            <a:ext cx="2476500" cy="1428750"/>
          </a:xfrm>
          <a:prstGeom prst="roundRect">
            <a:avLst>
              <a:gd name="adj" fmla="val 12000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229725" y="4381500"/>
            <a:ext cx="204025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9229725" y="4714280"/>
            <a:ext cx="204025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もっと稼がなきゃ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229725" y="5107186"/>
            <a:ext cx="204025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労働時間に縛られる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2686050"/>
            <a:ext cx="3048000" cy="2152650"/>
          </a:xfrm>
          <a:prstGeom prst="roundRect">
            <a:avLst>
              <a:gd name="adj" fmla="val 12389"/>
            </a:avLst>
          </a:prstGeom>
          <a:solidFill>
            <a:srgbClr val="182635"/>
          </a:solidFill>
          <a:ln w="19050">
            <a:solidFill>
              <a:srgbClr val="57D6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76940" y="3084761"/>
            <a:ext cx="12381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2779" y="3408611"/>
            <a:ext cx="2106442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03"/>
              </a:lnSpc>
              <a:spcBef>
                <a:spcPts val="1350"/>
              </a:spcBef>
              <a:buNone/>
            </a:pPr>
            <a:r>
              <a:rPr lang="en-US" sz="412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常時満杯</a:t>
            </a:r>
            <a:endParaRPr lang="en-US" sz="4125" dirty="0"/>
          </a:p>
        </p:txBody>
      </p:sp>
      <p:sp>
        <p:nvSpPr>
          <p:cNvPr id="24" name="Text 22"/>
          <p:cNvSpPr/>
          <p:nvPr/>
        </p:nvSpPr>
        <p:spPr>
          <a:xfrm>
            <a:off x="4696968" y="4120009"/>
            <a:ext cx="27980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忘れないために生きている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= 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頭脳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+ 3つの臓器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952625"/>
            <a:ext cx="3467100" cy="2952750"/>
          </a:xfrm>
          <a:prstGeom prst="roundRect">
            <a:avLst>
              <a:gd name="adj" fmla="val 5806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1981200"/>
            <a:ext cx="3467100" cy="0"/>
          </a:xfrm>
          <a:prstGeom prst="line">
            <a:avLst/>
          </a:prstGeom>
          <a:noFill/>
          <a:ln w="57150">
            <a:solidFill>
              <a:srgbClr val="73D4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48137" y="1952625"/>
            <a:ext cx="0" cy="295275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4900613"/>
            <a:ext cx="34671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3" y="1952625"/>
            <a:ext cx="0" cy="295275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925" y="2238375"/>
            <a:ext cx="3050667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23925" y="2628305"/>
            <a:ext cx="3050667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spcBef>
                <a:spcPts val="1350"/>
              </a:spcBef>
              <a:buNone/>
            </a:pPr>
            <a:r>
              <a:rPr lang="en-US" sz="31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身体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23925" y="3293864"/>
            <a:ext cx="30506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6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未通院や未ケアを見つけ、生活圏と予定から予約する。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3925" y="4181475"/>
            <a:ext cx="30506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950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「木曜18時、歯医者を取った」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62450" y="1952625"/>
            <a:ext cx="3467100" cy="2952750"/>
          </a:xfrm>
          <a:prstGeom prst="roundRect">
            <a:avLst>
              <a:gd name="adj" fmla="val 5806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62450" y="1981200"/>
            <a:ext cx="3467100" cy="0"/>
          </a:xfrm>
          <a:prstGeom prst="line">
            <a:avLst/>
          </a:prstGeom>
          <a:noFill/>
          <a:ln w="57150">
            <a:solidFill>
              <a:srgbClr val="C8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24787" y="1952625"/>
            <a:ext cx="0" cy="295275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2450" y="4900613"/>
            <a:ext cx="34671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7212" y="1952625"/>
            <a:ext cx="0" cy="295275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0575" y="2238375"/>
            <a:ext cx="3050667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4600575" y="2628305"/>
            <a:ext cx="3050667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spcBef>
                <a:spcPts val="1350"/>
              </a:spcBef>
              <a:buNone/>
            </a:pPr>
            <a:r>
              <a:rPr lang="en-US" sz="31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4600575" y="3293864"/>
            <a:ext cx="305066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6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予定と場所から、効く瞬間に支援する。固定時刻ではない。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00575" y="4501455"/>
            <a:ext cx="30506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950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「準備は全部入ってる」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39100" y="1952625"/>
            <a:ext cx="3467100" cy="2952750"/>
          </a:xfrm>
          <a:prstGeom prst="roundRect">
            <a:avLst>
              <a:gd name="adj" fmla="val 5806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039100" y="1981200"/>
            <a:ext cx="3467100" cy="0"/>
          </a:xfrm>
          <a:prstGeom prst="line">
            <a:avLst/>
          </a:prstGeom>
          <a:noFill/>
          <a:ln w="57150">
            <a:solidFill>
              <a:srgbClr val="FFC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01437" y="1952625"/>
            <a:ext cx="0" cy="295275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9100" y="4900613"/>
            <a:ext cx="34671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3863" y="1952625"/>
            <a:ext cx="0" cy="295275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7225" y="2238375"/>
            <a:ext cx="3050667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8277225" y="2628305"/>
            <a:ext cx="3050667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spcBef>
                <a:spcPts val="1350"/>
              </a:spcBef>
              <a:buNone/>
            </a:pPr>
            <a:r>
              <a:rPr lang="en-US" sz="31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</a:t>
            </a:r>
            <a:endParaRPr lang="en-US" sz="3150" dirty="0"/>
          </a:p>
        </p:txBody>
      </p:sp>
      <p:sp>
        <p:nvSpPr>
          <p:cNvPr id="30" name="Text 28"/>
          <p:cNvSpPr/>
          <p:nvPr/>
        </p:nvSpPr>
        <p:spPr>
          <a:xfrm>
            <a:off x="8277225" y="3293864"/>
            <a:ext cx="305066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6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AIが自分のwalletで稼ぎ、自分の計算資源を払い、余剰を送る。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77225" y="4501455"/>
            <a:ext cx="30506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950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「今月 $120 稼いだ」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89885" y="5276850"/>
            <a:ext cx="641223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頭脳：</a:t>
            </a:r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intent-aware context graph ─ その人にとって重要な未処理を選ぶ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このシステムは、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スマホだけで指揮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してつくっている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38250" y="2036266"/>
            <a:ext cx="1123950" cy="2000250"/>
          </a:xfrm>
          <a:prstGeom prst="roundRect">
            <a:avLst>
              <a:gd name="adj" fmla="val 20339"/>
            </a:avLst>
          </a:prstGeom>
          <a:solidFill>
            <a:srgbClr val="111C27"/>
          </a:solidFill>
          <a:ln w="38100">
            <a:solidFill>
              <a:srgbClr val="F7F4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43412" y="2649736"/>
            <a:ext cx="31347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90"/>
              </a:lnSpc>
              <a:buNone/>
            </a:pPr>
            <a:r>
              <a:rPr lang="en-US" sz="435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780098" y="4207966"/>
            <a:ext cx="204025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3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app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80098" y="4562773"/>
            <a:ext cx="204025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声とテキストで指示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47975" y="3259485"/>
            <a:ext cx="5246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05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3409950" y="2619375"/>
            <a:ext cx="2381250" cy="2000250"/>
          </a:xfrm>
          <a:prstGeom prst="roundRect">
            <a:avLst>
              <a:gd name="adj" fmla="val 8571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29025" y="3001119"/>
            <a:ext cx="194310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MAC MINI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3629025" y="3391049"/>
            <a:ext cx="1943100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9"/>
              </a:lnSpc>
              <a:spcBef>
                <a:spcPts val="1350"/>
              </a:spcBef>
              <a:buNone/>
            </a:pPr>
            <a:r>
              <a:rPr lang="en-US" sz="28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3629025" y="3917900"/>
            <a:ext cx="19431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読む・作る・試す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38825" y="3259485"/>
            <a:ext cx="5246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05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6400800" y="2619375"/>
            <a:ext cx="2381250" cy="2000250"/>
          </a:xfrm>
          <a:prstGeom prst="roundRect">
            <a:avLst>
              <a:gd name="adj" fmla="val 8571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19875" y="2841129"/>
            <a:ext cx="194310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619875" y="3231059"/>
            <a:ext cx="1943100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9"/>
              </a:lnSpc>
              <a:spcBef>
                <a:spcPts val="1350"/>
              </a:spcBef>
              <a:buNone/>
            </a:pPr>
            <a:r>
              <a:rPr lang="en-US" sz="28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619875" y="3757910"/>
            <a:ext cx="19431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spec・code・evidence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29675" y="3259485"/>
            <a:ext cx="5246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05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20" name="Text 18"/>
          <p:cNvSpPr/>
          <p:nvPr/>
        </p:nvSpPr>
        <p:spPr>
          <a:xfrm>
            <a:off x="9391650" y="2619375"/>
            <a:ext cx="2000250" cy="2000250"/>
          </a:xfrm>
          <a:prstGeom prst="roundRect">
            <a:avLst>
              <a:gd name="adj" fmla="val 8571"/>
            </a:avLst>
          </a:prstGeom>
          <a:solidFill>
            <a:srgbClr val="111C27"/>
          </a:solidFill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614535" y="3001119"/>
            <a:ext cx="155448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9614535" y="3391049"/>
            <a:ext cx="1554480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9"/>
              </a:lnSpc>
              <a:spcBef>
                <a:spcPts val="1350"/>
              </a:spcBef>
              <a:buNone/>
            </a:pPr>
            <a:r>
              <a:rPr lang="en-US" sz="28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9614535" y="3917900"/>
            <a:ext cx="15544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常時稼働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58378" y="5429250"/>
            <a:ext cx="767524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PCを操作するのではなく、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エージェントを運用する</a:t>
            </a:r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WITH LIFE MANAGER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生活は「画面を開く」前に動く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23950" y="2886075"/>
            <a:ext cx="9944100" cy="3810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47825" y="2114550"/>
            <a:ext cx="514350" cy="514350"/>
          </a:xfrm>
          <a:prstGeom prst="roundRect">
            <a:avLst>
              <a:gd name="adj" fmla="val 177778"/>
            </a:avLst>
          </a:prstGeom>
          <a:solidFill>
            <a:srgbClr val="57D6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42762" y="2262188"/>
            <a:ext cx="1243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08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816864" y="2876550"/>
            <a:ext cx="21762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9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予定を書く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16864" y="3259931"/>
            <a:ext cx="2176272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675"/>
              </a:spcBef>
              <a:buNone/>
            </a:pPr>
            <a:r>
              <a:rPr lang="en-US" sz="12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816864" y="3573661"/>
            <a:ext cx="21762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予定を解釈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3325" y="2114550"/>
            <a:ext cx="514350" cy="514350"/>
          </a:xfrm>
          <a:prstGeom prst="roundRect">
            <a:avLst>
              <a:gd name="adj" fmla="val 177778"/>
            </a:avLst>
          </a:prstGeom>
          <a:solidFill>
            <a:srgbClr val="57D6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38262" y="2262188"/>
            <a:ext cx="1243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08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2912364" y="2876550"/>
            <a:ext cx="21762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9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移動を埋める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912364" y="3259931"/>
            <a:ext cx="2176272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675"/>
              </a:spcBef>
              <a:buNone/>
            </a:pPr>
            <a:r>
              <a:rPr lang="en-US" sz="12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2912364" y="3573661"/>
            <a:ext cx="21762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起点から逆算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38825" y="2114550"/>
            <a:ext cx="514350" cy="514350"/>
          </a:xfrm>
          <a:prstGeom prst="roundRect">
            <a:avLst>
              <a:gd name="adj" fmla="val 177778"/>
            </a:avLst>
          </a:prstGeom>
          <a:solidFill>
            <a:srgbClr val="57D6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33762" y="2262188"/>
            <a:ext cx="1243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08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007864" y="2876550"/>
            <a:ext cx="21762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9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電話が鳴る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5007864" y="3259931"/>
            <a:ext cx="2176272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675"/>
              </a:spcBef>
              <a:buNone/>
            </a:pPr>
            <a:r>
              <a:rPr lang="en-US" sz="12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T-10 / T-5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5007864" y="3573661"/>
            <a:ext cx="21762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出るまで促す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34325" y="2114550"/>
            <a:ext cx="514350" cy="514350"/>
          </a:xfrm>
          <a:prstGeom prst="roundRect">
            <a:avLst>
              <a:gd name="adj" fmla="val 177778"/>
            </a:avLst>
          </a:prstGeom>
          <a:solidFill>
            <a:srgbClr val="FFC8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29262" y="2262188"/>
            <a:ext cx="1243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08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7103364" y="2876550"/>
            <a:ext cx="21762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9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遅刻を連絡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7103364" y="3259931"/>
            <a:ext cx="2176272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675"/>
              </a:spcBef>
              <a:buNone/>
            </a:pPr>
            <a:r>
              <a:rPr lang="en-US" sz="1275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7103364" y="3573661"/>
            <a:ext cx="21762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位置で確定後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29825" y="2114550"/>
            <a:ext cx="514350" cy="514350"/>
          </a:xfrm>
          <a:prstGeom prst="roundRect">
            <a:avLst>
              <a:gd name="adj" fmla="val 177778"/>
            </a:avLst>
          </a:prstGeom>
          <a:solidFill>
            <a:srgbClr val="73D4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224762" y="2262188"/>
            <a:ext cx="1243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08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9198864" y="2876550"/>
            <a:ext cx="21762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9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事後報告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9198864" y="3259931"/>
            <a:ext cx="2176272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675"/>
              </a:spcBef>
              <a:buNone/>
            </a:pPr>
            <a:r>
              <a:rPr lang="en-US" sz="1275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198864" y="3573661"/>
            <a:ext cx="21762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聞かずに報告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476500" y="5295900"/>
            <a:ext cx="7239000" cy="1001911"/>
          </a:xfrm>
          <a:prstGeom prst="roundRect">
            <a:avLst>
              <a:gd name="adj" fmla="val 17112"/>
            </a:avLst>
          </a:prstGeom>
          <a:solidFill>
            <a:srgbClr val="111C27"/>
          </a:solidFill>
          <a:ln w="9525">
            <a:solidFill>
              <a:srgbClr val="57D6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88705" y="5476875"/>
            <a:ext cx="70145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主UIは </a:t>
            </a:r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 + Telegram</a:t>
            </a:r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。Webは許可・停止・証拠を見るコントロールパネル。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VERIFIED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ここまでは、もう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動いている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505200" cy="1524000"/>
          </a:xfrm>
          <a:prstGeom prst="roundRect">
            <a:avLst>
              <a:gd name="adj" fmla="val 11250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1847850"/>
            <a:ext cx="3505200" cy="0"/>
          </a:xfrm>
          <a:prstGeom prst="line">
            <a:avLst/>
          </a:prstGeom>
          <a:noFill/>
          <a:ln w="38100">
            <a:solidFill>
              <a:srgbClr val="57D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86238" y="18288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348038"/>
            <a:ext cx="35052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3" y="18288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925" y="2095500"/>
            <a:ext cx="308952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CORE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23925" y="2428280"/>
            <a:ext cx="308952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予定・travel・call・報告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23925" y="2821186"/>
            <a:ext cx="3089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production依存 9/9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1828800"/>
            <a:ext cx="3505200" cy="1524000"/>
          </a:xfrm>
          <a:prstGeom prst="roundRect">
            <a:avLst>
              <a:gd name="adj" fmla="val 11250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43400" y="1847850"/>
            <a:ext cx="3505200" cy="0"/>
          </a:xfrm>
          <a:prstGeom prst="line">
            <a:avLst/>
          </a:prstGeom>
          <a:noFill/>
          <a:ln w="38100">
            <a:solidFill>
              <a:srgbClr val="57D6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3838" y="18288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3348038"/>
            <a:ext cx="35052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8163" y="18288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525" y="2095500"/>
            <a:ext cx="308952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4581525" y="2428280"/>
            <a:ext cx="308952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Telnyx + Gemini Live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4581525" y="2821186"/>
            <a:ext cx="3089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実通話・録音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01000" y="1828800"/>
            <a:ext cx="3505200" cy="1524000"/>
          </a:xfrm>
          <a:prstGeom prst="roundRect">
            <a:avLst>
              <a:gd name="adj" fmla="val 11250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001000" y="1847850"/>
            <a:ext cx="3505200" cy="0"/>
          </a:xfrm>
          <a:prstGeom prst="line">
            <a:avLst/>
          </a:prstGeom>
          <a:noFill/>
          <a:ln w="38100">
            <a:solidFill>
              <a:srgbClr val="73D4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01438" y="18288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3348038"/>
            <a:ext cx="35052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5763" y="18288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9125" y="2095500"/>
            <a:ext cx="308952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8239125" y="2428280"/>
            <a:ext cx="308952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恒久 /panel + 個人session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8239125" y="2821186"/>
            <a:ext cx="3089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TG/Web 2入口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" y="3505200"/>
            <a:ext cx="3505200" cy="1524000"/>
          </a:xfrm>
          <a:prstGeom prst="roundRect">
            <a:avLst>
              <a:gd name="adj" fmla="val 11250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85800" y="3524250"/>
            <a:ext cx="3505200" cy="0"/>
          </a:xfrm>
          <a:prstGeom prst="line">
            <a:avLst/>
          </a:prstGeom>
          <a:noFill/>
          <a:ln w="38100">
            <a:solidFill>
              <a:srgbClr val="73D49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86238" y="35052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024438"/>
            <a:ext cx="35052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563" y="35052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925" y="3771900"/>
            <a:ext cx="308952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923925" y="4104680"/>
            <a:ext cx="308952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接続・通知・call設定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923925" y="4497586"/>
            <a:ext cx="3089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chat/panel同一state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343400" y="3505200"/>
            <a:ext cx="3505200" cy="1524000"/>
          </a:xfrm>
          <a:prstGeom prst="roundRect">
            <a:avLst>
              <a:gd name="adj" fmla="val 11250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343400" y="3524250"/>
            <a:ext cx="3505200" cy="0"/>
          </a:xfrm>
          <a:prstGeom prst="line">
            <a:avLst/>
          </a:prstGeom>
          <a:noFill/>
          <a:ln w="38100">
            <a:solidFill>
              <a:srgbClr val="C89B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43838" y="35052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5024438"/>
            <a:ext cx="35052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48163" y="35052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525" y="3771900"/>
            <a:ext cx="308952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4581525" y="4104680"/>
            <a:ext cx="308952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organ outcome score</a:t>
            </a:r>
            <a:endParaRPr lang="en-US" sz="1875" dirty="0"/>
          </a:p>
        </p:txBody>
      </p:sp>
      <p:sp>
        <p:nvSpPr>
          <p:cNvPr id="44" name="Text 42"/>
          <p:cNvSpPr/>
          <p:nvPr/>
        </p:nvSpPr>
        <p:spPr>
          <a:xfrm>
            <a:off x="4581525" y="4497586"/>
            <a:ext cx="3089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0件は insufficient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001000" y="3505200"/>
            <a:ext cx="3505200" cy="1524000"/>
          </a:xfrm>
          <a:prstGeom prst="roundRect">
            <a:avLst>
              <a:gd name="adj" fmla="val 11250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8001000" y="3524250"/>
            <a:ext cx="3505200" cy="0"/>
          </a:xfrm>
          <a:prstGeom prst="line">
            <a:avLst/>
          </a:prstGeom>
          <a:noFill/>
          <a:ln w="38100">
            <a:solidFill>
              <a:srgbClr val="C89B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501438" y="35052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5024438"/>
            <a:ext cx="3505200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05763" y="3505200"/>
            <a:ext cx="0" cy="15240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39125" y="3771900"/>
            <a:ext cx="3089529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8239125" y="4104680"/>
            <a:ext cx="308952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9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log・secret非表示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8239125" y="4497586"/>
            <a:ext cx="3089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7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mobile/desktop実証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85800" y="5810250"/>
            <a:ext cx="3599593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= 実世界のside effectを、実物のreceiptで確認</a:t>
            </a:r>
            <a:endParaRPr lang="en-US" sz="1275" dirty="0"/>
          </a:p>
        </p:txBody>
      </p:sp>
      <p:sp>
        <p:nvSpPr>
          <p:cNvPr id="54" name="Text 52"/>
          <p:cNvSpPr/>
          <p:nvPr/>
        </p:nvSpPr>
        <p:spPr>
          <a:xfrm>
            <a:off x="8977908" y="5810250"/>
            <a:ext cx="2578858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200だけでは「完了」にしない</a:t>
            </a:r>
            <a:endParaRPr lang="en-US" sz="1275" dirty="0"/>
          </a:p>
        </p:txBody>
      </p:sp>
      <p:sp>
        <p:nvSpPr>
          <p:cNvPr id="55" name="Text 53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1つの頭脳が、3つの臓器と外部世界を動かす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19250" y="1790700"/>
            <a:ext cx="8953500" cy="819150"/>
          </a:xfrm>
          <a:prstGeom prst="roundRect">
            <a:avLst>
              <a:gd name="adj" fmla="val 20930"/>
            </a:avLst>
          </a:prstGeom>
          <a:solidFill>
            <a:srgbClr val="111C27"/>
          </a:solidFill>
          <a:ln w="9525">
            <a:solidFill>
              <a:srgbClr val="57D6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72603" y="2028825"/>
            <a:ext cx="864679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772603" y="2323505"/>
            <a:ext cx="864679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6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/ context / consent / budget / evidence / ROI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619250" y="2819400"/>
            <a:ext cx="2867025" cy="990600"/>
          </a:xfrm>
          <a:prstGeom prst="roundRect">
            <a:avLst>
              <a:gd name="adj" fmla="val 17308"/>
            </a:avLst>
          </a:prstGeom>
          <a:solidFill>
            <a:srgbClr val="111C27"/>
          </a:solidFill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33467" y="3057525"/>
            <a:ext cx="243859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833467" y="3399830"/>
            <a:ext cx="243859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975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予約・健康行動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657725" y="2819400"/>
            <a:ext cx="2867025" cy="990600"/>
          </a:xfrm>
          <a:prstGeom prst="roundRect">
            <a:avLst>
              <a:gd name="adj" fmla="val 17308"/>
            </a:avLst>
          </a:prstGeom>
          <a:solidFill>
            <a:srgbClr val="111C27"/>
          </a:solidFill>
          <a:ln w="9525">
            <a:solidFill>
              <a:srgbClr val="C89B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1942" y="3057525"/>
            <a:ext cx="243859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871942" y="3399830"/>
            <a:ext cx="243859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975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習慣・睡眠・支援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696200" y="2819400"/>
            <a:ext cx="2867025" cy="990600"/>
          </a:xfrm>
          <a:prstGeom prst="roundRect">
            <a:avLst>
              <a:gd name="adj" fmla="val 17308"/>
            </a:avLst>
          </a:prstGeom>
          <a:solidFill>
            <a:srgbClr val="111C27"/>
          </a:solidFill>
          <a:ln w="9525">
            <a:solidFill>
              <a:srgbClr val="FFC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10417" y="3057525"/>
            <a:ext cx="243859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7910417" y="3399830"/>
            <a:ext cx="243859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975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稼ぐ・払う・送る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619250" y="4038600"/>
            <a:ext cx="8953500" cy="838200"/>
          </a:xfrm>
          <a:prstGeom prst="roundRect">
            <a:avLst>
              <a:gd name="adj" fmla="val 20455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72603" y="4276725"/>
            <a:ext cx="864679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772603" y="4590455"/>
            <a:ext cx="864679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7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/ browser / email / voice / wallet / eval / ledger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619250" y="5105400"/>
            <a:ext cx="1653480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12640" y="5191125"/>
            <a:ext cx="272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44180" y="5105400"/>
            <a:ext cx="1653629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79366" y="5191125"/>
            <a:ext cx="594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69260" y="5105400"/>
            <a:ext cx="1653480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10548" y="5191125"/>
            <a:ext cx="5821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94190" y="5105400"/>
            <a:ext cx="1653629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47967" y="5191125"/>
            <a:ext cx="760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Web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19270" y="5105400"/>
            <a:ext cx="1653480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68011" y="5191125"/>
            <a:ext cx="362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行動は向こうから。設定と証拠は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1枚の鏡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981200"/>
            <a:ext cx="4095750" cy="3429000"/>
          </a:xfrm>
          <a:prstGeom prst="roundRect">
            <a:avLst>
              <a:gd name="adj" fmla="val 5000"/>
            </a:avLst>
          </a:prstGeom>
          <a:solidFill>
            <a:srgbClr val="111C27"/>
          </a:solidFill>
          <a:ln w="9525">
            <a:solidFill>
              <a:srgbClr val="57D6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9175" y="2219325"/>
            <a:ext cx="36918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CHANNELS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19175" y="2647355"/>
            <a:ext cx="3691890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spcBef>
                <a:spcPts val="1650"/>
              </a:spcBef>
              <a:buNone/>
            </a:pPr>
            <a:r>
              <a:rPr lang="en-US" sz="31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 + Telegram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19175" y="3351014"/>
            <a:ext cx="369189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9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起こす。出発を促す。連絡する。予約する。終わったら報告する。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9175" y="4352925"/>
            <a:ext cx="1196280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4438650"/>
            <a:ext cx="948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向こうから来る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05400" y="1981200"/>
            <a:ext cx="6305550" cy="3429000"/>
          </a:xfrm>
          <a:prstGeom prst="roundRect">
            <a:avLst>
              <a:gd name="adj" fmla="val 5000"/>
            </a:avLst>
          </a:prstGeom>
          <a:solidFill>
            <a:srgbClr val="111C27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3525" y="2219325"/>
            <a:ext cx="2315932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CONTROL PANEL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343525" y="2571155"/>
            <a:ext cx="2315932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9"/>
              </a:lnSpc>
              <a:spcBef>
                <a:spcPts val="1050"/>
              </a:spcBef>
              <a:buNone/>
            </a:pPr>
            <a:r>
              <a:rPr lang="en-US" sz="28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/panel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009584" y="2449116"/>
            <a:ext cx="1163241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142934" y="2534841"/>
            <a:ext cx="9144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3525" y="3269456"/>
            <a:ext cx="2847975" cy="552450"/>
          </a:xfrm>
          <a:prstGeom prst="roundRect">
            <a:avLst>
              <a:gd name="adj" fmla="val 20690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24500" y="3431381"/>
            <a:ext cx="253574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今日のtimeline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8324850" y="3269456"/>
            <a:ext cx="2847975" cy="552450"/>
          </a:xfrm>
          <a:prstGeom prst="roundRect">
            <a:avLst>
              <a:gd name="adj" fmla="val 20690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05825" y="3431381"/>
            <a:ext cx="253574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organ score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5343525" y="3955256"/>
            <a:ext cx="2847975" cy="552450"/>
          </a:xfrm>
          <a:prstGeom prst="roundRect">
            <a:avLst>
              <a:gd name="adj" fmla="val 20690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4500" y="4117181"/>
            <a:ext cx="253574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収益・送金台帳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8324850" y="3955256"/>
            <a:ext cx="2847975" cy="552450"/>
          </a:xfrm>
          <a:prstGeom prst="roundRect">
            <a:avLst>
              <a:gd name="adj" fmla="val 20690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505825" y="4117181"/>
            <a:ext cx="253574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gate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5343525" y="4641056"/>
            <a:ext cx="2847975" cy="552450"/>
          </a:xfrm>
          <a:prstGeom prst="roundRect">
            <a:avLst>
              <a:gd name="adj" fmla="val 20690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24500" y="4802981"/>
            <a:ext cx="253574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接続と権限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8324850" y="4641056"/>
            <a:ext cx="2847975" cy="552450"/>
          </a:xfrm>
          <a:prstGeom prst="roundRect">
            <a:avLst>
              <a:gd name="adj" fmla="val 20690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505825" y="4802981"/>
            <a:ext cx="253574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停止・ON/OFF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 / SELF-HEALING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人間がログを見る仕事を、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ループに返す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2695575"/>
            <a:ext cx="1695450" cy="1695450"/>
          </a:xfrm>
          <a:prstGeom prst="roundRect">
            <a:avLst>
              <a:gd name="adj" fmla="val 10112"/>
            </a:avLst>
          </a:prstGeom>
          <a:solidFill>
            <a:srgbClr val="111C27"/>
          </a:solidFill>
          <a:ln w="9525">
            <a:solidFill>
              <a:srgbClr val="57D6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5083" y="2933700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45083" y="3323630"/>
            <a:ext cx="12435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5"/>
              </a:lnSpc>
              <a:spcBef>
                <a:spcPts val="1350"/>
              </a:spcBef>
              <a:buNone/>
            </a:pPr>
            <a:r>
              <a:rPr lang="en-US" sz="21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観測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5083" y="3790355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050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/ metric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2628900" y="3276600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24200" y="2695575"/>
            <a:ext cx="1695450" cy="1695450"/>
          </a:xfrm>
          <a:prstGeom prst="roundRect">
            <a:avLst>
              <a:gd name="adj" fmla="val 10112"/>
            </a:avLst>
          </a:prstGeom>
          <a:solidFill>
            <a:srgbClr val="111C27"/>
          </a:solidFill>
          <a:ln w="9525">
            <a:solidFill>
              <a:srgbClr val="C89B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0133" y="2933700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3350133" y="3323630"/>
            <a:ext cx="12435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5"/>
              </a:lnSpc>
              <a:spcBef>
                <a:spcPts val="1350"/>
              </a:spcBef>
              <a:buNone/>
            </a:pPr>
            <a:r>
              <a:rPr lang="en-US" sz="21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50133" y="3790355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050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/ judge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933950" y="3276600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29250" y="2695575"/>
            <a:ext cx="1695450" cy="1695450"/>
          </a:xfrm>
          <a:prstGeom prst="roundRect">
            <a:avLst>
              <a:gd name="adj" fmla="val 10112"/>
            </a:avLst>
          </a:prstGeom>
          <a:solidFill>
            <a:srgbClr val="111C27"/>
          </a:solidFill>
          <a:ln w="9525">
            <a:solidFill>
              <a:srgbClr val="FFC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55183" y="2933700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5655183" y="3323630"/>
            <a:ext cx="12435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5"/>
              </a:lnSpc>
              <a:spcBef>
                <a:spcPts val="1350"/>
              </a:spcBef>
              <a:buNone/>
            </a:pPr>
            <a:r>
              <a:rPr lang="en-US" sz="21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55183" y="3790355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050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PR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239000" y="3276600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734300" y="2695575"/>
            <a:ext cx="1695450" cy="1695450"/>
          </a:xfrm>
          <a:prstGeom prst="roundRect">
            <a:avLst>
              <a:gd name="adj" fmla="val 10112"/>
            </a:avLst>
          </a:prstGeom>
          <a:solidFill>
            <a:srgbClr val="111C27"/>
          </a:solidFill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0233" y="2933700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7960233" y="3323630"/>
            <a:ext cx="12435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5"/>
              </a:lnSpc>
              <a:spcBef>
                <a:spcPts val="1350"/>
              </a:spcBef>
              <a:buNone/>
            </a:pPr>
            <a:r>
              <a:rPr lang="en-US" sz="21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実証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960233" y="3790355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050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/ E2E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544050" y="3276600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039350" y="2695575"/>
            <a:ext cx="1695450" cy="1695450"/>
          </a:xfrm>
          <a:prstGeom prst="roundRect">
            <a:avLst>
              <a:gd name="adj" fmla="val 10112"/>
            </a:avLst>
          </a:prstGeom>
          <a:solidFill>
            <a:srgbClr val="111C27"/>
          </a:solidFill>
          <a:ln w="9525">
            <a:solidFill>
              <a:srgbClr val="FF7A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265283" y="2933700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0265283" y="3323630"/>
            <a:ext cx="12435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5"/>
              </a:lnSpc>
              <a:spcBef>
                <a:spcPts val="1350"/>
              </a:spcBef>
              <a:buNone/>
            </a:pPr>
            <a:r>
              <a:rPr lang="en-US" sz="21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265283" y="3790355"/>
            <a:ext cx="124358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050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/ test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847850" y="5086350"/>
            <a:ext cx="8496300" cy="762000"/>
          </a:xfrm>
          <a:prstGeom prst="roundRect">
            <a:avLst>
              <a:gd name="adj" fmla="val 22500"/>
            </a:avLst>
          </a:prstGeom>
          <a:solidFill>
            <a:srgbClr val="111C27"/>
          </a:solidFill>
          <a:ln w="9525">
            <a:solidFill>
              <a:srgbClr val="FF7A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85975" y="5307360"/>
            <a:ext cx="11658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失敗したら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882479" y="5307360"/>
            <a:ext cx="63480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0にしない → 原因を特定 → testへ固定 → 修復 → 再実証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 / 2026-07-28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別のLife Managerエージェントは、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現在も稼働中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866900"/>
            <a:ext cx="4095750" cy="3638550"/>
          </a:xfrm>
          <a:prstGeom prst="roundRect">
            <a:avLst>
              <a:gd name="adj" fmla="val 4712"/>
            </a:avLst>
          </a:prstGeom>
          <a:solidFill>
            <a:srgbClr val="111C27"/>
          </a:solidFill>
          <a:ln w="9525">
            <a:solidFill>
              <a:srgbClr val="FFC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925" y="2105025"/>
            <a:ext cx="1738610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FFC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7275" y="2190750"/>
            <a:ext cx="15013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SSOT CURSOR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23925" y="2695575"/>
            <a:ext cx="3691890" cy="56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46"/>
              </a:lnSpc>
              <a:spcBef>
                <a:spcPts val="2250"/>
              </a:spcBef>
              <a:buNone/>
            </a:pPr>
            <a:r>
              <a:rPr lang="en-US" sz="39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8i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23925" y="3336280"/>
            <a:ext cx="369189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4"/>
              </a:lnSpc>
              <a:spcBef>
                <a:spcPts val="60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ONE-REPO 統合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23925" y="3862536"/>
            <a:ext cx="369189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anicca-products から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life-manager へ正本を一本化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3925" y="4788247"/>
            <a:ext cx="36918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Bef>
                <a:spcPts val="2250"/>
              </a:spcBef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push済み正本で確認した位置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4991100" y="1866900"/>
            <a:ext cx="6515100" cy="3638550"/>
          </a:xfrm>
          <a:prstGeom prst="roundRect">
            <a:avLst>
              <a:gd name="adj" fmla="val 4712"/>
            </a:avLst>
          </a:prstGeom>
          <a:solidFill>
            <a:srgbClr val="111C27"/>
          </a:solidFill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29225" y="2105025"/>
            <a:ext cx="1899196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62575" y="2190750"/>
            <a:ext cx="1665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THREAD: ACTIVE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29739" y="2148185"/>
            <a:ext cx="753103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queue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229225" y="2676525"/>
            <a:ext cx="2957513" cy="781050"/>
          </a:xfrm>
          <a:prstGeom prst="roundRect">
            <a:avLst>
              <a:gd name="adj" fmla="val 14634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91150" y="2819400"/>
            <a:ext cx="2686336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5391150" y="3104555"/>
            <a:ext cx="268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525"/>
              </a:spcBef>
              <a:buNone/>
            </a:pPr>
            <a:r>
              <a:rPr lang="en-US" sz="15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checkup spec → builder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0562" y="2676525"/>
            <a:ext cx="2957513" cy="781050"/>
          </a:xfrm>
          <a:prstGeom prst="roundRect">
            <a:avLst>
              <a:gd name="adj" fmla="val 14634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72488" y="2819400"/>
            <a:ext cx="2686336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8472488" y="3104555"/>
            <a:ext cx="268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525"/>
              </a:spcBef>
              <a:buNone/>
            </a:pPr>
            <a:r>
              <a:rPr lang="en-US" sz="15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29225" y="3581400"/>
            <a:ext cx="2957513" cy="781050"/>
          </a:xfrm>
          <a:prstGeom prst="roundRect">
            <a:avLst>
              <a:gd name="adj" fmla="val 14634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91150" y="3724275"/>
            <a:ext cx="2686336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9d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5391150" y="4009430"/>
            <a:ext cx="268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525"/>
              </a:spcBef>
              <a:buNone/>
            </a:pPr>
            <a:r>
              <a:rPr lang="en-US" sz="15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2–7 / self-build台帳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10562" y="3581400"/>
            <a:ext cx="2957513" cy="781050"/>
          </a:xfrm>
          <a:prstGeom prst="roundRect">
            <a:avLst>
              <a:gd name="adj" fmla="val 14634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72488" y="3724275"/>
            <a:ext cx="2686336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11a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8472488" y="4009430"/>
            <a:ext cx="268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525"/>
              </a:spcBef>
              <a:buNone/>
            </a:pPr>
            <a:r>
              <a:rPr lang="en-US" sz="15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→ 11b → 11c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29225" y="4486275"/>
            <a:ext cx="2957513" cy="781050"/>
          </a:xfrm>
          <a:prstGeom prst="roundRect">
            <a:avLst>
              <a:gd name="adj" fmla="val 14634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91150" y="4629150"/>
            <a:ext cx="2686336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5391150" y="4914305"/>
            <a:ext cx="268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525"/>
              </a:spcBef>
              <a:buNone/>
            </a:pPr>
            <a:r>
              <a:rPr lang="en-US" sz="15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/ precepts 初配信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10562" y="4486275"/>
            <a:ext cx="2957513" cy="781050"/>
          </a:xfrm>
          <a:prstGeom prst="roundRect">
            <a:avLst>
              <a:gd name="adj" fmla="val 14634"/>
            </a:avLst>
          </a:prstGeom>
          <a:solidFill>
            <a:srgbClr val="182635"/>
          </a:solidFill>
          <a:ln w="9525">
            <a:solidFill>
              <a:srgbClr val="2A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472488" y="4629150"/>
            <a:ext cx="2686336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TELNYX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8472488" y="4914305"/>
            <a:ext cx="2686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525"/>
              </a:spcBef>
              <a:buNone/>
            </a:pPr>
            <a:r>
              <a:rPr lang="en-US" sz="15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残高の自動回復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" y="5762625"/>
            <a:ext cx="7111898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この差は「未push / 別branchのライブ作業」を正本完了と誤認しないため、意図的に分離表示。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残りは、上から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この順番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88595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1890713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05513" y="188595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5748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4375" y="1885950"/>
            <a:ext cx="0" cy="876300"/>
          </a:xfrm>
          <a:prstGeom prst="line">
            <a:avLst/>
          </a:prstGeom>
          <a:noFill/>
          <a:ln w="57150">
            <a:solidFill>
              <a:srgbClr val="FFC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153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14400" y="230668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85950" y="220503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ONE-REPO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67075" y="220414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repo・product・deployを一本化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81725" y="188595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81725" y="1890713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01438" y="188595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725" y="275748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0300" y="1885950"/>
            <a:ext cx="0" cy="876300"/>
          </a:xfrm>
          <a:prstGeom prst="line">
            <a:avLst/>
          </a:prstGeom>
          <a:noFill/>
          <a:ln w="57150">
            <a:solidFill>
              <a:srgbClr val="57D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0325" y="202153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410325" y="230668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9b–9f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81875" y="220503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63000" y="220414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動画生成→配信→計測→改善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289560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85800" y="2900363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5513" y="289560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76713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4375" y="2895600"/>
            <a:ext cx="0" cy="876300"/>
          </a:xfrm>
          <a:prstGeom prst="line">
            <a:avLst/>
          </a:prstGeom>
          <a:noFill/>
          <a:ln w="57150">
            <a:solidFill>
              <a:srgbClr val="C89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03118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14400" y="331633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10a–10f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885950" y="321468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67075" y="321379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feedback/error→PR→自動修復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181725" y="289560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181725" y="2900363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01438" y="289560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725" y="376713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300" y="2895600"/>
            <a:ext cx="0" cy="876300"/>
          </a:xfrm>
          <a:prstGeom prst="line">
            <a:avLst/>
          </a:prstGeom>
          <a:noFill/>
          <a:ln w="57150">
            <a:solidFill>
              <a:srgbClr val="57D6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0325" y="303118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6410325" y="331633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10g–10i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381875" y="321468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763000" y="321379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intent-aware context graph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85800" y="390525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85800" y="3910012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05513" y="390525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477678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4375" y="3905250"/>
            <a:ext cx="0" cy="876300"/>
          </a:xfrm>
          <a:prstGeom prst="line">
            <a:avLst/>
          </a:prstGeom>
          <a:noFill/>
          <a:ln w="57150">
            <a:solidFill>
              <a:srgbClr val="73D49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04083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914400" y="432598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11a–11d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885950" y="422433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3267075" y="422344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未ケア検知→候補→予約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181725" y="390525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181725" y="3910012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01438" y="390525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81725" y="477678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0300" y="3905250"/>
            <a:ext cx="0" cy="876300"/>
          </a:xfrm>
          <a:prstGeom prst="line">
            <a:avLst/>
          </a:prstGeom>
          <a:noFill/>
          <a:ln w="57150">
            <a:solidFill>
              <a:srgbClr val="C89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0325" y="404083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6410325" y="432598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12a–12c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381875" y="422433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763000" y="422344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文脈駆動の介入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685800" y="491490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685800" y="4919663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05513" y="491490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78643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4375" y="4914900"/>
            <a:ext cx="0" cy="876300"/>
          </a:xfrm>
          <a:prstGeom prst="line">
            <a:avLst/>
          </a:prstGeom>
          <a:noFill/>
          <a:ln w="57150">
            <a:solidFill>
              <a:srgbClr val="FFC85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4400" y="505048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914400" y="533563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13a–13d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885950" y="523398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3267075" y="523309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wallet→収益→送金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6181725" y="4914900"/>
            <a:ext cx="5324475" cy="876300"/>
          </a:xfrm>
          <a:prstGeom prst="roundRect">
            <a:avLst>
              <a:gd name="adj" fmla="val 19565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6181725" y="4919663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501438" y="4914900"/>
            <a:ext cx="0" cy="8763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81725" y="5786438"/>
            <a:ext cx="532447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0300" y="4914900"/>
            <a:ext cx="0" cy="876300"/>
          </a:xfrm>
          <a:prstGeom prst="line">
            <a:avLst/>
          </a:prstGeom>
          <a:noFill/>
          <a:ln w="57150">
            <a:solidFill>
              <a:srgbClr val="FF7A6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10325" y="5050482"/>
            <a:ext cx="9909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FF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275" dirty="0"/>
          </a:p>
        </p:txBody>
      </p:sp>
      <p:sp>
        <p:nvSpPr>
          <p:cNvPr id="74" name="Text 72"/>
          <p:cNvSpPr/>
          <p:nvPr/>
        </p:nvSpPr>
        <p:spPr>
          <a:xfrm>
            <a:off x="6410325" y="5335637"/>
            <a:ext cx="990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525"/>
              </a:spcBef>
              <a:buNone/>
            </a:pPr>
            <a:r>
              <a:rPr lang="en-US" sz="18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8e / 8f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7381875" y="5233988"/>
            <a:ext cx="14087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L3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8763000" y="5233095"/>
            <a:ext cx="26134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readback / real location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78" name="Text 76"/>
          <p:cNvSpPr/>
          <p:nvPr/>
        </p:nvSpPr>
        <p:spPr>
          <a:xfrm>
            <a:off x="11352312" y="6467475"/>
            <a:ext cx="1569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WITH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自律 = 勝手に動くことではない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962150"/>
            <a:ext cx="3476625" cy="3352800"/>
          </a:xfrm>
          <a:prstGeom prst="roundRect">
            <a:avLst>
              <a:gd name="adj" fmla="val 5114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1990725"/>
            <a:ext cx="3476625" cy="0"/>
          </a:xfrm>
          <a:prstGeom prst="line">
            <a:avLst/>
          </a:prstGeom>
          <a:noFill/>
          <a:ln w="57150">
            <a:solidFill>
              <a:srgbClr val="57D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57663" y="1962150"/>
            <a:ext cx="0" cy="33528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5310188"/>
            <a:ext cx="347662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3" y="1962150"/>
            <a:ext cx="0" cy="33528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925" y="2247900"/>
            <a:ext cx="3060383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REPORT, DON'T ASK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23925" y="2656880"/>
            <a:ext cx="306038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19"/>
              </a:lnSpc>
              <a:spcBef>
                <a:spcPts val="1500"/>
              </a:spcBef>
              <a:buNone/>
            </a:pPr>
            <a:r>
              <a:rPr lang="en-US" sz="21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委任内は実行して報告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23925" y="3230761"/>
            <a:ext cx="306038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本人しか決められない時だけ、2〜3択のclosed Qを1回。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3925" y="4476452"/>
            <a:ext cx="30603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2250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同じ質問は二度しない。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52925" y="1962150"/>
            <a:ext cx="3476625" cy="3352800"/>
          </a:xfrm>
          <a:prstGeom prst="roundRect">
            <a:avLst>
              <a:gd name="adj" fmla="val 5114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52925" y="1990725"/>
            <a:ext cx="3476625" cy="0"/>
          </a:xfrm>
          <a:prstGeom prst="line">
            <a:avLst/>
          </a:prstGeom>
          <a:noFill/>
          <a:ln w="57150">
            <a:solidFill>
              <a:srgbClr val="FFC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24787" y="1962150"/>
            <a:ext cx="0" cy="33528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2925" y="5310188"/>
            <a:ext cx="347662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7688" y="1962150"/>
            <a:ext cx="0" cy="33528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1050" y="2247900"/>
            <a:ext cx="3060383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GATES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4591050" y="2656880"/>
            <a:ext cx="306038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19"/>
              </a:lnSpc>
              <a:spcBef>
                <a:spcPts val="1500"/>
              </a:spcBef>
              <a:buNone/>
            </a:pPr>
            <a:r>
              <a:rPr lang="en-US" sz="21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信頼を一段ずつ解錠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4591050" y="3230761"/>
            <a:ext cx="306038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→ Telegram → location → wallet。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91050" y="4156472"/>
            <a:ext cx="30603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2250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最初に全部を要求しない。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20050" y="1962150"/>
            <a:ext cx="3476625" cy="3352800"/>
          </a:xfrm>
          <a:prstGeom prst="roundRect">
            <a:avLst>
              <a:gd name="adj" fmla="val 5114"/>
            </a:avLst>
          </a:prstGeom>
          <a:solidFill>
            <a:srgbClr val="111C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020050" y="1990725"/>
            <a:ext cx="3476625" cy="0"/>
          </a:xfrm>
          <a:prstGeom prst="line">
            <a:avLst/>
          </a:prstGeom>
          <a:noFill/>
          <a:ln w="57150">
            <a:solidFill>
              <a:srgbClr val="FF7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91913" y="1962150"/>
            <a:ext cx="0" cy="33528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0050" y="5310188"/>
            <a:ext cx="3476625" cy="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4813" y="1962150"/>
            <a:ext cx="0" cy="3352800"/>
          </a:xfrm>
          <a:prstGeom prst="line">
            <a:avLst/>
          </a:prstGeom>
          <a:noFill/>
          <a:ln w="9525">
            <a:solidFill>
              <a:srgbClr val="2A3A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8175" y="2247900"/>
            <a:ext cx="3060383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CLAIMS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8258175" y="2656880"/>
            <a:ext cx="306038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19"/>
              </a:lnSpc>
              <a:spcBef>
                <a:spcPts val="1500"/>
              </a:spcBef>
              <a:buNone/>
            </a:pPr>
            <a:r>
              <a:rPr lang="en-US" sz="21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失敗を正直に出す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8258175" y="3230761"/>
            <a:ext cx="306038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200や自己申告ではなく、録音・Message-ID・tx hash・投稿URLで証明。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58175" y="4476452"/>
            <a:ext cx="30603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2250"/>
              </a:spcBef>
              <a:buNone/>
            </a:pPr>
            <a:r>
              <a:rPr lang="en-US" sz="18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黙って放置しない。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245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DESTINATION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11036808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AIが自分の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食費と家賃</a:t>
            </a:r>
            <a:pPr algn="l" indent="0" marL="0">
              <a:lnSpc>
                <a:spcPts val="4104"/>
              </a:lnSpc>
              <a:spcBef>
                <a:spcPts val="1050"/>
              </a:spcBef>
              <a:buNone/>
            </a:pPr>
            <a:r>
              <a:rPr lang="en-US" sz="36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を払う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2A3A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543175"/>
            <a:ext cx="1714500" cy="1752600"/>
          </a:xfrm>
          <a:prstGeom prst="roundRect">
            <a:avLst>
              <a:gd name="adj" fmla="val 10000"/>
            </a:avLst>
          </a:prstGeom>
          <a:solidFill>
            <a:srgbClr val="111C27"/>
          </a:solidFill>
          <a:ln w="9525">
            <a:solidFill>
              <a:srgbClr val="57D6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3943" y="2781300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63943" y="3171230"/>
            <a:ext cx="126301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3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外部経済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63943" y="3611761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125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仕事・販売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2638425" y="3179415"/>
            <a:ext cx="3497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067050" y="2543175"/>
            <a:ext cx="1714500" cy="1752600"/>
          </a:xfrm>
          <a:prstGeom prst="roundRect">
            <a:avLst>
              <a:gd name="adj" fmla="val 10000"/>
            </a:avLst>
          </a:prstGeom>
          <a:solidFill>
            <a:srgbClr val="111C27"/>
          </a:solidFill>
          <a:ln w="9525">
            <a:solidFill>
              <a:srgbClr val="FFC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92793" y="2781300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3292793" y="3171230"/>
            <a:ext cx="126301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3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AIが稼ぐ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3292793" y="3611761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125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+ ledger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867275" y="3179415"/>
            <a:ext cx="3497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295900" y="2543175"/>
            <a:ext cx="1714500" cy="1752600"/>
          </a:xfrm>
          <a:prstGeom prst="roundRect">
            <a:avLst>
              <a:gd name="adj" fmla="val 10000"/>
            </a:avLst>
          </a:prstGeom>
          <a:solidFill>
            <a:srgbClr val="111C27"/>
          </a:solidFill>
          <a:ln w="9525">
            <a:solidFill>
              <a:srgbClr val="C89B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1643" y="2781300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5521643" y="3171230"/>
            <a:ext cx="126301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3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自分を維持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5521643" y="3611761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125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cloud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096125" y="3179415"/>
            <a:ext cx="3497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524750" y="2543175"/>
            <a:ext cx="1714500" cy="1752600"/>
          </a:xfrm>
          <a:prstGeom prst="roundRect">
            <a:avLst>
              <a:gd name="adj" fmla="val 10000"/>
            </a:avLst>
          </a:prstGeom>
          <a:solidFill>
            <a:srgbClr val="111C27"/>
          </a:solidFill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50493" y="2781300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7750493" y="3171230"/>
            <a:ext cx="126301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3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人を支える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7750493" y="3611761"/>
            <a:ext cx="1263015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125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/ mind / finance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324975" y="3179415"/>
            <a:ext cx="3497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2A3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753600" y="2543175"/>
            <a:ext cx="1714500" cy="1752600"/>
          </a:xfrm>
          <a:prstGeom prst="roundRect">
            <a:avLst>
              <a:gd name="adj" fmla="val 10000"/>
            </a:avLst>
          </a:prstGeom>
          <a:solidFill>
            <a:srgbClr val="111C27"/>
          </a:solidFill>
          <a:ln w="9525">
            <a:solidFill>
              <a:srgbClr val="FF7A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979343" y="2781300"/>
            <a:ext cx="1263015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FF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979343" y="3171230"/>
            <a:ext cx="126301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4"/>
              </a:lnSpc>
              <a:spcBef>
                <a:spcPts val="1350"/>
              </a:spcBef>
              <a:buNone/>
            </a:pPr>
            <a:r>
              <a:rPr lang="en-US" sz="18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負担を縮める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79343" y="3909417"/>
            <a:ext cx="1263015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spcBef>
                <a:spcPts val="1125"/>
              </a:spcBef>
              <a:buNone/>
            </a:pPr>
            <a:r>
              <a:rPr lang="en-US" sz="12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→ ¥0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626870" y="5105400"/>
            <a:ext cx="893826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70"/>
              </a:lnSpc>
              <a:buNone/>
            </a:pPr>
            <a:r>
              <a:rPr lang="en-US" sz="25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 + 1台のスマホ + Life Manager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626870" y="5692080"/>
            <a:ext cx="89382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050"/>
              </a:spcBef>
              <a:buNone/>
            </a:pPr>
            <a:r>
              <a:rPr lang="en-US" sz="180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精神的に、身体的に、経済的に健康な人生をオートパイロットへ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87360" y="5676900"/>
            <a:ext cx="718840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C89B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920710" y="5762625"/>
            <a:ext cx="461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1066800"/>
            <a:ext cx="107259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8200" y="1562100"/>
            <a:ext cx="10725912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32"/>
              </a:lnSpc>
              <a:spcBef>
                <a:spcPts val="2700"/>
              </a:spcBef>
              <a:buNone/>
            </a:pPr>
            <a:r>
              <a:rPr lang="en-US" sz="540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Managerは
</a:t>
            </a:r>
            <a:pPr algn="l" indent="0" marL="0">
              <a:lnSpc>
                <a:spcPts val="5832"/>
              </a:lnSpc>
              <a:spcBef>
                <a:spcPts val="2700"/>
              </a:spcBef>
              <a:buNone/>
            </a:pPr>
            <a:r>
              <a:rPr lang="en-US" sz="5400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アプリではない。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38200" y="3367088"/>
            <a:ext cx="10725912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3"/>
              </a:lnSpc>
              <a:spcBef>
                <a:spcPts val="2550"/>
              </a:spcBef>
              <a:buNone/>
            </a:pPr>
            <a:r>
              <a:rPr lang="en-US" sz="34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人生を観測し、動かし、証明し、学ぶ</a:t>
            </a:r>
            <a:endParaRPr lang="en-US" sz="3450" dirty="0"/>
          </a:p>
          <a:p>
            <a:pPr algn="l" indent="0" marL="0">
              <a:lnSpc>
                <a:spcPts val="3933"/>
              </a:lnSpc>
              <a:spcBef>
                <a:spcPts val="2550"/>
              </a:spcBef>
              <a:buNone/>
            </a:pPr>
            <a:r>
              <a:rPr lang="en-US" sz="3450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自律オペレーターである。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838200" y="5353050"/>
            <a:ext cx="1695599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73D4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550" y="5438775"/>
            <a:ext cx="14574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73D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BUILT: DAILY + PANEL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67149" y="5353050"/>
            <a:ext cx="1685776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FFC8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00499" y="5438775"/>
            <a:ext cx="14474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REPO + LOOPS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86275" y="5353050"/>
            <a:ext cx="2296716" cy="304800"/>
          </a:xfrm>
          <a:prstGeom prst="roundRect">
            <a:avLst>
              <a:gd name="adj" fmla="val 3121875"/>
            </a:avLst>
          </a:prstGeom>
          <a:noFill/>
          <a:ln w="9525">
            <a:solidFill>
              <a:srgbClr val="C89B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19625" y="5438775"/>
            <a:ext cx="2070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C8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SELF-FUNDED LIFE 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6467475"/>
            <a:ext cx="13820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A6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/ LT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345466" y="6467475"/>
            <a:ext cx="1639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75" b="1" dirty="0">
                <a:solidFill>
                  <a:srgbClr val="57D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Life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Manager — 理想の生活が向こうから来る</dc:title>
  <dc:subject>Life Manager lightning talk</dc:subject>
  <dc:creator>Daisuke Narita / Codex</dc:creator>
  <cp:lastModifiedBy>Daisuke Narita / Codex</cp:lastModifiedBy>
  <cp:revision>1</cp:revision>
  <dcterms:created xsi:type="dcterms:W3CDTF">2026-07-28T10:39:21Z</dcterms:created>
  <dcterms:modified xsi:type="dcterms:W3CDTF">2026-07-28T10:39:21Z</dcterms:modified>
</cp:coreProperties>
</file>