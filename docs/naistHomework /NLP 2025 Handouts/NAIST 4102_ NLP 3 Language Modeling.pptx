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y="5143500" cx="9144000"/>
  <p:notesSz cx="6858000" cy="9144000"/>
  <p:embeddedFontLst>
    <p:embeddedFont>
      <p:font typeface="Roboto"/>
      <p:regular r:id="rId90"/>
      <p:bold r:id="rId91"/>
      <p:italic r:id="rId92"/>
      <p:boldItalic r:id="rId9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2AEB5D-A19D-4A88-B315-D7255EA643D1}">
  <a:tblStyle styleId="{F72AEB5D-A19D-4A88-B315-D7255EA643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Roboto-bold.fntdata"/><Relationship Id="rId90" Type="http://schemas.openxmlformats.org/officeDocument/2006/relationships/font" Target="fonts/Roboto-regular.fntdata"/><Relationship Id="rId93" Type="http://schemas.openxmlformats.org/officeDocument/2006/relationships/font" Target="fonts/Roboto-boldItalic.fntdata"/><Relationship Id="rId92" Type="http://schemas.openxmlformats.org/officeDocument/2006/relationships/font" Target="fonts/Roboto-italic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44430334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44430334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444303341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444303341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444303341_0_1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444303341_0_1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44303341_0_1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44303341_0_1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444303341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444303341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44430334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44430334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45794b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445794b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4430334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4430334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44430334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44430334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44430334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44430334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4430334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44430334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44430334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44430334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44430334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44430334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44430334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44430334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44430334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44430334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44430334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44430334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44430334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44430334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4430334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44430334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44430334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44430334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44430334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44430334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445794b7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445794b7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445794b7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445794b7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44430334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44430334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44430334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44430334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444303341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444303341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44430334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44430334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44430334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44430334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444303341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44430334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44430334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44430334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444303341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444303341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444303341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a44430334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444303341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44430334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444303341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444303341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444303341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444303341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a444303341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a444303341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444303341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444303341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a444303341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a444303341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444303341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444303341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444303341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444303341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a444303341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a444303341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a444303341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a444303341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a444303341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a444303341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444303341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a444303341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444303341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a444303341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a444303341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a444303341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444303341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a444303341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a444303341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a444303341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444303341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a444303341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444303341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a444303341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a444303341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a444303341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a444303341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a444303341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a444303341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a444303341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a444303341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a444303341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444303341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3a444303341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a444303341_0_1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a444303341_0_1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a444303341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a444303341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44303341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a444303341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a444303341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3a444303341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a444303341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3a444303341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a444303341_0_1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a444303341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3a444303341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3a444303341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a444303341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3a444303341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a444303341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a444303341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3a444303341_0_1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3a444303341_0_1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3a5a523d6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3a5a523d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a5a523d6d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3a5a523d6d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3a5a523d6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3a5a523d6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a5a523d6d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3a5a523d6d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a5a523d6d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a5a523d6d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a5a523d6d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a5a523d6d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a5a523d6d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a5a523d6d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a5a523d6d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3a5a523d6d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a5a523d6d8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a5a523d6d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a5a523d6d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3a5a523d6d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3a444303341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3a444303341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3a444303341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3a444303341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3a444303341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3a444303341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a444303341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3a444303341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a444303341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a444303341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3a444303341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3a444303341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a444303341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3a444303341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g3a444303341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2" name="Google Shape;1672;g3a444303341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3a444303341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3a444303341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6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1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2"/>
          <p:cNvSpPr txBox="1"/>
          <p:nvPr/>
        </p:nvSpPr>
        <p:spPr>
          <a:xfrm>
            <a:off x="0" y="4820400"/>
            <a:ext cx="620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2025 NAIST 4102: NLP 3  - Language Modelling</a:t>
            </a:r>
            <a:endParaRPr sz="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aro@is.naist.jp" TargetMode="External"/><Relationship Id="rId4" Type="http://schemas.openxmlformats.org/officeDocument/2006/relationships/hyperlink" Target="https://nlp.naist.jp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tcw3.naist.jp/ITC-local/cloud/google_workspace.en.html" TargetMode="External"/><Relationship Id="rId4" Type="http://schemas.openxmlformats.org/officeDocument/2006/relationships/hyperlink" Target="https://drive.google.com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presentation/d/1bl9hn-fAT5X188vdy_akFMTWroxSO053rxSeORhHodE/edit?usp=sharing" TargetMode="External"/><Relationship Id="rId4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hyperlink" Target="https://en.wikipedia.org/wiki/Zipf%27s_la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jglobal.jst.go.jp/en/detail?JGLOBAL_ID=200902099770182130" TargetMode="External"/><Relationship Id="rId4" Type="http://schemas.openxmlformats.org/officeDocument/2006/relationships/hyperlink" Target="https://ieeexplore.ieee.org/document/87000" TargetMode="External"/><Relationship Id="rId9" Type="http://schemas.openxmlformats.org/officeDocument/2006/relationships/hyperlink" Target="https://www.aclweb.org/anthology/P96-1041/" TargetMode="External"/><Relationship Id="rId5" Type="http://schemas.openxmlformats.org/officeDocument/2006/relationships/hyperlink" Target="https://ieeexplore.ieee.org/document/1165125" TargetMode="External"/><Relationship Id="rId6" Type="http://schemas.openxmlformats.org/officeDocument/2006/relationships/hyperlink" Target="https://ieeexplore.ieee.org/abstract/document/479394" TargetMode="External"/><Relationship Id="rId7" Type="http://schemas.openxmlformats.org/officeDocument/2006/relationships/hyperlink" Target="https://www.aclweb.org/anthology/P96-1041/" TargetMode="External"/><Relationship Id="rId8" Type="http://schemas.openxmlformats.org/officeDocument/2006/relationships/hyperlink" Target="https://dash.harvard.edu/bitstream/handle/1/25104739/tr-10-98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gif"/><Relationship Id="rId4" Type="http://schemas.openxmlformats.org/officeDocument/2006/relationships/image" Target="../media/image8.gif"/><Relationship Id="rId5" Type="http://schemas.openxmlformats.org/officeDocument/2006/relationships/image" Target="../media/image10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aclweb.org/anthology/J92-4003/" TargetMode="External"/><Relationship Id="rId4" Type="http://schemas.openxmlformats.org/officeDocument/2006/relationships/hyperlink" Target="https://www.aclweb.org/anthology/L06-1210/" TargetMode="External"/><Relationship Id="rId9" Type="http://schemas.openxmlformats.org/officeDocument/2006/relationships/hyperlink" Target="https://doi.org/10.1006/csla.2001.0174" TargetMode="External"/><Relationship Id="rId5" Type="http://schemas.openxmlformats.org/officeDocument/2006/relationships/hyperlink" Target="https://ieeexplore.ieee.org/document/56193" TargetMode="External"/><Relationship Id="rId6" Type="http://schemas.openxmlformats.org/officeDocument/2006/relationships/hyperlink" Target="https://ieeexplore.ieee.org/document/319225" TargetMode="External"/><Relationship Id="rId7" Type="http://schemas.openxmlformats.org/officeDocument/2006/relationships/hyperlink" Target="https://link.springer.com/chapter/10.1007/978-3-540-30211-7_42" TargetMode="External"/><Relationship Id="rId8" Type="http://schemas.openxmlformats.org/officeDocument/2006/relationships/hyperlink" Target="https://www.aclweb.org/anthology/H94-1014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Relationship Id="rId4" Type="http://schemas.openxmlformats.org/officeDocument/2006/relationships/hyperlink" Target="https://www.aclweb.org/anthology/P03-1061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aclweb.org/anthology/J96-1002/" TargetMode="External"/><Relationship Id="rId4" Type="http://schemas.openxmlformats.org/officeDocument/2006/relationships/image" Target="../media/image7.gif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gif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i.org/10.1038/323533a0" TargetMode="External"/><Relationship Id="rId4" Type="http://schemas.openxmlformats.org/officeDocument/2006/relationships/hyperlink" Target="https://doi.org/10.1017/CBO9780511569920.003" TargetMode="External"/><Relationship Id="rId5" Type="http://schemas.openxmlformats.org/officeDocument/2006/relationships/image" Target="../media/image13.gif"/><Relationship Id="rId6" Type="http://schemas.openxmlformats.org/officeDocument/2006/relationships/image" Target="../media/image20.gif"/><Relationship Id="rId7" Type="http://schemas.openxmlformats.org/officeDocument/2006/relationships/image" Target="../media/image16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jmlr.org/papers/volume3/bengio03a/bengio03a.pdf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jmlr.org/papers/volume3/bengio03a/bengio03a.pdf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commonsensereasoning.org/winograd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onlinelibrary.wiley.com/doi/abs/10.1207/s15516709cog1402_1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isca-speech.org/archive/archive_papers/interspeech_2010/i10_1045.pdf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ieeexplore.ieee.org/document/58337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ww.mitpressjournals.org/doi/abs/10.1162/neco.1997.9.8.1735" TargetMode="External"/><Relationship Id="rId4" Type="http://schemas.openxmlformats.org/officeDocument/2006/relationships/image" Target="../media/image27.jpg"/><Relationship Id="rId5" Type="http://schemas.openxmlformats.org/officeDocument/2006/relationships/hyperlink" Target="https://openreview.net/forum?id=71BmK0m6qfAE8VvKUQWB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mitpressjournals.org/doi/abs/10.1162/neco.1997.9.8.1735" TargetMode="External"/><Relationship Id="rId4" Type="http://schemas.openxmlformats.org/officeDocument/2006/relationships/image" Target="../media/image24.jpg"/><Relationship Id="rId5" Type="http://schemas.openxmlformats.org/officeDocument/2006/relationships/hyperlink" Target="https://www.aclweb.org/anthology/D16-1248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ww.mitpressjournals.org/doi/abs/10.1162/neco.1997.9.8.1735" TargetMode="External"/><Relationship Id="rId4" Type="http://schemas.openxmlformats.org/officeDocument/2006/relationships/hyperlink" Target="https://doi.org/10.1145/130385.130432" TargetMode="External"/><Relationship Id="rId9" Type="http://schemas.openxmlformats.org/officeDocument/2006/relationships/hyperlink" Target="https://aclanthology.org/2020.acl-main.43/" TargetMode="External"/><Relationship Id="rId5" Type="http://schemas.openxmlformats.org/officeDocument/2006/relationships/hyperlink" Target="https://aclanthology.org/D18-1152/" TargetMode="External"/><Relationship Id="rId6" Type="http://schemas.openxmlformats.org/officeDocument/2006/relationships/hyperlink" Target="https://core.ac.uk/download/pdf/82706076.pdf" TargetMode="External"/><Relationship Id="rId7" Type="http://schemas.openxmlformats.org/officeDocument/2006/relationships/hyperlink" Target="https://arxiv.org/abs/1911.03329" TargetMode="External"/><Relationship Id="rId8" Type="http://schemas.openxmlformats.org/officeDocument/2006/relationships/image" Target="../media/image25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isca-speech.org/archive/archive_papers/interspeech_2010/i10_1045.pdf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cdn.openai.com/better-language-models/language_models_are_unsupervised_multitask_learners.pdf" TargetMode="External"/><Relationship Id="rId4" Type="http://schemas.openxmlformats.org/officeDocument/2006/relationships/hyperlink" Target="https://papers.nips.cc/paper/2020/hash/1457c0d6bfcb4967418bfb8ac142f64a-Abstract.html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aclanthology.org/N19-1423/" TargetMode="External"/><Relationship Id="rId4" Type="http://schemas.openxmlformats.org/officeDocument/2006/relationships/hyperlink" Target="https://aclanthology.org/2020.acl-main.240/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arxiv.org/abs/1706.03762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arxiv.org/abs/1706.03762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arxiv.org/abs/1706.03762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arxiv.org/abs/1706.03762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arxiv.org/abs/1706.03762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openreview.net/forum?id=mZn2Xyh9Ec" TargetMode="External"/><Relationship Id="rId4" Type="http://schemas.openxmlformats.org/officeDocument/2006/relationships/hyperlink" Target="https://arxiv.org/abs/2405.13956" TargetMode="External"/><Relationship Id="rId5" Type="http://schemas.openxmlformats.org/officeDocument/2006/relationships/hyperlink" Target="https://aclanthology.org/2024.tacl-1.30/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paperswithcode.com/sota/language-modelling-on-penn-treebank-word" TargetMode="External"/><Relationship Id="rId4" Type="http://schemas.openxmlformats.org/officeDocument/2006/relationships/hyperlink" Target="https://paperswithcode.com/sota/language-modelling-on-penn-treebank-word" TargetMode="External"/><Relationship Id="rId5" Type="http://schemas.openxmlformats.org/officeDocument/2006/relationships/image" Target="../media/image2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6.jpg"/><Relationship Id="rId4" Type="http://schemas.openxmlformats.org/officeDocument/2006/relationships/hyperlink" Target="https://arxiv.org/abs/2204.02311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deepmind.google/technologies/gemini/ultra/" TargetMode="External"/><Relationship Id="rId4" Type="http://schemas.openxmlformats.org/officeDocument/2006/relationships/image" Target="../media/image30.png"/><Relationship Id="rId5" Type="http://schemas.openxmlformats.org/officeDocument/2006/relationships/hyperlink" Target="https://paperswithcode.com/sota/multi-task-language-understanding-on-mmlu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Relationship Id="rId5" Type="http://schemas.openxmlformats.org/officeDocument/2006/relationships/hyperlink" Target="https://arxiv.org/abs/2203.02155" TargetMode="External"/><Relationship Id="rId6" Type="http://schemas.openxmlformats.org/officeDocument/2006/relationships/hyperlink" Target="https://arxiv.org/abs/2305.18290" TargetMode="External"/><Relationship Id="rId7" Type="http://schemas.openxmlformats.org/officeDocument/2006/relationships/hyperlink" Target="https://arxiv.org/abs/2112.00861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1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1.png"/><Relationship Id="rId4" Type="http://schemas.openxmlformats.org/officeDocument/2006/relationships/image" Target="../media/image2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github.com/meta-llama/llama3/blob/main/MODEL_CARD.md" TargetMode="External"/><Relationship Id="rId4" Type="http://schemas.openxmlformats.org/officeDocument/2006/relationships/hyperlink" Target="https://x.com/jacobaustin132/status/1781361188460241108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github.com/meta-llama/llama3/blob/main/MODEL_CARD.md" TargetMode="External"/><Relationship Id="rId4" Type="http://schemas.openxmlformats.org/officeDocument/2006/relationships/hyperlink" Target="https://arxiv.org/abs/2203.15556" TargetMode="External"/><Relationship Id="rId5" Type="http://schemas.openxmlformats.org/officeDocument/2006/relationships/image" Target="../media/image29.jpg"/><Relationship Id="rId6" Type="http://schemas.openxmlformats.org/officeDocument/2006/relationships/image" Target="../media/image28.jpg"/><Relationship Id="rId7" Type="http://schemas.openxmlformats.org/officeDocument/2006/relationships/image" Target="../media/image32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1.jpg"/><Relationship Id="rId4" Type="http://schemas.openxmlformats.org/officeDocument/2006/relationships/hyperlink" Target="https://arxiv.org/abs/2211.04325" TargetMode="Externa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arxiv.org/abs/2305.09820" TargetMode="External"/><Relationship Id="rId4" Type="http://schemas.openxmlformats.org/officeDocument/2006/relationships/hyperlink" Target="https://aclanthology.org/2024.acl-long.817/" TargetMode="External"/><Relationship Id="rId5" Type="http://schemas.openxmlformats.org/officeDocument/2006/relationships/image" Target="../media/image35.jpg"/><Relationship Id="rId6" Type="http://schemas.openxmlformats.org/officeDocument/2006/relationships/hyperlink" Target="https://ojs.aaai.org/index.php/ICWSM/article/view/31333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Relationship Id="rId3" Type="http://schemas.openxmlformats.org/officeDocument/2006/relationships/hyperlink" Target="https://arxiv.org/abs/2409.01754" TargetMode="External"/><Relationship Id="rId4" Type="http://schemas.openxmlformats.org/officeDocument/2006/relationships/image" Target="../media/image34.jpg"/><Relationship Id="rId5" Type="http://schemas.openxmlformats.org/officeDocument/2006/relationships/hyperlink" Target="https://arxiv.org/abs/2409.01754" TargetMode="Externa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arxiv.org/abs/1703.01619" TargetMode="External"/><Relationship Id="rId4" Type="http://schemas.openxmlformats.org/officeDocument/2006/relationships/hyperlink" Target="https://jair.org/index.php/jair/article/view/11030/26198" TargetMode="External"/><Relationship Id="rId5" Type="http://schemas.openxmlformats.org/officeDocument/2006/relationships/hyperlink" Target="https://dash.harvard.edu/bitstream/handle/1/25104739/tr-10-98.pdf" TargetMode="External"/><Relationship Id="rId6" Type="http://schemas.openxmlformats.org/officeDocument/2006/relationships/hyperlink" Target="https://aclanthology.org/J92-1002/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hyperlink" Target="https://colab.research.google.com/drive/1Ef8dl2nz4EVR6lGBsE3cMliZ4DUMheVC?usp=sharing" TargetMode="External"/><Relationship Id="rId4" Type="http://schemas.openxmlformats.org/officeDocument/2006/relationships/hyperlink" Target="https://edu-portal.naist.jp/" TargetMode="External"/><Relationship Id="rId5" Type="http://schemas.openxmlformats.org/officeDocument/2006/relationships/hyperlink" Target="https://colab.research.google.com/drive/1Ef8dl2nz4EVR6lGBsE3cMliZ4DUMheVC?usp=sharing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hyperlink" Target="https://drive.google.com" TargetMode="Externa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Relationship Id="rId3" Type="http://schemas.openxmlformats.org/officeDocument/2006/relationships/hyperlink" Target="https://edu-portal.naist.jp/" TargetMode="External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NAIST 4102: NLP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Modeling</a:t>
            </a:r>
            <a:endParaRPr/>
          </a:p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390525" y="2789105"/>
            <a:ext cx="8222100" cy="20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Taro Watanabe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taro@is.naist.jp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NAIST NLP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3" name="Google Shape;83;p14"/>
          <p:cNvGraphicFramePr/>
          <p:nvPr/>
        </p:nvGraphicFramePr>
        <p:xfrm>
          <a:off x="432538" y="181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{F72AEB5D-A19D-4A88-B315-D7255EA643D1}</a:tableStyleId>
              </a:tblPr>
              <a:tblGrid>
                <a:gridCol w="1062700"/>
                <a:gridCol w="3756400"/>
                <a:gridCol w="3459800"/>
              </a:tblGrid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11/5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Taro Watanabe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Basics about NLP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11/12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Shohei Higashiyama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Word Segmentation and POS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11/19</a:t>
                      </a:r>
                      <a:endParaRPr b="1"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Taro Watanabe</a:t>
                      </a:r>
                      <a:endParaRPr b="1"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Language Modeling</a:t>
                      </a:r>
                      <a:endParaRPr b="1"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12/3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Hidetaka Kamigaito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Conditional Language Modeling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12/10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Hidetaka Kamigaito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 Learning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12/17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Hiroki Teranishi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Syntactic and Semantic Parsing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12/24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Yusuke Sakai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Information Extraction and Knowledge Graph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1/7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Yusuke Sakai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Large Language Models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folder for slides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Find the handouts from the Google Drive folder.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Check </a:t>
            </a:r>
            <a:r>
              <a:rPr b="1" lang="en" sz="2000"/>
              <a:t>Lecture Related URL</a:t>
            </a:r>
            <a:r>
              <a:rPr lang="en" sz="2000"/>
              <a:t> to find the information.</a:t>
            </a:r>
            <a:endParaRPr sz="2000"/>
          </a:p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5" title="Screenshot 2025-11-04 at 15.35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325" y="2918450"/>
            <a:ext cx="6102099" cy="209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4825" y="81525"/>
            <a:ext cx="1507425" cy="15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Important!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To access the slides, use Google Workspace issued by NAIST.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https://itcw3.naist.jp/ITC-local/cloud/google_workspace.en.html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Sign in using your Google Workspace account, i.e., </a:t>
            </a:r>
            <a:r>
              <a:rPr b="1" lang="en" sz="2000"/>
              <a:t>{your account name}@g.ext.naist.jp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Access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https://drive.google.com</a:t>
            </a:r>
            <a:r>
              <a:rPr lang="en" sz="2000"/>
              <a:t> to see if you sign in to the correct account by checking the “NAIST” logo.</a:t>
            </a:r>
            <a:endParaRPr sz="2000"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8325" y="3903425"/>
            <a:ext cx="2976825" cy="11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/>
        </p:nvSpPr>
        <p:spPr>
          <a:xfrm>
            <a:off x="517650" y="4246900"/>
            <a:ext cx="527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If not successful, please ask our TA for help: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pussewala.ashmari.ow4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@ naist.ac.jp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4825" y="81525"/>
            <a:ext cx="1507425" cy="150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 title="Screenshot 2025-11-04 at 18.26.03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2800" y="219628"/>
            <a:ext cx="4883048" cy="470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Access?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226075" y="1465800"/>
            <a:ext cx="2808000" cy="3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I’ll never grant your access for non-NAIST accounts, e.g., gmail.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Do not</a:t>
            </a:r>
            <a:r>
              <a:rPr lang="en" sz="1800"/>
              <a:t> </a:t>
            </a:r>
            <a:r>
              <a:rPr b="1" lang="en" sz="1800"/>
              <a:t>request access</a:t>
            </a:r>
            <a:r>
              <a:rPr lang="en" sz="1800"/>
              <a:t>, but </a:t>
            </a:r>
            <a:r>
              <a:rPr b="1" lang="en" sz="1800"/>
              <a:t>switch</a:t>
            </a:r>
            <a:r>
              <a:rPr lang="en" sz="1800"/>
              <a:t> </a:t>
            </a:r>
            <a:r>
              <a:rPr b="1" lang="en" sz="1800"/>
              <a:t>your account</a:t>
            </a:r>
            <a:r>
              <a:rPr lang="en" sz="1800"/>
              <a:t> by clicking the email.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Sign-in using </a:t>
            </a:r>
            <a:r>
              <a:rPr b="1" lang="en" sz="1800"/>
              <a:t>{your account name} @g.ext.naist.jp</a:t>
            </a:r>
            <a:r>
              <a:rPr lang="en" sz="1800"/>
              <a:t>.</a:t>
            </a:r>
            <a:endParaRPr sz="1800"/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5844250" y="2816875"/>
            <a:ext cx="322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Click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this email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. If confused, ask our TA for help: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pussewala.ashmari.ow4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@ naist.ac.jp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4244111" y="4109868"/>
            <a:ext cx="2386475" cy="933325"/>
          </a:xfrm>
          <a:custGeom>
            <a:rect b="b" l="l" r="r" t="t"/>
            <a:pathLst>
              <a:path extrusionOk="0" h="37333" w="95459">
                <a:moveTo>
                  <a:pt x="60392" y="36820"/>
                </a:moveTo>
                <a:cubicBezTo>
                  <a:pt x="45455" y="38688"/>
                  <a:pt x="30408" y="33828"/>
                  <a:pt x="15573" y="31271"/>
                </a:cubicBezTo>
                <a:cubicBezTo>
                  <a:pt x="9866" y="30287"/>
                  <a:pt x="-1427" y="28717"/>
                  <a:pt x="207" y="23161"/>
                </a:cubicBezTo>
                <a:cubicBezTo>
                  <a:pt x="7745" y="-2468"/>
                  <a:pt x="53253" y="-4003"/>
                  <a:pt x="78320" y="5233"/>
                </a:cubicBezTo>
                <a:cubicBezTo>
                  <a:pt x="83768" y="7240"/>
                  <a:pt x="90863" y="6248"/>
                  <a:pt x="94967" y="10355"/>
                </a:cubicBezTo>
                <a:cubicBezTo>
                  <a:pt x="96462" y="11851"/>
                  <a:pt x="93881" y="14494"/>
                  <a:pt x="92832" y="16331"/>
                </a:cubicBezTo>
                <a:cubicBezTo>
                  <a:pt x="89333" y="22456"/>
                  <a:pt x="85230" y="29346"/>
                  <a:pt x="78746" y="32124"/>
                </a:cubicBezTo>
                <a:cubicBezTo>
                  <a:pt x="72488" y="34805"/>
                  <a:pt x="64773" y="32918"/>
                  <a:pt x="58685" y="35966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" name="Google Shape;113;p17"/>
          <p:cNvSpPr/>
          <p:nvPr/>
        </p:nvSpPr>
        <p:spPr>
          <a:xfrm>
            <a:off x="4904614" y="949852"/>
            <a:ext cx="1846275" cy="515950"/>
          </a:xfrm>
          <a:custGeom>
            <a:rect b="b" l="l" r="r" t="t"/>
            <a:pathLst>
              <a:path extrusionOk="0" h="20638" w="73851">
                <a:moveTo>
                  <a:pt x="36105" y="18762"/>
                </a:moveTo>
                <a:cubicBezTo>
                  <a:pt x="24032" y="18762"/>
                  <a:pt x="-2680" y="25351"/>
                  <a:pt x="250" y="13639"/>
                </a:cubicBezTo>
                <a:cubicBezTo>
                  <a:pt x="997" y="10653"/>
                  <a:pt x="5075" y="9661"/>
                  <a:pt x="7933" y="8517"/>
                </a:cubicBezTo>
                <a:cubicBezTo>
                  <a:pt x="16458" y="5105"/>
                  <a:pt x="25734" y="3839"/>
                  <a:pt x="34824" y="2541"/>
                </a:cubicBezTo>
                <a:cubicBezTo>
                  <a:pt x="47793" y="690"/>
                  <a:pt x="70495" y="-4193"/>
                  <a:pt x="73667" y="8517"/>
                </a:cubicBezTo>
                <a:cubicBezTo>
                  <a:pt x="75009" y="13894"/>
                  <a:pt x="66665" y="18271"/>
                  <a:pt x="61289" y="19615"/>
                </a:cubicBezTo>
                <a:cubicBezTo>
                  <a:pt x="53278" y="21618"/>
                  <a:pt x="43916" y="16773"/>
                  <a:pt x="36532" y="20469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sentence is good?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John is walking his dog.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His walking is John dog.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John are walks a dog.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dog is walking its John.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John is walking a giraffe.</a:t>
            </a:r>
            <a:endParaRPr sz="2000"/>
          </a:p>
        </p:txBody>
      </p:sp>
      <p:sp>
        <p:nvSpPr>
          <p:cNvPr id="120" name="Google Shape;12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words will follow?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there was a little boy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woman with a very large blue bag walked to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trophy would not fit in the brown suitcase because it was too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512400" y="3843125"/>
            <a:ext cx="892800" cy="595200"/>
          </a:xfrm>
          <a:prstGeom prst="wedgeRoundRectCallout">
            <a:avLst>
              <a:gd fmla="val 35425" name="adj1"/>
              <a:gd fmla="val -70317" name="adj2"/>
              <a:gd fmla="val 0" name="adj3"/>
            </a:avLst>
          </a:prstGeom>
          <a:solidFill>
            <a:srgbClr val="0277BD">
              <a:alpha val="20000"/>
            </a:srgbClr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endParaRPr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1576300" y="3843125"/>
            <a:ext cx="892800" cy="595200"/>
          </a:xfrm>
          <a:prstGeom prst="wedgeRoundRectCallout">
            <a:avLst>
              <a:gd fmla="val -29564" name="adj1"/>
              <a:gd fmla="val -67187" name="adj2"/>
              <a:gd fmla="val 0" name="adj3"/>
            </a:avLst>
          </a:prstGeom>
          <a:solidFill>
            <a:srgbClr val="0F9D58">
              <a:alpha val="20000"/>
            </a:srgbClr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small</a:t>
            </a:r>
            <a:endParaRPr sz="2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there was a little boy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woman with a very large blue bag walked to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there was a little boy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Once upon a time, </a:t>
            </a:r>
            <a:r>
              <a:rPr lang="en" sz="2000">
                <a:solidFill>
                  <a:schemeClr val="accent1"/>
                </a:solidFill>
              </a:rPr>
              <a:t>[… ? …]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by the probability of a sentence </a:t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460950" y="1828400"/>
            <a:ext cx="8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P(John is walking his dog.) &gt; P(His walking is John dog.)</a:t>
            </a:r>
            <a:endParaRPr sz="2000"/>
          </a:p>
        </p:txBody>
      </p:sp>
      <p:sp>
        <p:nvSpPr>
          <p:cNvPr id="140" name="Google Shape;140;p20"/>
          <p:cNvSpPr txBox="1"/>
          <p:nvPr/>
        </p:nvSpPr>
        <p:spPr>
          <a:xfrm>
            <a:off x="2457450" y="2499150"/>
            <a:ext cx="422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is walking his dog .)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1" name="Google Shape;141;p20"/>
          <p:cNvGraphicFramePr/>
          <p:nvPr/>
        </p:nvGraphicFramePr>
        <p:xfrm>
          <a:off x="2806650" y="2957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{F72AEB5D-A19D-4A88-B315-D7255EA643D1}</a:tableStyleId>
              </a:tblPr>
              <a:tblGrid>
                <a:gridCol w="383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count(John is walking his dog .)</a:t>
                      </a:r>
                      <a:endParaRPr sz="20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 of sentences in the world</a:t>
                      </a:r>
                      <a:endParaRPr sz="20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20"/>
          <p:cNvSpPr/>
          <p:nvPr/>
        </p:nvSpPr>
        <p:spPr>
          <a:xfrm>
            <a:off x="4961875" y="3979325"/>
            <a:ext cx="3084300" cy="595200"/>
          </a:xfrm>
          <a:prstGeom prst="wedgeRoundRectCallout">
            <a:avLst>
              <a:gd fmla="val -29564" name="adj1"/>
              <a:gd fmla="val -67187" name="adj2"/>
              <a:gd fmla="val 0" name="adj3"/>
            </a:avLst>
          </a:prstGeom>
          <a:solidFill>
            <a:srgbClr val="DB4437">
              <a:alpha val="20000"/>
            </a:srgbClr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Impossible to count all!</a:t>
            </a:r>
            <a:endParaRPr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/>
          <p:nvPr/>
        </p:nvSpPr>
        <p:spPr>
          <a:xfrm>
            <a:off x="124350" y="3173275"/>
            <a:ext cx="2924700" cy="1246500"/>
          </a:xfrm>
          <a:prstGeom prst="wedgeRoundRectCallout">
            <a:avLst>
              <a:gd fmla="val 61034" name="adj1"/>
              <a:gd fmla="val -18769" name="adj2"/>
              <a:gd fmla="val 0" name="adj3"/>
            </a:avLst>
          </a:prstGeom>
          <a:solidFill>
            <a:srgbClr val="0F9D58">
              <a:alpha val="20000"/>
            </a:srgbClr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by the probability of a sentence </a:t>
            </a:r>
            <a:endParaRPr/>
          </a:p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1"/>
          <p:cNvSpPr txBox="1"/>
          <p:nvPr>
            <p:ph idx="1" type="body"/>
          </p:nvPr>
        </p:nvSpPr>
        <p:spPr>
          <a:xfrm>
            <a:off x="460950" y="1828400"/>
            <a:ext cx="8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P(John is walking his dog.) &gt; P(His walking is John dog.)</a:t>
            </a:r>
            <a:endParaRPr sz="2000"/>
          </a:p>
        </p:txBody>
      </p:sp>
      <p:sp>
        <p:nvSpPr>
          <p:cNvPr id="151" name="Google Shape;151;p21"/>
          <p:cNvSpPr txBox="1"/>
          <p:nvPr/>
        </p:nvSpPr>
        <p:spPr>
          <a:xfrm>
            <a:off x="2876000" y="2401100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" name="Google Shape;152;p21"/>
          <p:cNvGraphicFramePr/>
          <p:nvPr/>
        </p:nvGraphicFramePr>
        <p:xfrm>
          <a:off x="202325" y="330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{F72AEB5D-A19D-4A88-B315-D7255EA643D1}</a:tableStyleId>
              </a:tblPr>
              <a:tblGrid>
                <a:gridCol w="277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count(John </a:t>
                      </a:r>
                      <a:r>
                        <a:rPr lang="en" sz="20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</a:t>
                      </a: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20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walking</a:t>
                      </a: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20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count(John </a:t>
                      </a:r>
                      <a:r>
                        <a:rPr lang="en" sz="20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</a:t>
                      </a:r>
                      <a:r>
                        <a:rPr lang="en" sz="20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20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13" y="2347225"/>
            <a:ext cx="7798774" cy="25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Ranking by the probability of a sentence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460950" y="1828400"/>
            <a:ext cx="822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P(John is walking his dog.) &gt; P(His walking is John dog.)</a:t>
            </a:r>
            <a:endParaRPr sz="2000"/>
          </a:p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1" name="Google Shape;161;p22"/>
          <p:cNvGrpSpPr/>
          <p:nvPr/>
        </p:nvGrpSpPr>
        <p:grpSpPr>
          <a:xfrm>
            <a:off x="2707450" y="3415275"/>
            <a:ext cx="4855125" cy="595200"/>
            <a:chOff x="2707450" y="3415275"/>
            <a:chExt cx="4855125" cy="595200"/>
          </a:xfrm>
        </p:grpSpPr>
        <p:sp>
          <p:nvSpPr>
            <p:cNvPr id="162" name="Google Shape;162;p22"/>
            <p:cNvSpPr/>
            <p:nvPr/>
          </p:nvSpPr>
          <p:spPr>
            <a:xfrm>
              <a:off x="2707450" y="3415275"/>
              <a:ext cx="2269500" cy="595200"/>
            </a:xfrm>
            <a:prstGeom prst="wedgeRoundRectCallout">
              <a:avLst>
                <a:gd fmla="val -12705" name="adj1"/>
                <a:gd fmla="val 68767" name="adj2"/>
                <a:gd fmla="val 0" name="adj3"/>
              </a:avLst>
            </a:prstGeom>
            <a:solidFill>
              <a:srgbClr val="0277BD">
                <a:alpha val="20000"/>
              </a:srgbClr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Word at the next position</a:t>
              </a:r>
              <a:endParaRPr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5166475" y="3415275"/>
              <a:ext cx="2396100" cy="595200"/>
            </a:xfrm>
            <a:prstGeom prst="wedgeRoundRectCallout">
              <a:avLst>
                <a:gd fmla="val -31903" name="adj1"/>
                <a:gd fmla="val 65638" name="adj2"/>
                <a:gd fmla="val 0" name="adj3"/>
              </a:avLst>
            </a:prstGeom>
            <a:solidFill>
              <a:srgbClr val="DB4437">
                <a:alpha val="20000"/>
              </a:srgbClr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Context or history</a:t>
              </a:r>
              <a:endParaRPr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Model (LM)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471900" y="2927125"/>
            <a:ext cx="8222100" cy="17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language model assigns a probability to a sequence of symbols.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Alternatively, it can be regarded as a model which predicts </a:t>
            </a:r>
            <a:r>
              <a:rPr b="1" lang="en" sz="2000">
                <a:solidFill>
                  <a:schemeClr val="accent1"/>
                </a:solidFill>
              </a:rPr>
              <a:t>the next symbol</a:t>
            </a:r>
            <a:r>
              <a:rPr lang="en" sz="2000"/>
              <a:t> given </a:t>
            </a:r>
            <a:r>
              <a:rPr b="1" lang="en" sz="2000">
                <a:solidFill>
                  <a:schemeClr val="accent3"/>
                </a:solidFill>
              </a:rPr>
              <a:t>a context</a:t>
            </a:r>
            <a:r>
              <a:rPr lang="en" sz="2000"/>
              <a:t>.</a:t>
            </a:r>
            <a:endParaRPr sz="2000"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925" y="1727275"/>
            <a:ext cx="3588125" cy="11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the next word</a:t>
            </a:r>
            <a:endParaRPr/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471900" y="3430700"/>
            <a:ext cx="82221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LM computes the probabilities of the next words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Utilizes P(</a:t>
            </a:r>
            <a:r>
              <a:rPr b="1" lang="en" sz="2000">
                <a:solidFill>
                  <a:schemeClr val="accent1"/>
                </a:solidFill>
              </a:rPr>
              <a:t>word</a:t>
            </a:r>
            <a:r>
              <a:rPr lang="en" sz="2000"/>
              <a:t> | </a:t>
            </a:r>
            <a:r>
              <a:rPr b="1" lang="en" sz="2000">
                <a:solidFill>
                  <a:schemeClr val="accent3"/>
                </a:solidFill>
              </a:rPr>
              <a:t>context</a:t>
            </a:r>
            <a:r>
              <a:rPr lang="en" sz="2000"/>
              <a:t>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Predict </a:t>
            </a:r>
            <a:r>
              <a:rPr b="1" lang="en" sz="2000"/>
              <a:t>the most likely word</a:t>
            </a:r>
            <a:r>
              <a:rPr lang="en" sz="2000"/>
              <a:t> from all possible words.</a:t>
            </a:r>
            <a:endParaRPr sz="2000"/>
          </a:p>
        </p:txBody>
      </p:sp>
      <p:sp>
        <p:nvSpPr>
          <p:cNvPr id="179" name="Google Shape;179;p24"/>
          <p:cNvSpPr txBox="1"/>
          <p:nvPr/>
        </p:nvSpPr>
        <p:spPr>
          <a:xfrm>
            <a:off x="1604700" y="1747700"/>
            <a:ext cx="593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Once upon a time, 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[...?...]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0" name="Google Shape;180;p24"/>
          <p:cNvGrpSpPr/>
          <p:nvPr/>
        </p:nvGrpSpPr>
        <p:grpSpPr>
          <a:xfrm>
            <a:off x="5109888" y="2240300"/>
            <a:ext cx="3505350" cy="1590600"/>
            <a:chOff x="5109888" y="2240300"/>
            <a:chExt cx="3505350" cy="1590600"/>
          </a:xfrm>
        </p:grpSpPr>
        <p:sp>
          <p:nvSpPr>
            <p:cNvPr id="181" name="Google Shape;181;p24"/>
            <p:cNvSpPr/>
            <p:nvPr/>
          </p:nvSpPr>
          <p:spPr>
            <a:xfrm>
              <a:off x="5250375" y="2240300"/>
              <a:ext cx="3266700" cy="1579200"/>
            </a:xfrm>
            <a:prstGeom prst="wedgeRoundRectCallout">
              <a:avLst>
                <a:gd fmla="val -65151" name="adj1"/>
                <a:gd fmla="val -47931" name="adj2"/>
                <a:gd fmla="val 0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5411525" y="2767824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4"/>
            <p:cNvSpPr/>
            <p:nvPr/>
          </p:nvSpPr>
          <p:spPr>
            <a:xfrm flipH="1" rot="10800000">
              <a:off x="6070744" y="3015450"/>
              <a:ext cx="265200" cy="8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6729962" y="2332650"/>
              <a:ext cx="265200" cy="7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7389181" y="2698632"/>
              <a:ext cx="265200" cy="401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8048400" y="2767824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4"/>
            <p:cNvSpPr txBox="1"/>
            <p:nvPr/>
          </p:nvSpPr>
          <p:spPr>
            <a:xfrm>
              <a:off x="6428288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there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4"/>
            <p:cNvSpPr txBox="1"/>
            <p:nvPr/>
          </p:nvSpPr>
          <p:spPr>
            <a:xfrm>
              <a:off x="7087513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and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24"/>
            <p:cNvSpPr txBox="1"/>
            <p:nvPr/>
          </p:nvSpPr>
          <p:spPr>
            <a:xfrm>
              <a:off x="7746738" y="3111550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was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0" name="Google Shape;190;p24"/>
            <p:cNvSpPr txBox="1"/>
            <p:nvPr/>
          </p:nvSpPr>
          <p:spPr>
            <a:xfrm>
              <a:off x="5769075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boy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1" name="Google Shape;191;p24"/>
            <p:cNvSpPr txBox="1"/>
            <p:nvPr/>
          </p:nvSpPr>
          <p:spPr>
            <a:xfrm>
              <a:off x="5109888" y="3100213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girl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24"/>
            <p:cNvSpPr txBox="1"/>
            <p:nvPr/>
          </p:nvSpPr>
          <p:spPr>
            <a:xfrm>
              <a:off x="6070750" y="3430700"/>
              <a:ext cx="254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P(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?</a:t>
              </a: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 | Once upon a time,)</a:t>
              </a:r>
              <a:endPara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the next word</a:t>
            </a:r>
            <a:endParaRPr/>
          </a:p>
        </p:txBody>
      </p:sp>
      <p:sp>
        <p:nvSpPr>
          <p:cNvPr id="198" name="Google Shape;198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471900" y="3430700"/>
            <a:ext cx="8222100" cy="11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LM computes the probabilities of the next words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Utilizes P(</a:t>
            </a:r>
            <a:r>
              <a:rPr lang="en" sz="2000">
                <a:solidFill>
                  <a:schemeClr val="accent1"/>
                </a:solidFill>
              </a:rPr>
              <a:t>word</a:t>
            </a:r>
            <a:r>
              <a:rPr lang="en" sz="2000"/>
              <a:t> | </a:t>
            </a:r>
            <a:r>
              <a:rPr lang="en" sz="2000">
                <a:solidFill>
                  <a:schemeClr val="accent3"/>
                </a:solidFill>
              </a:rPr>
              <a:t>context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Predict </a:t>
            </a:r>
            <a:r>
              <a:rPr b="1" lang="en" sz="2000"/>
              <a:t>the most likely word</a:t>
            </a:r>
            <a:r>
              <a:rPr lang="en" sz="2000"/>
              <a:t> from all possible words.</a:t>
            </a:r>
            <a:endParaRPr sz="2000"/>
          </a:p>
        </p:txBody>
      </p:sp>
      <p:sp>
        <p:nvSpPr>
          <p:cNvPr id="200" name="Google Shape;200;p25"/>
          <p:cNvSpPr txBox="1"/>
          <p:nvPr/>
        </p:nvSpPr>
        <p:spPr>
          <a:xfrm>
            <a:off x="1604700" y="1747700"/>
            <a:ext cx="593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Once upon a time, there was a little boy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[… ? …]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1" name="Google Shape;201;p25"/>
          <p:cNvGrpSpPr/>
          <p:nvPr/>
        </p:nvGrpSpPr>
        <p:grpSpPr>
          <a:xfrm>
            <a:off x="5109888" y="2240300"/>
            <a:ext cx="4014563" cy="1590600"/>
            <a:chOff x="5109888" y="2240300"/>
            <a:chExt cx="4014563" cy="1590600"/>
          </a:xfrm>
        </p:grpSpPr>
        <p:sp>
          <p:nvSpPr>
            <p:cNvPr id="202" name="Google Shape;202;p25"/>
            <p:cNvSpPr/>
            <p:nvPr/>
          </p:nvSpPr>
          <p:spPr>
            <a:xfrm>
              <a:off x="5250375" y="2240300"/>
              <a:ext cx="3266700" cy="1579200"/>
            </a:xfrm>
            <a:prstGeom prst="wedgeRoundRectCallout">
              <a:avLst>
                <a:gd fmla="val -14238" name="adj1"/>
                <a:gd fmla="val -56875" name="adj2"/>
                <a:gd fmla="val 0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3" name="Google Shape;203;p25"/>
            <p:cNvSpPr/>
            <p:nvPr/>
          </p:nvSpPr>
          <p:spPr>
            <a:xfrm>
              <a:off x="5411525" y="2767824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5"/>
            <p:cNvSpPr/>
            <p:nvPr/>
          </p:nvSpPr>
          <p:spPr>
            <a:xfrm flipH="1" rot="10800000">
              <a:off x="8048369" y="3026650"/>
              <a:ext cx="265200" cy="8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7389187" y="2343850"/>
              <a:ext cx="265200" cy="7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6729968" y="2698532"/>
              <a:ext cx="265200" cy="401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5"/>
            <p:cNvSpPr/>
            <p:nvPr/>
          </p:nvSpPr>
          <p:spPr>
            <a:xfrm>
              <a:off x="6070750" y="2779149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5"/>
            <p:cNvSpPr txBox="1"/>
            <p:nvPr/>
          </p:nvSpPr>
          <p:spPr>
            <a:xfrm>
              <a:off x="6428288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there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9" name="Google Shape;209;p25"/>
            <p:cNvSpPr txBox="1"/>
            <p:nvPr/>
          </p:nvSpPr>
          <p:spPr>
            <a:xfrm>
              <a:off x="7087513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and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7746738" y="3111550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was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1" name="Google Shape;211;p25"/>
            <p:cNvSpPr txBox="1"/>
            <p:nvPr/>
          </p:nvSpPr>
          <p:spPr>
            <a:xfrm>
              <a:off x="5769075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boy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212;p25"/>
            <p:cNvSpPr txBox="1"/>
            <p:nvPr/>
          </p:nvSpPr>
          <p:spPr>
            <a:xfrm>
              <a:off x="5109888" y="3100213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girl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25"/>
            <p:cNvSpPr txBox="1"/>
            <p:nvPr/>
          </p:nvSpPr>
          <p:spPr>
            <a:xfrm>
              <a:off x="6070750" y="3430700"/>
              <a:ext cx="30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P(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?</a:t>
              </a: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 |Once upon a time, there was …)</a:t>
              </a:r>
              <a:endPara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 tail</a:t>
            </a:r>
            <a:endParaRPr/>
          </a:p>
        </p:txBody>
      </p:sp>
      <p:sp>
        <p:nvSpPr>
          <p:cNvPr id="219" name="Google Shape;219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900" y="771450"/>
            <a:ext cx="5626199" cy="421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 txBox="1"/>
          <p:nvPr/>
        </p:nvSpPr>
        <p:spPr>
          <a:xfrm>
            <a:off x="5090500" y="4695625"/>
            <a:ext cx="360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https://en.wikipedia.org/wiki/Zipf%27s_law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-gram Language Models</a:t>
            </a:r>
            <a:endParaRPr/>
          </a:p>
        </p:txBody>
      </p:sp>
      <p:sp>
        <p:nvSpPr>
          <p:cNvPr id="227" name="Google Shape;227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28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40" name="Google Shape;240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≈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47" name="Google Shape;247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54" name="Google Shape;254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1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2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68" name="Google Shape;268;p3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</a:t>
            </a:r>
            <a:endParaRPr/>
          </a:p>
        </p:txBody>
      </p:sp>
      <p:sp>
        <p:nvSpPr>
          <p:cNvPr id="275" name="Google Shape;275;p3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2457450" y="2355925"/>
            <a:ext cx="4229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 </a:t>
            </a:r>
            <a:r>
              <a:rPr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= P(</a:t>
            </a:r>
            <a:r>
              <a:rPr b="1"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rgbClr val="DB4437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rgbClr val="0277BD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	× 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his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model P(x</a:t>
            </a:r>
            <a:r>
              <a:rPr baseline="-25000" lang="en"/>
              <a:t>i</a:t>
            </a:r>
            <a:r>
              <a:rPr lang="en"/>
              <a:t> |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…, x</a:t>
            </a:r>
            <a:r>
              <a:rPr baseline="-25000" lang="en"/>
              <a:t>i-1</a:t>
            </a:r>
            <a:r>
              <a:rPr lang="en"/>
              <a:t>)? 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460950" y="3159400"/>
            <a:ext cx="8222100" cy="18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Approximation by </a:t>
            </a:r>
            <a:r>
              <a:rPr b="1" lang="en" sz="2000"/>
              <a:t>Markov</a:t>
            </a:r>
            <a:r>
              <a:rPr lang="en" sz="2000"/>
              <a:t> assumption, i.e., </a:t>
            </a:r>
            <a:r>
              <a:rPr i="1" lang="en" sz="2000"/>
              <a:t>n</a:t>
            </a:r>
            <a:r>
              <a:rPr lang="en" sz="2000"/>
              <a:t>-grams: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i="1" lang="en" sz="2000"/>
              <a:t>Uni</a:t>
            </a:r>
            <a:r>
              <a:rPr lang="en" sz="2000"/>
              <a:t>grams: “John” “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” “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” “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” ...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i="1" lang="en" sz="2000"/>
              <a:t>Bi</a:t>
            </a:r>
            <a:r>
              <a:rPr lang="en" sz="2000"/>
              <a:t>grams: “John 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” “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 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” “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 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” “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 </a:t>
            </a:r>
            <a:r>
              <a:rPr lang="en" sz="2000">
                <a:solidFill>
                  <a:schemeClr val="accent6"/>
                </a:solidFill>
              </a:rPr>
              <a:t>dog</a:t>
            </a:r>
            <a:r>
              <a:rPr lang="en" sz="2000"/>
              <a:t>” ...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i="1" lang="en" sz="2000"/>
              <a:t>Tri</a:t>
            </a:r>
            <a:r>
              <a:rPr lang="en" sz="2000"/>
              <a:t>grams: “John 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 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” “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 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 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” “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 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 </a:t>
            </a:r>
            <a:r>
              <a:rPr lang="en" sz="2000">
                <a:solidFill>
                  <a:schemeClr val="accent6"/>
                </a:solidFill>
              </a:rPr>
              <a:t>dog</a:t>
            </a:r>
            <a:r>
              <a:rPr lang="en" sz="2000"/>
              <a:t>” ...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i="1" lang="en" sz="2000"/>
              <a:t>4</a:t>
            </a:r>
            <a:r>
              <a:rPr i="1" lang="en" sz="2000"/>
              <a:t>-</a:t>
            </a:r>
            <a:r>
              <a:rPr lang="en" sz="2000"/>
              <a:t>grams: “John 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 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 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” “</a:t>
            </a:r>
            <a:r>
              <a:rPr lang="en" sz="2000">
                <a:solidFill>
                  <a:schemeClr val="accent1"/>
                </a:solidFill>
              </a:rPr>
              <a:t>is</a:t>
            </a:r>
            <a:r>
              <a:rPr lang="en" sz="2000"/>
              <a:t> </a:t>
            </a:r>
            <a:r>
              <a:rPr lang="en" sz="2000">
                <a:solidFill>
                  <a:schemeClr val="accent2"/>
                </a:solidFill>
              </a:rPr>
              <a:t>walking</a:t>
            </a:r>
            <a:r>
              <a:rPr lang="en" sz="2000"/>
              <a:t> </a:t>
            </a:r>
            <a:r>
              <a:rPr lang="en" sz="2000">
                <a:solidFill>
                  <a:schemeClr val="accent3"/>
                </a:solidFill>
              </a:rPr>
              <a:t>his</a:t>
            </a:r>
            <a:r>
              <a:rPr lang="en" sz="2000"/>
              <a:t> </a:t>
            </a:r>
            <a:r>
              <a:rPr lang="en" sz="2000">
                <a:solidFill>
                  <a:schemeClr val="accent6"/>
                </a:solidFill>
              </a:rPr>
              <a:t>dog</a:t>
            </a:r>
            <a:r>
              <a:rPr lang="en" sz="2000"/>
              <a:t>” ...</a:t>
            </a:r>
            <a:endParaRPr sz="2000"/>
          </a:p>
        </p:txBody>
      </p:sp>
      <p:sp>
        <p:nvSpPr>
          <p:cNvPr id="283" name="Google Shape;283;p3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\begin{align*}&#10;P(\boldsymbol{x}) &amp; = \textstyle \prod_{i=1}^{I} P(x_i | x_1, ..., x_{i-1}) \\&#10;&amp; \approx \textstyle \prod_{i=1}^{I} P(x_i | x_{i-n + 1}, ..., x_{i-1})&#10;\end{align*}" id="284" name="Google Shape;28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813" y="1786238"/>
            <a:ext cx="604837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5"/>
          <p:cNvSpPr/>
          <p:nvPr/>
        </p:nvSpPr>
        <p:spPr>
          <a:xfrm>
            <a:off x="7027025" y="1786250"/>
            <a:ext cx="1772700" cy="595200"/>
          </a:xfrm>
          <a:prstGeom prst="wedgeRoundRectCallout">
            <a:avLst>
              <a:gd fmla="val -36051" name="adj1"/>
              <a:gd fmla="val 76802" name="adj2"/>
              <a:gd fmla="val 0" name="adj3"/>
            </a:avLst>
          </a:prstGeom>
          <a:solidFill>
            <a:srgbClr val="DB4437">
              <a:alpha val="20000"/>
            </a:srgbClr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 - 1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word context</a:t>
            </a:r>
            <a:endParaRPr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Count-based estimation</a:t>
            </a:r>
            <a:endParaRPr/>
          </a:p>
        </p:txBody>
      </p:sp>
      <p:sp>
        <p:nvSpPr>
          <p:cNvPr id="291" name="Google Shape;291;p36"/>
          <p:cNvSpPr txBox="1"/>
          <p:nvPr>
            <p:ph idx="1" type="body"/>
          </p:nvPr>
        </p:nvSpPr>
        <p:spPr>
          <a:xfrm>
            <a:off x="471900" y="2673125"/>
            <a:ext cx="8222100" cy="2470500"/>
          </a:xfrm>
          <a:prstGeom prst="rect">
            <a:avLst/>
          </a:prstGeom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Count the </a:t>
            </a:r>
            <a:r>
              <a:rPr i="1" lang="en" sz="2000"/>
              <a:t>n-</a:t>
            </a:r>
            <a:r>
              <a:rPr lang="en" sz="2000"/>
              <a:t>gram frequency in a large text corpus and divide.</a:t>
            </a:r>
            <a:endParaRPr sz="2000"/>
          </a:p>
          <a:p>
            <a:pPr indent="-355600" lvl="1" marL="914400" rtl="0" algn="l">
              <a:lnSpc>
                <a:spcPct val="95000"/>
              </a:lnSpc>
              <a:spcBef>
                <a:spcPts val="9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P(</a:t>
            </a:r>
            <a:r>
              <a:rPr b="1" lang="en" sz="2000">
                <a:solidFill>
                  <a:schemeClr val="accent3"/>
                </a:solidFill>
              </a:rPr>
              <a:t>dog</a:t>
            </a:r>
            <a:r>
              <a:rPr lang="en" sz="2000"/>
              <a:t> | is walking a) = </a:t>
            </a:r>
            <a:r>
              <a:rPr b="1" lang="en" sz="2000">
                <a:solidFill>
                  <a:schemeClr val="accent3"/>
                </a:solidFill>
              </a:rPr>
              <a:t>400</a:t>
            </a:r>
            <a:r>
              <a:rPr lang="en" sz="2000"/>
              <a:t> / 1,000 = </a:t>
            </a:r>
            <a:r>
              <a:rPr b="1" lang="en" sz="2000">
                <a:solidFill>
                  <a:schemeClr val="accent3"/>
                </a:solidFill>
              </a:rPr>
              <a:t>0.4</a:t>
            </a:r>
            <a:endParaRPr b="1" sz="2000">
              <a:solidFill>
                <a:schemeClr val="accent3"/>
              </a:solidFill>
            </a:endParaRPr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P(</a:t>
            </a:r>
            <a:r>
              <a:rPr b="1" lang="en" sz="2000">
                <a:solidFill>
                  <a:schemeClr val="accent2"/>
                </a:solidFill>
              </a:rPr>
              <a:t>cat</a:t>
            </a:r>
            <a:r>
              <a:rPr lang="en" sz="2000"/>
              <a:t> | is walking a) = </a:t>
            </a:r>
            <a:r>
              <a:rPr b="1" lang="en" sz="2000">
                <a:solidFill>
                  <a:schemeClr val="accent2"/>
                </a:solidFill>
              </a:rPr>
              <a:t>50</a:t>
            </a:r>
            <a:r>
              <a:rPr lang="en" sz="2000"/>
              <a:t> / 1,000 = </a:t>
            </a:r>
            <a:r>
              <a:rPr b="1" lang="en" sz="2000">
                <a:solidFill>
                  <a:schemeClr val="accent2"/>
                </a:solidFill>
              </a:rPr>
              <a:t>0.05</a:t>
            </a:r>
            <a:endParaRPr b="1" sz="2000">
              <a:solidFill>
                <a:schemeClr val="accent2"/>
              </a:solidFill>
            </a:endParaRPr>
          </a:p>
          <a:p>
            <a:pPr indent="-3556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…</a:t>
            </a:r>
            <a:endParaRPr b="1" sz="2000"/>
          </a:p>
        </p:txBody>
      </p:sp>
      <p:sp>
        <p:nvSpPr>
          <p:cNvPr id="292" name="Google Shape;292;p3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988" y="3115601"/>
            <a:ext cx="7326024" cy="9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50" y="1759150"/>
            <a:ext cx="8319099" cy="9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count problem</a:t>
            </a:r>
            <a:endParaRPr/>
          </a:p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282750" y="1919125"/>
            <a:ext cx="86004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Numerator is zero: P(</a:t>
            </a:r>
            <a:r>
              <a:rPr b="1" lang="en" sz="2000">
                <a:solidFill>
                  <a:schemeClr val="accent1"/>
                </a:solidFill>
              </a:rPr>
              <a:t>giraffe</a:t>
            </a:r>
            <a:r>
              <a:rPr lang="en" sz="2000"/>
              <a:t> | is walking a) = </a:t>
            </a:r>
            <a:r>
              <a:rPr b="1" lang="en" sz="2000">
                <a:solidFill>
                  <a:schemeClr val="accent1"/>
                </a:solidFill>
              </a:rPr>
              <a:t>0</a:t>
            </a:r>
            <a:r>
              <a:rPr lang="en" sz="2000"/>
              <a:t> / 1,000 = </a:t>
            </a:r>
            <a:r>
              <a:rPr b="1" lang="en" sz="2000">
                <a:solidFill>
                  <a:schemeClr val="accent1"/>
                </a:solidFill>
              </a:rPr>
              <a:t>0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Add 1 to counts (Laplace smoothing):  (0 + </a:t>
            </a:r>
            <a:r>
              <a:rPr b="1" lang="en" sz="2000">
                <a:solidFill>
                  <a:schemeClr val="accent3"/>
                </a:solidFill>
              </a:rPr>
              <a:t>1</a:t>
            </a:r>
            <a:r>
              <a:rPr lang="en" sz="2000"/>
              <a:t>) / (1,000 + </a:t>
            </a:r>
            <a:r>
              <a:rPr b="1" lang="en" sz="2000">
                <a:solidFill>
                  <a:schemeClr val="accent3"/>
                </a:solidFill>
              </a:rPr>
              <a:t>V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Denominator is zero: P(a | </a:t>
            </a:r>
            <a:r>
              <a:rPr b="1" lang="en" sz="2000">
                <a:solidFill>
                  <a:schemeClr val="accent6"/>
                </a:solidFill>
              </a:rPr>
              <a:t>giraffe is walking</a:t>
            </a:r>
            <a:r>
              <a:rPr lang="en" sz="2000"/>
              <a:t>) = 0 / </a:t>
            </a:r>
            <a:r>
              <a:rPr b="1" lang="en" sz="2000">
                <a:solidFill>
                  <a:schemeClr val="accent6"/>
                </a:solidFill>
              </a:rPr>
              <a:t>0</a:t>
            </a:r>
            <a:r>
              <a:rPr lang="en" sz="2000"/>
              <a:t> = </a:t>
            </a:r>
            <a:r>
              <a:rPr b="1" lang="en" sz="2000">
                <a:solidFill>
                  <a:schemeClr val="accent6"/>
                </a:solidFill>
              </a:rPr>
              <a:t>???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Fallback to shorter ngrams (backoff): P(a | </a:t>
            </a:r>
            <a:r>
              <a:rPr b="1" lang="en" sz="2000">
                <a:solidFill>
                  <a:schemeClr val="accent6"/>
                </a:solidFill>
              </a:rPr>
              <a:t>is walking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Many variants: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Interpolation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Witten-Bell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Katz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Kneser-Ney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7"/>
              </a:rPr>
              <a:t>modified Kneser-Ney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Optional reading:  </a:t>
            </a:r>
            <a:r>
              <a:rPr lang="en" sz="2000" u="sng">
                <a:solidFill>
                  <a:schemeClr val="hlink"/>
                </a:solidFill>
                <a:hlinkClick r:id="rId8"/>
              </a:rPr>
              <a:t>Chen and Goodman, (1998)</a:t>
            </a:r>
            <a:r>
              <a:rPr lang="en"/>
              <a:t>; </a:t>
            </a:r>
            <a:r>
              <a:rPr lang="en" sz="2000" u="sng">
                <a:solidFill>
                  <a:schemeClr val="hlink"/>
                </a:solidFill>
                <a:hlinkClick r:id="rId9"/>
              </a:rPr>
              <a:t>Chen and Goodman, (1996)</a:t>
            </a:r>
            <a:endParaRPr sz="2000"/>
          </a:p>
        </p:txBody>
      </p:sp>
      <p:sp>
        <p:nvSpPr>
          <p:cNvPr id="301" name="Google Shape;301;p3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7"/>
          <p:cNvSpPr/>
          <p:nvPr/>
        </p:nvSpPr>
        <p:spPr>
          <a:xfrm>
            <a:off x="7504450" y="2756925"/>
            <a:ext cx="1567800" cy="595200"/>
          </a:xfrm>
          <a:prstGeom prst="wedgeRoundRectCallout">
            <a:avLst>
              <a:gd fmla="val -30865" name="adj1"/>
              <a:gd fmla="val -76907" name="adj2"/>
              <a:gd fmla="val 0" name="adj3"/>
            </a:avLst>
          </a:prstGeom>
          <a:solidFill>
            <a:srgbClr val="DB4437">
              <a:alpha val="20000"/>
            </a:srgbClr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Vocabulary size</a:t>
            </a:r>
            <a:endParaRPr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of LMs </a:t>
            </a:r>
            <a:endParaRPr/>
          </a:p>
        </p:txBody>
      </p:sp>
      <p:sp>
        <p:nvSpPr>
          <p:cNvPr id="308" name="Google Shape;308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4800"/>
              </a:spcBef>
              <a:spcAft>
                <a:spcPts val="1200"/>
              </a:spcAft>
              <a:buSzPts val="2000"/>
              <a:buChar char="●"/>
            </a:pPr>
            <a:r>
              <a:rPr lang="en" sz="2000"/>
              <a:t>Generate sentences</a:t>
            </a:r>
            <a:endParaRPr sz="2000"/>
          </a:p>
        </p:txBody>
      </p:sp>
      <p:sp>
        <p:nvSpPr>
          <p:cNvPr id="309" name="Google Shape;309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1289700" y="2417975"/>
            <a:ext cx="65646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P(John is walking his dog.) &gt; P(His walking is John dog.)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3967800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sz="2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1808942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2888371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5047229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endParaRPr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8"/>
          <p:cNvSpPr txBox="1"/>
          <p:nvPr/>
        </p:nvSpPr>
        <p:spPr>
          <a:xfrm>
            <a:off x="6126658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cat</a:t>
            </a:r>
            <a:endParaRPr sz="2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729513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b="1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7206088" y="4523200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&lt;/s&gt;</a:t>
            </a:r>
            <a:endParaRPr b="1" sz="20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38"/>
          <p:cNvCxnSpPr>
            <a:stCxn id="316" idx="0"/>
            <a:endCxn id="312" idx="0"/>
          </p:cNvCxnSpPr>
          <p:nvPr/>
        </p:nvCxnSpPr>
        <p:spPr>
          <a:xfrm flipH="1" rot="-5400000">
            <a:off x="1884063" y="3983800"/>
            <a:ext cx="600" cy="1079400"/>
          </a:xfrm>
          <a:prstGeom prst="curvedConnector3">
            <a:avLst>
              <a:gd fmla="val -6629583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8"/>
          <p:cNvCxnSpPr>
            <a:stCxn id="312" idx="0"/>
            <a:endCxn id="313" idx="0"/>
          </p:cNvCxnSpPr>
          <p:nvPr/>
        </p:nvCxnSpPr>
        <p:spPr>
          <a:xfrm flipH="1" rot="-5400000">
            <a:off x="2963492" y="3983800"/>
            <a:ext cx="600" cy="1079400"/>
          </a:xfrm>
          <a:prstGeom prst="curvedConnector3">
            <a:avLst>
              <a:gd fmla="val -680625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8"/>
          <p:cNvCxnSpPr>
            <a:stCxn id="313" idx="0"/>
            <a:endCxn id="311" idx="0"/>
          </p:cNvCxnSpPr>
          <p:nvPr/>
        </p:nvCxnSpPr>
        <p:spPr>
          <a:xfrm flipH="1" rot="-5400000">
            <a:off x="4042921" y="3983800"/>
            <a:ext cx="600" cy="1079400"/>
          </a:xfrm>
          <a:prstGeom prst="curvedConnector3">
            <a:avLst>
              <a:gd fmla="val -7159583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8"/>
          <p:cNvCxnSpPr>
            <a:stCxn id="311" idx="0"/>
            <a:endCxn id="314" idx="0"/>
          </p:cNvCxnSpPr>
          <p:nvPr/>
        </p:nvCxnSpPr>
        <p:spPr>
          <a:xfrm flipH="1" rot="-5400000">
            <a:off x="5122350" y="3983800"/>
            <a:ext cx="600" cy="1079400"/>
          </a:xfrm>
          <a:prstGeom prst="curvedConnector3">
            <a:avLst>
              <a:gd fmla="val -7690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8"/>
          <p:cNvCxnSpPr>
            <a:stCxn id="314" idx="0"/>
            <a:endCxn id="315" idx="0"/>
          </p:cNvCxnSpPr>
          <p:nvPr/>
        </p:nvCxnSpPr>
        <p:spPr>
          <a:xfrm flipH="1" rot="-5400000">
            <a:off x="6201779" y="3983800"/>
            <a:ext cx="600" cy="1079400"/>
          </a:xfrm>
          <a:prstGeom prst="curvedConnector3">
            <a:avLst>
              <a:gd fmla="val -8927083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8"/>
          <p:cNvCxnSpPr>
            <a:stCxn id="315" idx="0"/>
            <a:endCxn id="317" idx="0"/>
          </p:cNvCxnSpPr>
          <p:nvPr/>
        </p:nvCxnSpPr>
        <p:spPr>
          <a:xfrm flipH="1" rot="-5400000">
            <a:off x="7281208" y="3983800"/>
            <a:ext cx="600" cy="1079400"/>
          </a:xfrm>
          <a:prstGeom prst="curvedConnector3">
            <a:avLst>
              <a:gd fmla="val -92808333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38"/>
          <p:cNvSpPr txBox="1"/>
          <p:nvPr/>
        </p:nvSpPr>
        <p:spPr>
          <a:xfrm>
            <a:off x="1300663" y="3576388"/>
            <a:ext cx="12303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1846588" y="3244950"/>
            <a:ext cx="2234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John)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2926000" y="3576400"/>
            <a:ext cx="2234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John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8"/>
          <p:cNvSpPr txBox="1"/>
          <p:nvPr/>
        </p:nvSpPr>
        <p:spPr>
          <a:xfrm>
            <a:off x="4005450" y="3244950"/>
            <a:ext cx="2234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5084875" y="3576388"/>
            <a:ext cx="2234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8"/>
          <p:cNvSpPr txBox="1"/>
          <p:nvPr/>
        </p:nvSpPr>
        <p:spPr>
          <a:xfrm>
            <a:off x="6164300" y="3244938"/>
            <a:ext cx="22344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cat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210325" y="3754050"/>
            <a:ext cx="1079400" cy="678600"/>
          </a:xfrm>
          <a:prstGeom prst="wedgeRectCallout">
            <a:avLst>
              <a:gd fmla="val 45175" name="adj1"/>
              <a:gd fmla="val 78176" name="adj2"/>
            </a:avLst>
          </a:prstGeom>
          <a:solidFill>
            <a:srgbClr val="0F9D58">
              <a:alpha val="2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Start from the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special symbol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7992850" y="3651300"/>
            <a:ext cx="1079400" cy="884100"/>
          </a:xfrm>
          <a:prstGeom prst="wedgeRectCallout">
            <a:avLst>
              <a:gd fmla="val -43327" name="adj1"/>
              <a:gd fmla="val 68541" name="adj2"/>
            </a:avLst>
          </a:prstGeom>
          <a:solidFill>
            <a:srgbClr val="DB4437">
              <a:alpha val="20000"/>
            </a:srgbClr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End when the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special symbol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is sampled.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8"/>
          <p:cNvSpPr txBox="1"/>
          <p:nvPr>
            <p:ph idx="1" type="body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Score sentences</a:t>
            </a:r>
            <a:endParaRPr sz="2000"/>
          </a:p>
          <a:p>
            <a:pPr indent="0" lvl="0" marL="0" rtl="0" algn="l">
              <a:spcBef>
                <a:spcPts val="48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LMs</a:t>
            </a:r>
            <a:endParaRPr/>
          </a:p>
        </p:txBody>
      </p:sp>
      <p:sp>
        <p:nvSpPr>
          <p:cNvPr id="338" name="Google Shape;338;p3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Log-likelihood (</a:t>
            </a:r>
            <a:r>
              <a:rPr b="1" lang="en" sz="2000"/>
              <a:t>↑</a:t>
            </a:r>
            <a:r>
              <a:rPr lang="en" sz="2000"/>
              <a:t>):</a:t>
            </a:r>
            <a:endParaRPr sz="2000"/>
          </a:p>
          <a:p>
            <a:pPr indent="-355600" lvl="0" marL="457200" rtl="0" algn="l">
              <a:spcBef>
                <a:spcPts val="48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Per-word (cross) entropy (</a:t>
            </a:r>
            <a:r>
              <a:rPr b="1" lang="en" sz="2000"/>
              <a:t>↓</a:t>
            </a:r>
            <a:r>
              <a:rPr lang="en" sz="2000"/>
              <a:t>):</a:t>
            </a:r>
            <a:endParaRPr sz="2000"/>
          </a:p>
          <a:p>
            <a:pPr indent="-355600" lvl="0" marL="457200" rtl="0" algn="l">
              <a:spcBef>
                <a:spcPts val="4800"/>
              </a:spcBef>
              <a:spcAft>
                <a:spcPts val="1200"/>
              </a:spcAft>
              <a:buSzPts val="2000"/>
              <a:buChar char="●"/>
            </a:pPr>
            <a:r>
              <a:rPr lang="en" sz="2000"/>
              <a:t>Perplexity (</a:t>
            </a:r>
            <a:r>
              <a:rPr b="1" lang="en" sz="2000"/>
              <a:t>↓</a:t>
            </a:r>
            <a:r>
              <a:rPr lang="en" sz="2000"/>
              <a:t>):</a:t>
            </a:r>
            <a:endParaRPr sz="2000"/>
          </a:p>
        </p:txBody>
      </p:sp>
      <p:sp>
        <p:nvSpPr>
          <p:cNvPr id="339" name="Google Shape;339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LL(\mathcal{D}_{test}) = \sum_{\boldsymbol{x} \in \mathcal{D}_{test}} \log P(\boldsymbol{x})" id="340" name="Google Shape;3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150" y="2460400"/>
            <a:ext cx="5314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(\mathcal{D}_{test}) = \frac{1}{\sum_{\boldsymbol{x} \in \mathcal{D}_{test}} |\boldsymbol{x}|} \sum_{\boldsymbol{x} \in \mathcal{D}_{test}} - \log_2 P(\boldsymbol{x})" id="341" name="Google Shape;34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9150" y="3329725"/>
            <a:ext cx="7724775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l(\mathcal{D}_{test}) = 2^{H(\mathcal{D}_{test})}" id="342" name="Google Shape;34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9150" y="4360975"/>
            <a:ext cx="36861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 txBox="1"/>
          <p:nvPr/>
        </p:nvSpPr>
        <p:spPr>
          <a:xfrm>
            <a:off x="3459225" y="4190563"/>
            <a:ext cx="4043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P(dog |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&lt;news&gt;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is walking a)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3459225" y="3558708"/>
            <a:ext cx="5357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P(dog | John </a:t>
            </a: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……..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a)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40"/>
          <p:cNvSpPr txBox="1"/>
          <p:nvPr/>
        </p:nvSpPr>
        <p:spPr>
          <a:xfrm>
            <a:off x="3459225" y="2926854"/>
            <a:ext cx="4043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P(dog | is walking </a:t>
            </a:r>
            <a:r>
              <a:rPr b="1"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3459225" y="2295000"/>
            <a:ext cx="53574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P(</a:t>
            </a: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| BE V-ing Det) P(dog | </a:t>
            </a: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ANIMAL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Variants of LMs</a:t>
            </a:r>
            <a:endParaRPr/>
          </a:p>
        </p:txBody>
      </p:sp>
      <p:sp>
        <p:nvSpPr>
          <p:cNvPr id="352" name="Google Shape;352;p40"/>
          <p:cNvSpPr txBox="1"/>
          <p:nvPr>
            <p:ph idx="1" type="body"/>
          </p:nvPr>
        </p:nvSpPr>
        <p:spPr>
          <a:xfrm>
            <a:off x="471900" y="1919075"/>
            <a:ext cx="82221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Share similarity: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class LM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Discontiguous context: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skip-gram LM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Long distance: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cache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trigger</a:t>
            </a:r>
            <a:r>
              <a:rPr lang="en" sz="2000"/>
              <a:t>, </a:t>
            </a:r>
            <a:r>
              <a:rPr lang="en" sz="2000" u="sng">
                <a:solidFill>
                  <a:schemeClr val="hlink"/>
                </a:solidFill>
                <a:hlinkClick r:id="rId7"/>
              </a:rPr>
              <a:t>dependency LMs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Topics and types: </a:t>
            </a:r>
            <a:r>
              <a:rPr lang="en" sz="2000" u="sng">
                <a:solidFill>
                  <a:schemeClr val="hlink"/>
                </a:solidFill>
                <a:hlinkClick r:id="rId8"/>
              </a:rPr>
              <a:t>mixture LM</a:t>
            </a:r>
            <a:endParaRPr sz="2000"/>
          </a:p>
          <a:p>
            <a:pPr indent="-355600" lvl="0" marL="457200" rtl="0" algn="l">
              <a:spcBef>
                <a:spcPts val="2400"/>
              </a:spcBef>
              <a:spcAft>
                <a:spcPts val="1200"/>
              </a:spcAft>
              <a:buSzPts val="2000"/>
              <a:buChar char="●"/>
            </a:pPr>
            <a:r>
              <a:rPr lang="en" sz="2000"/>
              <a:t>Optional reading: </a:t>
            </a:r>
            <a:r>
              <a:rPr lang="en" sz="2000" u="sng">
                <a:solidFill>
                  <a:schemeClr val="hlink"/>
                </a:solidFill>
                <a:hlinkClick r:id="rId9"/>
              </a:rPr>
              <a:t>Goodman (2001)</a:t>
            </a:r>
            <a:endParaRPr sz="2000"/>
          </a:p>
        </p:txBody>
      </p:sp>
      <p:sp>
        <p:nvSpPr>
          <p:cNvPr id="353" name="Google Shape;353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Log-linear Language Models</a:t>
            </a:r>
            <a:endParaRPr/>
          </a:p>
        </p:txBody>
      </p:sp>
      <p:sp>
        <p:nvSpPr>
          <p:cNvPr id="359" name="Google Shape;359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Feature-based models</a:t>
            </a:r>
            <a:endParaRPr/>
          </a:p>
        </p:txBody>
      </p:sp>
      <p:sp>
        <p:nvSpPr>
          <p:cNvPr id="365" name="Google Shape;365;p42"/>
          <p:cNvSpPr txBox="1"/>
          <p:nvPr>
            <p:ph idx="1" type="body"/>
          </p:nvPr>
        </p:nvSpPr>
        <p:spPr>
          <a:xfrm>
            <a:off x="471900" y="1919075"/>
            <a:ext cx="82221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Scores for words </a:t>
            </a:r>
            <a:r>
              <a:rPr b="1" lang="en" sz="2000"/>
              <a:t>x</a:t>
            </a:r>
            <a:r>
              <a:rPr lang="en" sz="2000"/>
              <a:t> given a context “</a:t>
            </a:r>
            <a:r>
              <a:rPr i="1" lang="en" sz="2000"/>
              <a:t>walking a</a:t>
            </a:r>
            <a:r>
              <a:rPr lang="en" sz="2000"/>
              <a:t>”:  s(</a:t>
            </a:r>
            <a:r>
              <a:rPr b="1" lang="en" sz="2000"/>
              <a:t>x</a:t>
            </a:r>
            <a:r>
              <a:rPr lang="en" sz="2000"/>
              <a:t> | </a:t>
            </a:r>
            <a:r>
              <a:rPr i="1" lang="en" sz="2000"/>
              <a:t>walking a</a:t>
            </a:r>
            <a:r>
              <a:rPr lang="en" sz="2000"/>
              <a:t>)</a:t>
            </a:r>
            <a:endParaRPr sz="2000"/>
          </a:p>
        </p:txBody>
      </p:sp>
      <p:sp>
        <p:nvSpPr>
          <p:cNvPr id="366" name="Google Shape;366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7" name="Google Shape;367;p42"/>
          <p:cNvSpPr txBox="1"/>
          <p:nvPr/>
        </p:nvSpPr>
        <p:spPr>
          <a:xfrm>
            <a:off x="5275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Mary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cat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giraffe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42"/>
          <p:cNvSpPr/>
          <p:nvPr/>
        </p:nvSpPr>
        <p:spPr>
          <a:xfrm>
            <a:off x="152550" y="2571750"/>
            <a:ext cx="1137000" cy="5544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A list of words in </a:t>
            </a: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2"/>
          <p:cNvSpPr txBox="1"/>
          <p:nvPr/>
        </p:nvSpPr>
        <p:spPr>
          <a:xfrm>
            <a:off x="17467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3.5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42"/>
          <p:cNvSpPr/>
          <p:nvPr/>
        </p:nvSpPr>
        <p:spPr>
          <a:xfrm>
            <a:off x="1371750" y="2571750"/>
            <a:ext cx="1137000" cy="5544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Bias</a:t>
            </a: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 score for </a:t>
            </a:r>
            <a:r>
              <a:rPr b="1"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b="1"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295422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-0.5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-0.8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2579225" y="2358450"/>
            <a:ext cx="1617600" cy="7677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Score for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given “walking” at the 1st position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42"/>
          <p:cNvSpPr txBox="1"/>
          <p:nvPr/>
        </p:nvSpPr>
        <p:spPr>
          <a:xfrm>
            <a:off x="461890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-1.8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243900" y="2358450"/>
            <a:ext cx="1617600" cy="7677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Score for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given “a” at the 2nd position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628357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-2.1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5908575" y="2358450"/>
            <a:ext cx="1617600" cy="7677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Score for </a:t>
            </a:r>
            <a:r>
              <a:rPr b="1"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 given “V-ing Det“ in the context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79482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-1.2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-3.5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-3.5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8.0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6.0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42"/>
          <p:cNvSpPr/>
          <p:nvPr/>
        </p:nvSpPr>
        <p:spPr>
          <a:xfrm>
            <a:off x="7573250" y="2571750"/>
            <a:ext cx="1430100" cy="554400"/>
          </a:xfrm>
          <a:prstGeom prst="wedgeRectCallout">
            <a:avLst>
              <a:gd fmla="val -8766" name="adj1"/>
              <a:gd fmla="val 68416" name="adj2"/>
            </a:avLst>
          </a:prstGeom>
          <a:noFill/>
          <a:ln cap="flat" cmpd="sng" w="38100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s(</a:t>
            </a: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 | walking a)</a:t>
            </a:r>
            <a:endParaRPr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42"/>
          <p:cNvSpPr txBox="1"/>
          <p:nvPr/>
        </p:nvSpPr>
        <p:spPr>
          <a:xfrm>
            <a:off x="2661088" y="3833475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42"/>
          <p:cNvSpPr txBox="1"/>
          <p:nvPr/>
        </p:nvSpPr>
        <p:spPr>
          <a:xfrm>
            <a:off x="4149913" y="3833475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42"/>
          <p:cNvSpPr txBox="1"/>
          <p:nvPr/>
        </p:nvSpPr>
        <p:spPr>
          <a:xfrm>
            <a:off x="5744313" y="3833475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2"/>
          <p:cNvSpPr txBox="1"/>
          <p:nvPr/>
        </p:nvSpPr>
        <p:spPr>
          <a:xfrm>
            <a:off x="7537850" y="3833475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=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053" y="152400"/>
            <a:ext cx="2933827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Japanese Features</a:t>
            </a:r>
            <a:endParaRPr/>
          </a:p>
        </p:txBody>
      </p:sp>
      <p:sp>
        <p:nvSpPr>
          <p:cNvPr id="389" name="Google Shape;389;p4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Feature-based model for the morphological analysis of Japanese data.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set of templates to instantiate features, e.g., Kanji/Hiragana sequences.</a:t>
            </a:r>
            <a:endParaRPr sz="1800"/>
          </a:p>
        </p:txBody>
      </p:sp>
      <p:sp>
        <p:nvSpPr>
          <p:cNvPr id="390" name="Google Shape;390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43"/>
          <p:cNvSpPr txBox="1"/>
          <p:nvPr/>
        </p:nvSpPr>
        <p:spPr>
          <a:xfrm>
            <a:off x="5765900" y="4723075"/>
            <a:ext cx="301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(Uchimoto et al., 2003)</a:t>
            </a:r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43"/>
          <p:cNvSpPr/>
          <p:nvPr/>
        </p:nvSpPr>
        <p:spPr>
          <a:xfrm>
            <a:off x="7601050" y="113400"/>
            <a:ext cx="922500" cy="607200"/>
          </a:xfrm>
          <a:prstGeom prst="wedgeRectCallout">
            <a:avLst>
              <a:gd fmla="val -71211" name="adj1"/>
              <a:gd fmla="val -21719" name="adj2"/>
            </a:avLst>
          </a:prstGeom>
          <a:solidFill>
            <a:srgbClr val="DB4437">
              <a:alpha val="20000"/>
            </a:srgbClr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strings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43"/>
          <p:cNvSpPr/>
          <p:nvPr/>
        </p:nvSpPr>
        <p:spPr>
          <a:xfrm>
            <a:off x="7454650" y="961075"/>
            <a:ext cx="1617600" cy="607200"/>
          </a:xfrm>
          <a:prstGeom prst="wedgeRectCallout">
            <a:avLst>
              <a:gd fmla="val -61851" name="adj1"/>
              <a:gd fmla="val -38538" name="adj2"/>
            </a:avLst>
          </a:prstGeom>
          <a:solidFill>
            <a:srgbClr val="0277BD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Prefix/suffix of a word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7513275" y="1758475"/>
            <a:ext cx="1341300" cy="607200"/>
          </a:xfrm>
          <a:prstGeom prst="wedgeRectCallout">
            <a:avLst>
              <a:gd fmla="val -61851" name="adj1"/>
              <a:gd fmla="val -38538" name="adj2"/>
            </a:avLst>
          </a:prstGeom>
          <a:solidFill>
            <a:srgbClr val="0F9D58">
              <a:alpha val="2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Dictionary entry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3"/>
          <p:cNvSpPr/>
          <p:nvPr/>
        </p:nvSpPr>
        <p:spPr>
          <a:xfrm>
            <a:off x="7521850" y="4037425"/>
            <a:ext cx="1550400" cy="658200"/>
          </a:xfrm>
          <a:prstGeom prst="wedgeRectCallout">
            <a:avLst>
              <a:gd fmla="val -62968" name="adj1"/>
              <a:gd fmla="val 5997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Combination of features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scores as probabilities</a:t>
            </a:r>
            <a:endParaRPr/>
          </a:p>
        </p:txBody>
      </p:sp>
      <p:sp>
        <p:nvSpPr>
          <p:cNvPr id="401" name="Google Shape;401;p44"/>
          <p:cNvSpPr txBox="1"/>
          <p:nvPr>
            <p:ph idx="1" type="body"/>
          </p:nvPr>
        </p:nvSpPr>
        <p:spPr>
          <a:xfrm>
            <a:off x="471900" y="3188675"/>
            <a:ext cx="3999900" cy="14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Takes exponent and normalizes it to compute probabilities, i.e., </a:t>
            </a:r>
            <a:r>
              <a:rPr i="1" lang="en" sz="2000"/>
              <a:t>softmax</a:t>
            </a:r>
            <a:r>
              <a:rPr lang="en" sz="2000"/>
              <a:t> (</a:t>
            </a:r>
            <a:r>
              <a:rPr lang="en" sz="2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Berger et al., 1996</a:t>
            </a:r>
            <a:r>
              <a:rPr lang="en" sz="2000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(x_i | x_{i-n+1}, ..., x_{i-1}) = \frac{\displaystyle\hphantom{\sum_{\tilde{x} \in \mathcal{V}}}\exp(s(x_i | x_{i-n + 1}, ..., x_{i-1}))}{\displaystyle\sum_{\tilde{x} \in \mathcal{V}} \exp(s(\tilde{x} | x_{i-n + 1}, ..., x_{i - 1}))}" id="403" name="Google Shape;40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06150"/>
            <a:ext cx="9144000" cy="1294482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4"/>
          <p:cNvSpPr txBox="1"/>
          <p:nvPr/>
        </p:nvSpPr>
        <p:spPr>
          <a:xfrm>
            <a:off x="4970575" y="3100625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-1.2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-3.5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-3.5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8.0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6.0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E7CC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8E7CC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6661963" y="3856825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4"/>
          <p:cNvSpPr/>
          <p:nvPr/>
        </p:nvSpPr>
        <p:spPr>
          <a:xfrm>
            <a:off x="6826067" y="4009225"/>
            <a:ext cx="164100" cy="241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4"/>
          <p:cNvSpPr/>
          <p:nvPr/>
        </p:nvSpPr>
        <p:spPr>
          <a:xfrm flipH="1" rot="10800000">
            <a:off x="6996650" y="4149925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7160752" y="4149925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4"/>
          <p:cNvSpPr/>
          <p:nvPr/>
        </p:nvSpPr>
        <p:spPr>
          <a:xfrm>
            <a:off x="7324856" y="3341725"/>
            <a:ext cx="164100" cy="908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4"/>
          <p:cNvSpPr/>
          <p:nvPr/>
        </p:nvSpPr>
        <p:spPr>
          <a:xfrm>
            <a:off x="7488961" y="3482725"/>
            <a:ext cx="164100" cy="76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4"/>
          <p:cNvSpPr/>
          <p:nvPr/>
        </p:nvSpPr>
        <p:spPr>
          <a:xfrm>
            <a:off x="7653041" y="3774925"/>
            <a:ext cx="164100" cy="475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7817145" y="3939025"/>
            <a:ext cx="164100" cy="31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4"/>
          <p:cNvSpPr/>
          <p:nvPr/>
        </p:nvSpPr>
        <p:spPr>
          <a:xfrm>
            <a:off x="7981250" y="3856825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4"/>
          <p:cNvSpPr/>
          <p:nvPr/>
        </p:nvSpPr>
        <p:spPr>
          <a:xfrm>
            <a:off x="5873250" y="3833450"/>
            <a:ext cx="658200" cy="241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</a:t>
            </a:r>
            <a:r>
              <a:rPr i="1" lang="en"/>
              <a:t>softmax</a:t>
            </a:r>
            <a:r>
              <a:rPr lang="en"/>
              <a:t>?</a:t>
            </a:r>
            <a:endParaRPr/>
          </a:p>
        </p:txBody>
      </p:sp>
      <p:sp>
        <p:nvSpPr>
          <p:cNvPr id="420" name="Google Shape;420;p45"/>
          <p:cNvSpPr txBox="1"/>
          <p:nvPr>
            <p:ph idx="1" type="body"/>
          </p:nvPr>
        </p:nvSpPr>
        <p:spPr>
          <a:xfrm>
            <a:off x="226075" y="1465800"/>
            <a:ext cx="3039600" cy="3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K-dim vector to probability distribution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Reduced to sigmoid function when K = 2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</a:t>
            </a:r>
            <a:r>
              <a:rPr b="1" lang="en" sz="1800"/>
              <a:t>nvariant to biases</a:t>
            </a:r>
            <a:r>
              <a:rPr lang="en" sz="1800"/>
              <a:t>. This trick is used for GPU computation.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smoother </a:t>
            </a:r>
            <a:r>
              <a:rPr b="1" lang="en" sz="1800"/>
              <a:t>arg max </a:t>
            </a:r>
            <a:r>
              <a:rPr lang="en" sz="1800"/>
              <a:t>when the scale parameter γ → ∞ and uniform when γ → 0.</a:t>
            </a:r>
            <a:endParaRPr sz="1800"/>
          </a:p>
        </p:txBody>
      </p:sp>
      <p:pic>
        <p:nvPicPr>
          <p:cNvPr id="421" name="Google Shape;42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125" y="186500"/>
            <a:ext cx="4824725" cy="152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2125" y="2131987"/>
            <a:ext cx="3734324" cy="87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3" name="Google Shape;423;p45"/>
          <p:cNvGrpSpPr/>
          <p:nvPr/>
        </p:nvGrpSpPr>
        <p:grpSpPr>
          <a:xfrm>
            <a:off x="3762125" y="3271175"/>
            <a:ext cx="5288875" cy="1358125"/>
            <a:chOff x="3762125" y="3271175"/>
            <a:chExt cx="5288875" cy="1358125"/>
          </a:xfrm>
        </p:grpSpPr>
        <p:pic>
          <p:nvPicPr>
            <p:cNvPr id="424" name="Google Shape;424;p4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62125" y="3675900"/>
              <a:ext cx="1724443" cy="95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45"/>
            <p:cNvSpPr/>
            <p:nvPr/>
          </p:nvSpPr>
          <p:spPr>
            <a:xfrm>
              <a:off x="5693538" y="4158125"/>
              <a:ext cx="164100" cy="393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5"/>
            <p:cNvSpPr/>
            <p:nvPr/>
          </p:nvSpPr>
          <p:spPr>
            <a:xfrm>
              <a:off x="5857642" y="4310525"/>
              <a:ext cx="164100" cy="241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5"/>
            <p:cNvSpPr/>
            <p:nvPr/>
          </p:nvSpPr>
          <p:spPr>
            <a:xfrm flipH="1" rot="10800000">
              <a:off x="6028225" y="4451225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5"/>
            <p:cNvSpPr/>
            <p:nvPr/>
          </p:nvSpPr>
          <p:spPr>
            <a:xfrm>
              <a:off x="6192327" y="4451225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6356431" y="3643025"/>
              <a:ext cx="164100" cy="9087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6520536" y="3784025"/>
              <a:ext cx="164100" cy="7677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6684616" y="4076225"/>
              <a:ext cx="164100" cy="475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6848720" y="4240325"/>
              <a:ext cx="164100" cy="3114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7012825" y="4158125"/>
              <a:ext cx="164100" cy="393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7567625" y="4397525"/>
              <a:ext cx="164100" cy="1542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7731725" y="4451225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5"/>
            <p:cNvSpPr/>
            <p:nvPr/>
          </p:nvSpPr>
          <p:spPr>
            <a:xfrm flipH="1" rot="10800000">
              <a:off x="7902300" y="4490825"/>
              <a:ext cx="164100" cy="609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8066400" y="4519400"/>
              <a:ext cx="164100" cy="324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8230500" y="3271175"/>
              <a:ext cx="164100" cy="12804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8394600" y="3784025"/>
              <a:ext cx="164100" cy="7677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8558700" y="4361575"/>
              <a:ext cx="164100" cy="1902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5"/>
            <p:cNvSpPr/>
            <p:nvPr/>
          </p:nvSpPr>
          <p:spPr>
            <a:xfrm>
              <a:off x="8722800" y="4451225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5"/>
            <p:cNvSpPr/>
            <p:nvPr/>
          </p:nvSpPr>
          <p:spPr>
            <a:xfrm>
              <a:off x="8886900" y="4397450"/>
              <a:ext cx="164100" cy="1542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7218013" y="3784025"/>
              <a:ext cx="479100" cy="344400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/>
          <p:nvPr/>
        </p:nvSpPr>
        <p:spPr>
          <a:xfrm>
            <a:off x="1289550" y="3059725"/>
            <a:ext cx="6060900" cy="199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 in Details</a:t>
            </a:r>
            <a:endParaRPr/>
          </a:p>
        </p:txBody>
      </p:sp>
      <p:sp>
        <p:nvSpPr>
          <p:cNvPr id="451" name="Google Shape;451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6"/>
          <p:cNvSpPr txBox="1"/>
          <p:nvPr/>
        </p:nvSpPr>
        <p:spPr>
          <a:xfrm>
            <a:off x="5275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Mary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cat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giraffe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6"/>
          <p:cNvSpPr txBox="1"/>
          <p:nvPr/>
        </p:nvSpPr>
        <p:spPr>
          <a:xfrm>
            <a:off x="17467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3.5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46"/>
          <p:cNvSpPr txBox="1"/>
          <p:nvPr/>
        </p:nvSpPr>
        <p:spPr>
          <a:xfrm>
            <a:off x="295422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-0.5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-0.8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6"/>
          <p:cNvSpPr txBox="1"/>
          <p:nvPr/>
        </p:nvSpPr>
        <p:spPr>
          <a:xfrm>
            <a:off x="461890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-1.8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46"/>
          <p:cNvSpPr txBox="1"/>
          <p:nvPr/>
        </p:nvSpPr>
        <p:spPr>
          <a:xfrm>
            <a:off x="628357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-2.1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46"/>
          <p:cNvSpPr/>
          <p:nvPr/>
        </p:nvSpPr>
        <p:spPr>
          <a:xfrm>
            <a:off x="98250" y="2196600"/>
            <a:ext cx="1461000" cy="750300"/>
          </a:xfrm>
          <a:prstGeom prst="wedgeRectCallout">
            <a:avLst>
              <a:gd fmla="val 74066" name="adj1"/>
              <a:gd fmla="val 43163" name="adj2"/>
            </a:avLst>
          </a:prstGeom>
          <a:solidFill>
            <a:srgbClr val="424242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Lookup parameters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8" name="Google Shape;458;p46"/>
          <p:cNvGrpSpPr/>
          <p:nvPr/>
        </p:nvGrpSpPr>
        <p:grpSpPr>
          <a:xfrm>
            <a:off x="98250" y="973025"/>
            <a:ext cx="6947475" cy="1739700"/>
            <a:chOff x="98250" y="973025"/>
            <a:chExt cx="6947475" cy="1739700"/>
          </a:xfrm>
        </p:grpSpPr>
        <p:sp>
          <p:nvSpPr>
            <p:cNvPr id="459" name="Google Shape;459;p46"/>
            <p:cNvSpPr/>
            <p:nvPr/>
          </p:nvSpPr>
          <p:spPr>
            <a:xfrm>
              <a:off x="1793625" y="973025"/>
              <a:ext cx="5252100" cy="1739700"/>
            </a:xfrm>
            <a:prstGeom prst="rect">
              <a:avLst/>
            </a:prstGeom>
            <a:noFill/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 txBox="1"/>
            <p:nvPr/>
          </p:nvSpPr>
          <p:spPr>
            <a:xfrm>
              <a:off x="2661088" y="1681138"/>
              <a:ext cx="4104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1" name="Google Shape;461;p46"/>
            <p:cNvSpPr txBox="1"/>
            <p:nvPr/>
          </p:nvSpPr>
          <p:spPr>
            <a:xfrm>
              <a:off x="4149913" y="1681138"/>
              <a:ext cx="4104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46"/>
            <p:cNvSpPr txBox="1"/>
            <p:nvPr/>
          </p:nvSpPr>
          <p:spPr>
            <a:xfrm>
              <a:off x="5744313" y="1681138"/>
              <a:ext cx="4104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98250" y="1110400"/>
              <a:ext cx="1461000" cy="316500"/>
            </a:xfrm>
            <a:prstGeom prst="wedgeRectCallout">
              <a:avLst>
                <a:gd fmla="val 66042" name="adj1"/>
                <a:gd fmla="val 125126" name="adj2"/>
              </a:avLst>
            </a:prstGeom>
            <a:solidFill>
              <a:srgbClr val="0F9D58">
                <a:alpha val="20000"/>
              </a:srgbClr>
            </a:solidFill>
            <a:ln cap="flat" cmpd="sng" w="9525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AA84F"/>
                  </a:solidFill>
                  <a:latin typeface="Roboto"/>
                  <a:ea typeface="Roboto"/>
                  <a:cs typeface="Roboto"/>
                  <a:sym typeface="Roboto"/>
                </a:rPr>
                <a:t>summation</a:t>
              </a:r>
              <a:endParaRPr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4" name="Google Shape;464;p46"/>
          <p:cNvGrpSpPr/>
          <p:nvPr/>
        </p:nvGrpSpPr>
        <p:grpSpPr>
          <a:xfrm>
            <a:off x="7045725" y="706475"/>
            <a:ext cx="2026525" cy="1658525"/>
            <a:chOff x="7045725" y="706475"/>
            <a:chExt cx="2026525" cy="1658525"/>
          </a:xfrm>
        </p:grpSpPr>
        <p:sp>
          <p:nvSpPr>
            <p:cNvPr id="465" name="Google Shape;465;p46"/>
            <p:cNvSpPr/>
            <p:nvPr/>
          </p:nvSpPr>
          <p:spPr>
            <a:xfrm>
              <a:off x="7514475" y="706475"/>
              <a:ext cx="1461000" cy="316500"/>
            </a:xfrm>
            <a:prstGeom prst="wedgeRectCallout">
              <a:avLst>
                <a:gd fmla="val -13089" name="adj1"/>
                <a:gd fmla="val 137923" name="adj2"/>
              </a:avLst>
            </a:prstGeom>
            <a:solidFill>
              <a:srgbClr val="0277BD">
                <a:alpha val="2000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7588863" y="1971400"/>
              <a:ext cx="164100" cy="393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7752967" y="2123800"/>
              <a:ext cx="164100" cy="2412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 flipH="1" rot="10800000">
              <a:off x="7923550" y="2264500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8087652" y="2264500"/>
              <a:ext cx="164100" cy="100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8251756" y="1456300"/>
              <a:ext cx="164100" cy="9087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8415861" y="1597300"/>
              <a:ext cx="164100" cy="7677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8579941" y="1889500"/>
              <a:ext cx="164100" cy="4755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8744045" y="2053600"/>
              <a:ext cx="164100" cy="3114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8908150" y="1971400"/>
              <a:ext cx="164100" cy="393600"/>
            </a:xfrm>
            <a:prstGeom prst="rect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7045725" y="1718800"/>
              <a:ext cx="548700" cy="241200"/>
            </a:xfrm>
            <a:prstGeom prst="righ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p46"/>
          <p:cNvSpPr txBox="1"/>
          <p:nvPr/>
        </p:nvSpPr>
        <p:spPr>
          <a:xfrm>
            <a:off x="7491050" y="3829950"/>
            <a:ext cx="1581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= W ∈ R</a:t>
            </a:r>
            <a:r>
              <a:rPr b="1" baseline="30000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 × F</a:t>
            </a:r>
            <a:endParaRPr b="1" baseline="30000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7" name="Google Shape;477;p46"/>
          <p:cNvGrpSpPr/>
          <p:nvPr/>
        </p:nvGrpSpPr>
        <p:grpSpPr>
          <a:xfrm>
            <a:off x="1746750" y="706475"/>
            <a:ext cx="5123025" cy="2419675"/>
            <a:chOff x="1746750" y="706475"/>
            <a:chExt cx="5123025" cy="2419675"/>
          </a:xfrm>
        </p:grpSpPr>
        <p:sp>
          <p:nvSpPr>
            <p:cNvPr id="478" name="Google Shape;478;p46"/>
            <p:cNvSpPr/>
            <p:nvPr/>
          </p:nvSpPr>
          <p:spPr>
            <a:xfrm>
              <a:off x="1922550" y="1110375"/>
              <a:ext cx="410400" cy="1458000"/>
            </a:xfrm>
            <a:prstGeom prst="rect">
              <a:avLst/>
            </a:prstGeom>
            <a:noFill/>
            <a:ln cap="flat" cmpd="sng" w="9525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3130025" y="1110388"/>
              <a:ext cx="410400" cy="1458000"/>
            </a:xfrm>
            <a:prstGeom prst="rect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4794700" y="1110375"/>
              <a:ext cx="410400" cy="1458000"/>
            </a:xfrm>
            <a:prstGeom prst="rect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459375" y="1110388"/>
              <a:ext cx="410400" cy="1458000"/>
            </a:xfrm>
            <a:prstGeom prst="rect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2" name="Google Shape;482;p46"/>
            <p:cNvCxnSpPr>
              <a:stCxn id="453" idx="0"/>
              <a:endCxn id="478" idx="2"/>
            </p:cNvCxnSpPr>
            <p:nvPr/>
          </p:nvCxnSpPr>
          <p:spPr>
            <a:xfrm rot="10800000">
              <a:off x="2127750" y="2568450"/>
              <a:ext cx="0" cy="557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3" name="Google Shape;483;p46"/>
            <p:cNvCxnSpPr>
              <a:stCxn id="454" idx="0"/>
              <a:endCxn id="479" idx="2"/>
            </p:cNvCxnSpPr>
            <p:nvPr/>
          </p:nvCxnSpPr>
          <p:spPr>
            <a:xfrm rot="10800000">
              <a:off x="3335225" y="2568450"/>
              <a:ext cx="0" cy="557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4" name="Google Shape;484;p46"/>
            <p:cNvCxnSpPr>
              <a:stCxn id="455" idx="0"/>
              <a:endCxn id="480" idx="2"/>
            </p:cNvCxnSpPr>
            <p:nvPr/>
          </p:nvCxnSpPr>
          <p:spPr>
            <a:xfrm rot="10800000">
              <a:off x="4999900" y="2568450"/>
              <a:ext cx="0" cy="557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85" name="Google Shape;485;p46"/>
            <p:cNvCxnSpPr>
              <a:stCxn id="456" idx="0"/>
              <a:endCxn id="481" idx="2"/>
            </p:cNvCxnSpPr>
            <p:nvPr/>
          </p:nvCxnSpPr>
          <p:spPr>
            <a:xfrm rot="10800000">
              <a:off x="6664575" y="2568450"/>
              <a:ext cx="0" cy="5577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86" name="Google Shape;486;p46"/>
            <p:cNvSpPr txBox="1"/>
            <p:nvPr/>
          </p:nvSpPr>
          <p:spPr>
            <a:xfrm>
              <a:off x="1746750" y="706475"/>
              <a:ext cx="548700" cy="475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b="1" baseline="-25000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 b="1" baseline="-25000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7" name="Google Shape;487;p46"/>
            <p:cNvSpPr txBox="1"/>
            <p:nvPr/>
          </p:nvSpPr>
          <p:spPr>
            <a:xfrm>
              <a:off x="2719750" y="706475"/>
              <a:ext cx="1122600" cy="475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b="1" baseline="-25000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walking, _</a:t>
              </a:r>
              <a:endParaRPr b="1" baseline="-25000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46"/>
            <p:cNvSpPr txBox="1"/>
            <p:nvPr/>
          </p:nvSpPr>
          <p:spPr>
            <a:xfrm>
              <a:off x="4350725" y="706475"/>
              <a:ext cx="762000" cy="475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b="1" baseline="-25000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_,  a</a:t>
              </a:r>
              <a:endParaRPr b="1" baseline="-25000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9" name="Google Shape;489;p46"/>
            <p:cNvSpPr txBox="1"/>
            <p:nvPr/>
          </p:nvSpPr>
          <p:spPr>
            <a:xfrm>
              <a:off x="5621100" y="706475"/>
              <a:ext cx="1122600" cy="475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</a:t>
              </a:r>
              <a:r>
                <a:rPr b="1" baseline="-25000" lang="en" sz="20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V-ing, Det</a:t>
              </a:r>
              <a:endParaRPr b="1" baseline="-25000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0" name="Google Shape;490;p46"/>
          <p:cNvSpPr/>
          <p:nvPr/>
        </p:nvSpPr>
        <p:spPr>
          <a:xfrm>
            <a:off x="7445750" y="3205550"/>
            <a:ext cx="1671900" cy="557700"/>
          </a:xfrm>
          <a:prstGeom prst="wedgeRectCallout">
            <a:avLst>
              <a:gd fmla="val 13527" name="adj1"/>
              <a:gd fmla="val 7029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V: vocabulary size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F: feature size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ell(x_i | x_{i-n + 1}, ..., x_{i-1})&#10;= - \boldsymbol{1}_{x_i}^{\top}&#10;\log&#10;P(\boldsymbol{x} | x_{i-n + 1}, ..., x_{i-1})&#10;" id="495" name="Google Shape;4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" y="1784838"/>
            <a:ext cx="9143999" cy="508487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Loss function</a:t>
            </a:r>
            <a:endParaRPr/>
          </a:p>
        </p:txBody>
      </p:sp>
      <p:sp>
        <p:nvSpPr>
          <p:cNvPr id="497" name="Google Shape;497;p47"/>
          <p:cNvSpPr txBox="1"/>
          <p:nvPr>
            <p:ph idx="1" type="body"/>
          </p:nvPr>
        </p:nvSpPr>
        <p:spPr>
          <a:xfrm>
            <a:off x="471900" y="2952775"/>
            <a:ext cx="3999900" cy="16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For training, computes a loss function, e.g., </a:t>
            </a:r>
            <a:r>
              <a:rPr b="1" lang="en" sz="2000"/>
              <a:t>cross-entropy loss</a:t>
            </a:r>
            <a:r>
              <a:rPr lang="en" sz="2000"/>
              <a:t>, and updates parameters to reduce the loss.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98" name="Google Shape;498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9" name="Google Shape;499;p47"/>
          <p:cNvSpPr/>
          <p:nvPr/>
        </p:nvSpPr>
        <p:spPr>
          <a:xfrm>
            <a:off x="7329238" y="372985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7493342" y="3882250"/>
            <a:ext cx="164100" cy="241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7"/>
          <p:cNvSpPr/>
          <p:nvPr/>
        </p:nvSpPr>
        <p:spPr>
          <a:xfrm flipH="1" rot="10800000">
            <a:off x="7663925" y="402295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7"/>
          <p:cNvSpPr/>
          <p:nvPr/>
        </p:nvSpPr>
        <p:spPr>
          <a:xfrm>
            <a:off x="7828027" y="402295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7"/>
          <p:cNvSpPr/>
          <p:nvPr/>
        </p:nvSpPr>
        <p:spPr>
          <a:xfrm>
            <a:off x="7992131" y="3214750"/>
            <a:ext cx="164100" cy="908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7"/>
          <p:cNvSpPr/>
          <p:nvPr/>
        </p:nvSpPr>
        <p:spPr>
          <a:xfrm>
            <a:off x="8156236" y="3355750"/>
            <a:ext cx="164100" cy="76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7"/>
          <p:cNvSpPr/>
          <p:nvPr/>
        </p:nvSpPr>
        <p:spPr>
          <a:xfrm>
            <a:off x="8320316" y="3647950"/>
            <a:ext cx="164100" cy="475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7"/>
          <p:cNvSpPr/>
          <p:nvPr/>
        </p:nvSpPr>
        <p:spPr>
          <a:xfrm>
            <a:off x="8484420" y="3812050"/>
            <a:ext cx="164100" cy="31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7"/>
          <p:cNvSpPr/>
          <p:nvPr/>
        </p:nvSpPr>
        <p:spPr>
          <a:xfrm>
            <a:off x="8648525" y="372985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7"/>
          <p:cNvSpPr/>
          <p:nvPr/>
        </p:nvSpPr>
        <p:spPr>
          <a:xfrm>
            <a:off x="8484425" y="30472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47"/>
          <p:cNvSpPr/>
          <p:nvPr/>
        </p:nvSpPr>
        <p:spPr>
          <a:xfrm>
            <a:off x="7201000" y="30472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7"/>
          <p:cNvSpPr/>
          <p:nvPr/>
        </p:nvSpPr>
        <p:spPr>
          <a:xfrm rot="10800000">
            <a:off x="7863875" y="25717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7"/>
          <p:cNvSpPr/>
          <p:nvPr/>
        </p:nvSpPr>
        <p:spPr>
          <a:xfrm>
            <a:off x="4433475" y="2571750"/>
            <a:ext cx="2201100" cy="495300"/>
          </a:xfrm>
          <a:prstGeom prst="wedgeRectCallout">
            <a:avLst>
              <a:gd fmla="val -37306" name="adj1"/>
              <a:gd fmla="val -89940" name="adj2"/>
            </a:avLst>
          </a:prstGeom>
          <a:solidFill>
            <a:srgbClr val="0277BD">
              <a:alpha val="200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for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baseline="-25000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otherwise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7"/>
          <p:cNvSpPr txBox="1"/>
          <p:nvPr/>
        </p:nvSpPr>
        <p:spPr>
          <a:xfrm>
            <a:off x="7826675" y="4123450"/>
            <a:ext cx="4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aseline="-25000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Suffer loss</a:t>
            </a:r>
            <a:endParaRPr/>
          </a:p>
        </p:txBody>
      </p:sp>
      <p:sp>
        <p:nvSpPr>
          <p:cNvPr id="518" name="Google Shape;518;p48"/>
          <p:cNvSpPr txBox="1"/>
          <p:nvPr>
            <p:ph idx="1" type="body"/>
          </p:nvPr>
        </p:nvSpPr>
        <p:spPr>
          <a:xfrm>
            <a:off x="471900" y="2637700"/>
            <a:ext cx="3999900" cy="22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Backpropagation</a:t>
            </a:r>
            <a:r>
              <a:rPr lang="en" sz="2000"/>
              <a:t> to compute the derivative of the loss function wrt the parameters.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4"/>
              </a:rPr>
              <a:t>Stochastic gradient descent (SGD)</a:t>
            </a:r>
            <a:r>
              <a:rPr lang="en" sz="2000"/>
              <a:t> to update the parameters.</a:t>
            </a:r>
            <a:endParaRPr sz="2000"/>
          </a:p>
        </p:txBody>
      </p:sp>
      <p:sp>
        <p:nvSpPr>
          <p:cNvPr id="519" name="Google Shape;519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\frac{\partial\ell}{\partial s} = - \boldsymbol{1}_{x_i} + P(\boldsymbol{x} | x_{i - n + 1}, ..., x_{i-1})" id="520" name="Google Shape;52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2588" y="1746725"/>
            <a:ext cx="58388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frac{\partial \ell}{\partial \mathbf{W}} &#10;= \frac{\partial\ell}{\partial s}\frac{\partial s}{\partial\mathbf{W}}" id="521" name="Google Shape;52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6975" y="3028000"/>
            <a:ext cx="21717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thbf{W} \leftarrow\mathbf{W} - \alpha \frac{\partial \ell}{\partial \mathbf{W}}" id="522" name="Google Shape;522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56975" y="4248100"/>
            <a:ext cx="291465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8"/>
          <p:cNvSpPr/>
          <p:nvPr/>
        </p:nvSpPr>
        <p:spPr>
          <a:xfrm>
            <a:off x="7329238" y="372985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8"/>
          <p:cNvSpPr/>
          <p:nvPr/>
        </p:nvSpPr>
        <p:spPr>
          <a:xfrm>
            <a:off x="7493342" y="3882250"/>
            <a:ext cx="164100" cy="241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8"/>
          <p:cNvSpPr/>
          <p:nvPr/>
        </p:nvSpPr>
        <p:spPr>
          <a:xfrm flipH="1" rot="10800000">
            <a:off x="7663925" y="402295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8"/>
          <p:cNvSpPr/>
          <p:nvPr/>
        </p:nvSpPr>
        <p:spPr>
          <a:xfrm>
            <a:off x="7828027" y="402295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8"/>
          <p:cNvSpPr/>
          <p:nvPr/>
        </p:nvSpPr>
        <p:spPr>
          <a:xfrm>
            <a:off x="7992131" y="3214750"/>
            <a:ext cx="164100" cy="908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8"/>
          <p:cNvSpPr/>
          <p:nvPr/>
        </p:nvSpPr>
        <p:spPr>
          <a:xfrm>
            <a:off x="8156236" y="3355750"/>
            <a:ext cx="164100" cy="76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8"/>
          <p:cNvSpPr/>
          <p:nvPr/>
        </p:nvSpPr>
        <p:spPr>
          <a:xfrm>
            <a:off x="8320316" y="3647950"/>
            <a:ext cx="164100" cy="475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8"/>
          <p:cNvSpPr/>
          <p:nvPr/>
        </p:nvSpPr>
        <p:spPr>
          <a:xfrm>
            <a:off x="8484420" y="3812050"/>
            <a:ext cx="164100" cy="31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8"/>
          <p:cNvSpPr/>
          <p:nvPr/>
        </p:nvSpPr>
        <p:spPr>
          <a:xfrm>
            <a:off x="8648525" y="372985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8"/>
          <p:cNvSpPr/>
          <p:nvPr/>
        </p:nvSpPr>
        <p:spPr>
          <a:xfrm>
            <a:off x="8484425" y="30472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48"/>
          <p:cNvSpPr/>
          <p:nvPr/>
        </p:nvSpPr>
        <p:spPr>
          <a:xfrm>
            <a:off x="7201000" y="30472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48"/>
          <p:cNvSpPr/>
          <p:nvPr/>
        </p:nvSpPr>
        <p:spPr>
          <a:xfrm rot="10800000">
            <a:off x="7863875" y="257175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48"/>
          <p:cNvSpPr txBox="1"/>
          <p:nvPr/>
        </p:nvSpPr>
        <p:spPr>
          <a:xfrm>
            <a:off x="7826675" y="4123450"/>
            <a:ext cx="49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aseline="-25000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48"/>
          <p:cNvSpPr/>
          <p:nvPr/>
        </p:nvSpPr>
        <p:spPr>
          <a:xfrm>
            <a:off x="5791400" y="3602988"/>
            <a:ext cx="1209300" cy="561300"/>
          </a:xfrm>
          <a:prstGeom prst="wedgeRectCallout">
            <a:avLst>
              <a:gd fmla="val 4271" name="adj1"/>
              <a:gd fmla="val 86414" name="adj2"/>
            </a:avLst>
          </a:prstGeom>
          <a:solidFill>
            <a:srgbClr val="0F9D58">
              <a:alpha val="2000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Learning rate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/>
          <p:nvPr/>
        </p:nvSpPr>
        <p:spPr>
          <a:xfrm>
            <a:off x="1289550" y="3059725"/>
            <a:ext cx="6060900" cy="19929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backpropagation in details</a:t>
            </a:r>
            <a:endParaRPr/>
          </a:p>
        </p:txBody>
      </p:sp>
      <p:sp>
        <p:nvSpPr>
          <p:cNvPr id="543" name="Google Shape;543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49"/>
          <p:cNvSpPr txBox="1"/>
          <p:nvPr/>
        </p:nvSpPr>
        <p:spPr>
          <a:xfrm>
            <a:off x="5275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Mary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dog</a:t>
            </a:r>
            <a:endParaRPr b="1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cat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giraffe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9"/>
          <p:cNvSpPr txBox="1"/>
          <p:nvPr/>
        </p:nvSpPr>
        <p:spPr>
          <a:xfrm>
            <a:off x="174675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3.5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0.5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9"/>
          <p:cNvSpPr txBox="1"/>
          <p:nvPr/>
        </p:nvSpPr>
        <p:spPr>
          <a:xfrm>
            <a:off x="295422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-0.5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-0.8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49"/>
          <p:cNvSpPr txBox="1"/>
          <p:nvPr/>
        </p:nvSpPr>
        <p:spPr>
          <a:xfrm>
            <a:off x="4618900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-1.8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2.0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1.5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49"/>
          <p:cNvSpPr txBox="1"/>
          <p:nvPr/>
        </p:nvSpPr>
        <p:spPr>
          <a:xfrm>
            <a:off x="6283575" y="3126150"/>
            <a:ext cx="7620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-2.1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-1.0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1.0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49"/>
          <p:cNvSpPr txBox="1"/>
          <p:nvPr/>
        </p:nvSpPr>
        <p:spPr>
          <a:xfrm>
            <a:off x="2661088" y="1681138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49"/>
          <p:cNvSpPr txBox="1"/>
          <p:nvPr/>
        </p:nvSpPr>
        <p:spPr>
          <a:xfrm>
            <a:off x="4149913" y="1681138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49"/>
          <p:cNvSpPr txBox="1"/>
          <p:nvPr/>
        </p:nvSpPr>
        <p:spPr>
          <a:xfrm>
            <a:off x="5744313" y="1681138"/>
            <a:ext cx="4104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+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49"/>
          <p:cNvSpPr/>
          <p:nvPr/>
        </p:nvSpPr>
        <p:spPr>
          <a:xfrm>
            <a:off x="1922550" y="1110375"/>
            <a:ext cx="410400" cy="1458000"/>
          </a:xfrm>
          <a:prstGeom prst="rect">
            <a:avLst/>
          </a:prstGeom>
          <a:noFill/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9"/>
          <p:cNvSpPr/>
          <p:nvPr/>
        </p:nvSpPr>
        <p:spPr>
          <a:xfrm>
            <a:off x="3130025" y="1110388"/>
            <a:ext cx="410400" cy="14580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9"/>
          <p:cNvSpPr/>
          <p:nvPr/>
        </p:nvSpPr>
        <p:spPr>
          <a:xfrm>
            <a:off x="4794700" y="1110375"/>
            <a:ext cx="410400" cy="14580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49"/>
          <p:cNvSpPr/>
          <p:nvPr/>
        </p:nvSpPr>
        <p:spPr>
          <a:xfrm>
            <a:off x="6459375" y="1110388"/>
            <a:ext cx="410400" cy="14580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6" name="Google Shape;556;p49"/>
          <p:cNvCxnSpPr>
            <a:stCxn id="545" idx="0"/>
            <a:endCxn id="552" idx="2"/>
          </p:cNvCxnSpPr>
          <p:nvPr/>
        </p:nvCxnSpPr>
        <p:spPr>
          <a:xfrm rot="10800000">
            <a:off x="2127750" y="2568450"/>
            <a:ext cx="0" cy="55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49"/>
          <p:cNvCxnSpPr>
            <a:stCxn id="546" idx="0"/>
            <a:endCxn id="553" idx="2"/>
          </p:cNvCxnSpPr>
          <p:nvPr/>
        </p:nvCxnSpPr>
        <p:spPr>
          <a:xfrm rot="10800000">
            <a:off x="3335225" y="2568450"/>
            <a:ext cx="0" cy="55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49"/>
          <p:cNvCxnSpPr>
            <a:stCxn id="547" idx="0"/>
            <a:endCxn id="554" idx="2"/>
          </p:cNvCxnSpPr>
          <p:nvPr/>
        </p:nvCxnSpPr>
        <p:spPr>
          <a:xfrm rot="10800000">
            <a:off x="4999900" y="2568450"/>
            <a:ext cx="0" cy="55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49"/>
          <p:cNvCxnSpPr>
            <a:stCxn id="548" idx="0"/>
            <a:endCxn id="555" idx="2"/>
          </p:cNvCxnSpPr>
          <p:nvPr/>
        </p:nvCxnSpPr>
        <p:spPr>
          <a:xfrm rot="10800000">
            <a:off x="6664575" y="2568450"/>
            <a:ext cx="0" cy="557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0" name="Google Shape;560;p49"/>
          <p:cNvSpPr/>
          <p:nvPr/>
        </p:nvSpPr>
        <p:spPr>
          <a:xfrm>
            <a:off x="1793625" y="973025"/>
            <a:ext cx="5252100" cy="1739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9"/>
          <p:cNvSpPr/>
          <p:nvPr/>
        </p:nvSpPr>
        <p:spPr>
          <a:xfrm>
            <a:off x="7588863" y="197140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9"/>
          <p:cNvSpPr/>
          <p:nvPr/>
        </p:nvSpPr>
        <p:spPr>
          <a:xfrm>
            <a:off x="7752967" y="2123800"/>
            <a:ext cx="164100" cy="241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9"/>
          <p:cNvSpPr/>
          <p:nvPr/>
        </p:nvSpPr>
        <p:spPr>
          <a:xfrm flipH="1" rot="10800000">
            <a:off x="7923550" y="226450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9"/>
          <p:cNvSpPr/>
          <p:nvPr/>
        </p:nvSpPr>
        <p:spPr>
          <a:xfrm>
            <a:off x="8087652" y="2264500"/>
            <a:ext cx="164100" cy="100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9"/>
          <p:cNvSpPr/>
          <p:nvPr/>
        </p:nvSpPr>
        <p:spPr>
          <a:xfrm>
            <a:off x="8251756" y="1456300"/>
            <a:ext cx="164100" cy="9087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9"/>
          <p:cNvSpPr/>
          <p:nvPr/>
        </p:nvSpPr>
        <p:spPr>
          <a:xfrm>
            <a:off x="8415861" y="1597300"/>
            <a:ext cx="164100" cy="767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9"/>
          <p:cNvSpPr/>
          <p:nvPr/>
        </p:nvSpPr>
        <p:spPr>
          <a:xfrm>
            <a:off x="8579941" y="1889500"/>
            <a:ext cx="164100" cy="475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/>
          <p:nvPr/>
        </p:nvSpPr>
        <p:spPr>
          <a:xfrm>
            <a:off x="8744045" y="2053600"/>
            <a:ext cx="164100" cy="311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9"/>
          <p:cNvSpPr/>
          <p:nvPr/>
        </p:nvSpPr>
        <p:spPr>
          <a:xfrm>
            <a:off x="8908150" y="1971400"/>
            <a:ext cx="164100" cy="393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9"/>
          <p:cNvSpPr/>
          <p:nvPr/>
        </p:nvSpPr>
        <p:spPr>
          <a:xfrm>
            <a:off x="7045725" y="1718800"/>
            <a:ext cx="548700" cy="241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9"/>
          <p:cNvSpPr txBox="1"/>
          <p:nvPr/>
        </p:nvSpPr>
        <p:spPr>
          <a:xfrm>
            <a:off x="7491050" y="3829950"/>
            <a:ext cx="9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= W</a:t>
            </a:r>
            <a:endParaRPr b="1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49"/>
          <p:cNvSpPr txBox="1"/>
          <p:nvPr/>
        </p:nvSpPr>
        <p:spPr>
          <a:xfrm>
            <a:off x="1746750" y="706475"/>
            <a:ext cx="548700" cy="47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baseline="-25000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 baseline="-25000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p49"/>
          <p:cNvSpPr txBox="1"/>
          <p:nvPr/>
        </p:nvSpPr>
        <p:spPr>
          <a:xfrm>
            <a:off x="2719750" y="706475"/>
            <a:ext cx="1122600" cy="47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baseline="-25000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walking, _</a:t>
            </a:r>
            <a:endParaRPr b="1" baseline="-25000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49"/>
          <p:cNvSpPr txBox="1"/>
          <p:nvPr/>
        </p:nvSpPr>
        <p:spPr>
          <a:xfrm>
            <a:off x="4350725" y="706475"/>
            <a:ext cx="762000" cy="47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baseline="-25000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_,  a</a:t>
            </a:r>
            <a:endParaRPr b="1" baseline="-25000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49"/>
          <p:cNvSpPr txBox="1"/>
          <p:nvPr/>
        </p:nvSpPr>
        <p:spPr>
          <a:xfrm>
            <a:off x="5621100" y="706475"/>
            <a:ext cx="1122600" cy="475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b="1" baseline="-25000"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V-ing, Det</a:t>
            </a:r>
            <a:endParaRPr b="1" baseline="-25000"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8765213" y="1254275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7481788" y="1254275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49"/>
          <p:cNvSpPr/>
          <p:nvPr/>
        </p:nvSpPr>
        <p:spPr>
          <a:xfrm rot="10800000">
            <a:off x="8144663" y="778775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7086093" y="1960200"/>
            <a:ext cx="420600" cy="39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9"/>
          <p:cNvSpPr/>
          <p:nvPr/>
        </p:nvSpPr>
        <p:spPr>
          <a:xfrm>
            <a:off x="6554638" y="2576313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4892188" y="257630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3229738" y="2576313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2020038" y="2576300"/>
            <a:ext cx="420600" cy="475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49"/>
          <p:cNvSpPr txBox="1"/>
          <p:nvPr/>
        </p:nvSpPr>
        <p:spPr>
          <a:xfrm>
            <a:off x="2330675" y="3126150"/>
            <a:ext cx="420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3529763" y="3126150"/>
            <a:ext cx="420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49"/>
          <p:cNvSpPr txBox="1"/>
          <p:nvPr/>
        </p:nvSpPr>
        <p:spPr>
          <a:xfrm>
            <a:off x="5202825" y="3126150"/>
            <a:ext cx="420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49"/>
          <p:cNvSpPr txBox="1"/>
          <p:nvPr/>
        </p:nvSpPr>
        <p:spPr>
          <a:xfrm>
            <a:off x="6867500" y="3126150"/>
            <a:ext cx="420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↑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Log-linear modeling</a:t>
            </a:r>
            <a:endParaRPr/>
          </a:p>
        </p:txBody>
      </p:sp>
      <p:sp>
        <p:nvSpPr>
          <p:cNvPr id="593" name="Google Shape;593;p50"/>
          <p:cNvSpPr txBox="1"/>
          <p:nvPr>
            <p:ph idx="1" type="body"/>
          </p:nvPr>
        </p:nvSpPr>
        <p:spPr>
          <a:xfrm>
            <a:off x="471900" y="1919075"/>
            <a:ext cx="82221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Log-linear modeling allows </a:t>
            </a:r>
            <a:r>
              <a:rPr b="1" lang="en" sz="2000"/>
              <a:t>rich features</a:t>
            </a:r>
            <a:r>
              <a:rPr lang="en" sz="2000"/>
              <a:t> with smaller space.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Count-based models: </a:t>
            </a:r>
            <a:r>
              <a:rPr b="1" lang="en" sz="2000"/>
              <a:t>O(V</a:t>
            </a:r>
            <a:r>
              <a:rPr b="1" baseline="30000" i="1" lang="en" sz="2000"/>
              <a:t>n</a:t>
            </a:r>
            <a:r>
              <a:rPr b="1" lang="en" sz="2000"/>
              <a:t>)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Log-linear models: </a:t>
            </a:r>
            <a:r>
              <a:rPr b="1" lang="en" sz="2000"/>
              <a:t>O(V F)</a:t>
            </a:r>
            <a:r>
              <a:rPr lang="en" sz="2000"/>
              <a:t> where F = # of features, e.g., walking at the 1st position.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Sparsity</a:t>
            </a:r>
            <a:r>
              <a:rPr lang="en" sz="2000"/>
              <a:t> problem: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More features, e.g., three word combinations, for better capacity, but demands more memory.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Note: the similar problem exists in count-based models, i.e., </a:t>
            </a:r>
            <a:r>
              <a:rPr i="1" lang="en" sz="2000"/>
              <a:t>n</a:t>
            </a:r>
            <a:r>
              <a:rPr lang="en" sz="2000"/>
              <a:t>.</a:t>
            </a:r>
            <a:endParaRPr sz="2000"/>
          </a:p>
        </p:txBody>
      </p:sp>
      <p:sp>
        <p:nvSpPr>
          <p:cNvPr id="594" name="Google Shape;594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Language Models</a:t>
            </a:r>
            <a:endParaRPr/>
          </a:p>
        </p:txBody>
      </p:sp>
      <p:sp>
        <p:nvSpPr>
          <p:cNvPr id="600" name="Google Shape;600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"/>
          <p:cNvSpPr txBox="1"/>
          <p:nvPr/>
        </p:nvSpPr>
        <p:spPr>
          <a:xfrm>
            <a:off x="4396375" y="2858138"/>
            <a:ext cx="9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52"/>
          <p:cNvSpPr txBox="1"/>
          <p:nvPr/>
        </p:nvSpPr>
        <p:spPr>
          <a:xfrm>
            <a:off x="4396375" y="2131488"/>
            <a:ext cx="9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="1"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 vector representation of words</a:t>
            </a:r>
            <a:endParaRPr/>
          </a:p>
        </p:txBody>
      </p:sp>
      <p:sp>
        <p:nvSpPr>
          <p:cNvPr id="608" name="Google Shape;608;p5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Instead of </a:t>
            </a:r>
            <a:r>
              <a:rPr b="1" lang="en" sz="2000"/>
              <a:t>W ∈ R</a:t>
            </a:r>
            <a:r>
              <a:rPr b="1" baseline="30000" lang="en" sz="2000"/>
              <a:t>V × F</a:t>
            </a:r>
            <a:r>
              <a:rPr lang="en" sz="2000"/>
              <a:t>, employ </a:t>
            </a:r>
            <a:r>
              <a:rPr b="1" lang="en" sz="2000">
                <a:solidFill>
                  <a:schemeClr val="dk2"/>
                </a:solidFill>
              </a:rPr>
              <a:t>E</a:t>
            </a:r>
            <a:r>
              <a:rPr lang="en" sz="2000"/>
              <a:t> </a:t>
            </a:r>
            <a:r>
              <a:rPr b="1" lang="en" sz="2000"/>
              <a:t>∈ R</a:t>
            </a:r>
            <a:r>
              <a:rPr b="1" baseline="30000" lang="en" sz="2000"/>
              <a:t>m × V</a:t>
            </a:r>
            <a:r>
              <a:rPr lang="en" sz="2000"/>
              <a:t>  as features (m &lt;&lt; V and V &lt;&lt; F).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Feature combination is represented through </a:t>
            </a:r>
            <a:r>
              <a:rPr lang="en" sz="2000">
                <a:solidFill>
                  <a:srgbClr val="741B47"/>
                </a:solidFill>
              </a:rPr>
              <a:t>matmul</a:t>
            </a:r>
            <a:r>
              <a:rPr lang="en" sz="2000"/>
              <a:t>, </a:t>
            </a:r>
            <a:r>
              <a:rPr lang="en" sz="2000">
                <a:solidFill>
                  <a:schemeClr val="accent3"/>
                </a:solidFill>
              </a:rPr>
              <a:t>bias</a:t>
            </a:r>
            <a:r>
              <a:rPr lang="en" sz="2000"/>
              <a:t> and </a:t>
            </a:r>
            <a:r>
              <a:rPr lang="en" sz="2000">
                <a:solidFill>
                  <a:schemeClr val="accent2"/>
                </a:solidFill>
              </a:rPr>
              <a:t>activation, e.g., tanh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Back to V dimension via </a:t>
            </a:r>
            <a:r>
              <a:rPr lang="en" sz="2000">
                <a:solidFill>
                  <a:schemeClr val="accent6"/>
                </a:solidFill>
              </a:rPr>
              <a:t>matmal</a:t>
            </a:r>
            <a:r>
              <a:rPr lang="en" sz="2000"/>
              <a:t>, then, </a:t>
            </a:r>
            <a:r>
              <a:rPr lang="en" sz="2000">
                <a:solidFill>
                  <a:schemeClr val="accent1"/>
                </a:solidFill>
              </a:rPr>
              <a:t>softmax</a:t>
            </a:r>
            <a:r>
              <a:rPr lang="en" sz="2000"/>
              <a:t>.</a:t>
            </a:r>
            <a:endParaRPr sz="2000"/>
          </a:p>
        </p:txBody>
      </p:sp>
      <p:sp>
        <p:nvSpPr>
          <p:cNvPr id="609" name="Google Shape;609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0" name="Google Shape;610;p52"/>
          <p:cNvSpPr/>
          <p:nvPr/>
        </p:nvSpPr>
        <p:spPr>
          <a:xfrm>
            <a:off x="4690075" y="3954975"/>
            <a:ext cx="2767200" cy="644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4766200" y="28508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52"/>
          <p:cNvSpPr/>
          <p:nvPr/>
        </p:nvSpPr>
        <p:spPr>
          <a:xfrm>
            <a:off x="476620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2"/>
          <p:cNvSpPr/>
          <p:nvPr/>
        </p:nvSpPr>
        <p:spPr>
          <a:xfrm>
            <a:off x="5282925" y="2129750"/>
            <a:ext cx="840300" cy="644700"/>
          </a:xfrm>
          <a:prstGeom prst="rect">
            <a:avLst/>
          </a:prstGeom>
          <a:noFill/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endParaRPr b="1"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642385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2"/>
          <p:cNvSpPr txBox="1"/>
          <p:nvPr/>
        </p:nvSpPr>
        <p:spPr>
          <a:xfrm>
            <a:off x="6031675" y="2234700"/>
            <a:ext cx="480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1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699145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52"/>
          <p:cNvSpPr txBox="1"/>
          <p:nvPr/>
        </p:nvSpPr>
        <p:spPr>
          <a:xfrm>
            <a:off x="6714850" y="1782450"/>
            <a:ext cx="8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tanh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52"/>
          <p:cNvCxnSpPr>
            <a:stCxn id="614" idx="3"/>
            <a:endCxn id="616" idx="1"/>
          </p:cNvCxnSpPr>
          <p:nvPr/>
        </p:nvCxnSpPr>
        <p:spPr>
          <a:xfrm>
            <a:off x="6693550" y="2452100"/>
            <a:ext cx="2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9" name="Google Shape;619;p52"/>
          <p:cNvSpPr/>
          <p:nvPr/>
        </p:nvSpPr>
        <p:spPr>
          <a:xfrm>
            <a:off x="7559075" y="2129750"/>
            <a:ext cx="679200" cy="20712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endParaRPr b="1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8511975" y="2129750"/>
            <a:ext cx="269700" cy="2071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2"/>
          <p:cNvSpPr txBox="1"/>
          <p:nvPr/>
        </p:nvSpPr>
        <p:spPr>
          <a:xfrm>
            <a:off x="7748625" y="1688375"/>
            <a:ext cx="116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2" name="Google Shape;622;p52"/>
          <p:cNvCxnSpPr/>
          <p:nvPr/>
        </p:nvCxnSpPr>
        <p:spPr>
          <a:xfrm flipH="1" rot="10800000">
            <a:off x="8249250" y="2487975"/>
            <a:ext cx="240000" cy="10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52"/>
          <p:cNvCxnSpPr>
            <a:stCxn id="616" idx="3"/>
          </p:cNvCxnSpPr>
          <p:nvPr/>
        </p:nvCxnSpPr>
        <p:spPr>
          <a:xfrm flipH="1" rot="10800000">
            <a:off x="7261150" y="2449400"/>
            <a:ext cx="302400" cy="2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4" name="Google Shape;624;p52"/>
          <p:cNvCxnSpPr>
            <a:stCxn id="612" idx="3"/>
            <a:endCxn id="613" idx="1"/>
          </p:cNvCxnSpPr>
          <p:nvPr/>
        </p:nvCxnSpPr>
        <p:spPr>
          <a:xfrm>
            <a:off x="5035900" y="2452100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52"/>
          <p:cNvSpPr/>
          <p:nvPr/>
        </p:nvSpPr>
        <p:spPr>
          <a:xfrm>
            <a:off x="4899375" y="3515050"/>
            <a:ext cx="840200" cy="425550"/>
          </a:xfrm>
          <a:custGeom>
            <a:rect b="b" l="l" r="r" t="t"/>
            <a:pathLst>
              <a:path extrusionOk="0" h="17022" w="33608">
                <a:moveTo>
                  <a:pt x="0" y="0"/>
                </a:moveTo>
                <a:cubicBezTo>
                  <a:pt x="1164" y="2110"/>
                  <a:pt x="3419" y="11348"/>
                  <a:pt x="6983" y="12657"/>
                </a:cubicBezTo>
                <a:cubicBezTo>
                  <a:pt x="10547" y="13966"/>
                  <a:pt x="16949" y="7129"/>
                  <a:pt x="21386" y="7856"/>
                </a:cubicBezTo>
                <a:cubicBezTo>
                  <a:pt x="25824" y="8584"/>
                  <a:pt x="31571" y="15494"/>
                  <a:pt x="33608" y="1702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626" name="Google Shape;626;p52"/>
          <p:cNvSpPr/>
          <p:nvPr/>
        </p:nvSpPr>
        <p:spPr>
          <a:xfrm>
            <a:off x="5084850" y="2797663"/>
            <a:ext cx="1985950" cy="1145725"/>
          </a:xfrm>
          <a:custGeom>
            <a:rect b="b" l="l" r="r" t="t"/>
            <a:pathLst>
              <a:path extrusionOk="0" h="45829" w="79438">
                <a:moveTo>
                  <a:pt x="0" y="0"/>
                </a:moveTo>
                <a:cubicBezTo>
                  <a:pt x="2764" y="4292"/>
                  <a:pt x="6475" y="20951"/>
                  <a:pt x="16586" y="25752"/>
                </a:cubicBezTo>
                <a:cubicBezTo>
                  <a:pt x="26698" y="30553"/>
                  <a:pt x="50194" y="25461"/>
                  <a:pt x="60669" y="28807"/>
                </a:cubicBezTo>
                <a:cubicBezTo>
                  <a:pt x="71144" y="32153"/>
                  <a:pt x="76310" y="42992"/>
                  <a:pt x="79438" y="4582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627" name="Google Shape;627;p52"/>
          <p:cNvSpPr txBox="1"/>
          <p:nvPr/>
        </p:nvSpPr>
        <p:spPr>
          <a:xfrm>
            <a:off x="4081750" y="4631000"/>
            <a:ext cx="47682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It is a simpler version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(Bengio et al., 2003)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8" name="Google Shape;628;p52"/>
          <p:cNvCxnSpPr>
            <a:stCxn id="611" idx="3"/>
            <a:endCxn id="613" idx="1"/>
          </p:cNvCxnSpPr>
          <p:nvPr/>
        </p:nvCxnSpPr>
        <p:spPr>
          <a:xfrm flipH="1" rot="10800000">
            <a:off x="5035900" y="2452000"/>
            <a:ext cx="246900" cy="7212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5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Neural LMs based on Feed-forward Neural Networks.</a:t>
            </a:r>
            <a:endParaRPr/>
          </a:p>
        </p:txBody>
      </p:sp>
      <p:sp>
        <p:nvSpPr>
          <p:cNvPr id="634" name="Google Shape;634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53"/>
          <p:cNvSpPr txBox="1"/>
          <p:nvPr/>
        </p:nvSpPr>
        <p:spPr>
          <a:xfrm>
            <a:off x="4396375" y="2858138"/>
            <a:ext cx="9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53"/>
          <p:cNvSpPr txBox="1"/>
          <p:nvPr/>
        </p:nvSpPr>
        <p:spPr>
          <a:xfrm>
            <a:off x="4396375" y="2131488"/>
            <a:ext cx="9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="1"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53"/>
          <p:cNvSpPr/>
          <p:nvPr/>
        </p:nvSpPr>
        <p:spPr>
          <a:xfrm>
            <a:off x="4690075" y="3954975"/>
            <a:ext cx="2767200" cy="6447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53"/>
          <p:cNvSpPr/>
          <p:nvPr/>
        </p:nvSpPr>
        <p:spPr>
          <a:xfrm>
            <a:off x="4766200" y="28508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3"/>
          <p:cNvSpPr/>
          <p:nvPr/>
        </p:nvSpPr>
        <p:spPr>
          <a:xfrm>
            <a:off x="476620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3"/>
          <p:cNvSpPr/>
          <p:nvPr/>
        </p:nvSpPr>
        <p:spPr>
          <a:xfrm>
            <a:off x="5282925" y="2129750"/>
            <a:ext cx="840300" cy="644700"/>
          </a:xfrm>
          <a:prstGeom prst="rect">
            <a:avLst/>
          </a:prstGeom>
          <a:noFill/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endParaRPr b="1"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3"/>
          <p:cNvSpPr/>
          <p:nvPr/>
        </p:nvSpPr>
        <p:spPr>
          <a:xfrm>
            <a:off x="642385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3"/>
          <p:cNvSpPr txBox="1"/>
          <p:nvPr/>
        </p:nvSpPr>
        <p:spPr>
          <a:xfrm>
            <a:off x="6031675" y="2234700"/>
            <a:ext cx="480600" cy="5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b="1" sz="21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3"/>
          <p:cNvSpPr/>
          <p:nvPr/>
        </p:nvSpPr>
        <p:spPr>
          <a:xfrm>
            <a:off x="6991450" y="212975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3"/>
          <p:cNvSpPr txBox="1"/>
          <p:nvPr/>
        </p:nvSpPr>
        <p:spPr>
          <a:xfrm>
            <a:off x="6714850" y="1781100"/>
            <a:ext cx="8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tanh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53"/>
          <p:cNvCxnSpPr>
            <a:stCxn id="641" idx="3"/>
            <a:endCxn id="643" idx="1"/>
          </p:cNvCxnSpPr>
          <p:nvPr/>
        </p:nvCxnSpPr>
        <p:spPr>
          <a:xfrm>
            <a:off x="6693550" y="2452100"/>
            <a:ext cx="297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p53"/>
          <p:cNvSpPr/>
          <p:nvPr/>
        </p:nvSpPr>
        <p:spPr>
          <a:xfrm>
            <a:off x="7559075" y="2129750"/>
            <a:ext cx="679200" cy="20712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endParaRPr b="1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53"/>
          <p:cNvSpPr/>
          <p:nvPr/>
        </p:nvSpPr>
        <p:spPr>
          <a:xfrm>
            <a:off x="8511975" y="2129750"/>
            <a:ext cx="269700" cy="2071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53"/>
          <p:cNvSpPr txBox="1"/>
          <p:nvPr/>
        </p:nvSpPr>
        <p:spPr>
          <a:xfrm>
            <a:off x="7748625" y="1688375"/>
            <a:ext cx="116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9" name="Google Shape;649;p53"/>
          <p:cNvCxnSpPr/>
          <p:nvPr/>
        </p:nvCxnSpPr>
        <p:spPr>
          <a:xfrm flipH="1" rot="10800000">
            <a:off x="8249250" y="2487975"/>
            <a:ext cx="240000" cy="10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53"/>
          <p:cNvCxnSpPr>
            <a:stCxn id="643" idx="3"/>
          </p:cNvCxnSpPr>
          <p:nvPr/>
        </p:nvCxnSpPr>
        <p:spPr>
          <a:xfrm flipH="1" rot="10800000">
            <a:off x="7261150" y="2449400"/>
            <a:ext cx="302400" cy="2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53"/>
          <p:cNvCxnSpPr>
            <a:stCxn id="639" idx="3"/>
            <a:endCxn id="640" idx="1"/>
          </p:cNvCxnSpPr>
          <p:nvPr/>
        </p:nvCxnSpPr>
        <p:spPr>
          <a:xfrm>
            <a:off x="5035900" y="2452100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53"/>
          <p:cNvSpPr/>
          <p:nvPr/>
        </p:nvSpPr>
        <p:spPr>
          <a:xfrm>
            <a:off x="4899375" y="3515050"/>
            <a:ext cx="840200" cy="425550"/>
          </a:xfrm>
          <a:custGeom>
            <a:rect b="b" l="l" r="r" t="t"/>
            <a:pathLst>
              <a:path extrusionOk="0" h="17022" w="33608">
                <a:moveTo>
                  <a:pt x="0" y="0"/>
                </a:moveTo>
                <a:cubicBezTo>
                  <a:pt x="1164" y="2110"/>
                  <a:pt x="3419" y="11348"/>
                  <a:pt x="6983" y="12657"/>
                </a:cubicBezTo>
                <a:cubicBezTo>
                  <a:pt x="10547" y="13966"/>
                  <a:pt x="16949" y="7129"/>
                  <a:pt x="21386" y="7856"/>
                </a:cubicBezTo>
                <a:cubicBezTo>
                  <a:pt x="25824" y="8584"/>
                  <a:pt x="31571" y="15494"/>
                  <a:pt x="33608" y="1702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653" name="Google Shape;653;p53"/>
          <p:cNvSpPr/>
          <p:nvPr/>
        </p:nvSpPr>
        <p:spPr>
          <a:xfrm>
            <a:off x="5084850" y="2797663"/>
            <a:ext cx="1985950" cy="1145725"/>
          </a:xfrm>
          <a:custGeom>
            <a:rect b="b" l="l" r="r" t="t"/>
            <a:pathLst>
              <a:path extrusionOk="0" h="45829" w="79438">
                <a:moveTo>
                  <a:pt x="0" y="0"/>
                </a:moveTo>
                <a:cubicBezTo>
                  <a:pt x="2764" y="4292"/>
                  <a:pt x="6475" y="20951"/>
                  <a:pt x="16586" y="25752"/>
                </a:cubicBezTo>
                <a:cubicBezTo>
                  <a:pt x="26698" y="30553"/>
                  <a:pt x="50194" y="25461"/>
                  <a:pt x="60669" y="28807"/>
                </a:cubicBezTo>
                <a:cubicBezTo>
                  <a:pt x="71144" y="32153"/>
                  <a:pt x="76310" y="42992"/>
                  <a:pt x="79438" y="4582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sp>
      <p:sp>
        <p:nvSpPr>
          <p:cNvPr id="654" name="Google Shape;654;p53"/>
          <p:cNvSpPr txBox="1"/>
          <p:nvPr/>
        </p:nvSpPr>
        <p:spPr>
          <a:xfrm>
            <a:off x="4081750" y="4631000"/>
            <a:ext cx="47682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It is a simpler version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(Bengio et al., 2003)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53"/>
          <p:cNvCxnSpPr>
            <a:stCxn id="638" idx="3"/>
            <a:endCxn id="640" idx="1"/>
          </p:cNvCxnSpPr>
          <p:nvPr/>
        </p:nvCxnSpPr>
        <p:spPr>
          <a:xfrm flipH="1" rot="10800000">
            <a:off x="5035900" y="2452000"/>
            <a:ext cx="246900" cy="721200"/>
          </a:xfrm>
          <a:prstGeom prst="straightConnector1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53"/>
          <p:cNvSpPr/>
          <p:nvPr/>
        </p:nvSpPr>
        <p:spPr>
          <a:xfrm>
            <a:off x="1077975" y="2187875"/>
            <a:ext cx="3174300" cy="1145700"/>
          </a:xfrm>
          <a:prstGeom prst="wedgeRectCallout">
            <a:avLst>
              <a:gd fmla="val 65627" name="adj1"/>
              <a:gd fmla="val 308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Share similar meanings/semantics via vectors for every input words: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53"/>
          <p:cNvSpPr/>
          <p:nvPr/>
        </p:nvSpPr>
        <p:spPr>
          <a:xfrm>
            <a:off x="1077975" y="1240550"/>
            <a:ext cx="2927400" cy="889200"/>
          </a:xfrm>
          <a:prstGeom prst="wedgeRectCallout">
            <a:avLst>
              <a:gd fmla="val 91729" name="adj1"/>
              <a:gd fmla="val 47034" name="adj2"/>
            </a:avLst>
          </a:prstGeom>
          <a:noFill/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Feature combination</a:t>
            </a:r>
            <a:r>
              <a:rPr lang="en" sz="18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 by matmul: no </a:t>
            </a:r>
            <a:r>
              <a:rPr i="1" lang="en" sz="18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" sz="1800">
                <a:solidFill>
                  <a:srgbClr val="741B47"/>
                </a:solidFill>
                <a:latin typeface="Roboto"/>
                <a:ea typeface="Roboto"/>
                <a:cs typeface="Roboto"/>
                <a:sym typeface="Roboto"/>
              </a:rPr>
              <a:t>-gram storage</a:t>
            </a:r>
            <a:endParaRPr sz="1800">
              <a:solidFill>
                <a:srgbClr val="741B4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53"/>
          <p:cNvSpPr/>
          <p:nvPr/>
        </p:nvSpPr>
        <p:spPr>
          <a:xfrm>
            <a:off x="4092500" y="781025"/>
            <a:ext cx="2601300" cy="889200"/>
          </a:xfrm>
          <a:prstGeom prst="wedgeRectCallout">
            <a:avLst>
              <a:gd fmla="val 56367" name="adj1"/>
              <a:gd fmla="val 77438" name="adj2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Similar contexts gets similar representations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6846950" y="709125"/>
            <a:ext cx="2225400" cy="721200"/>
          </a:xfrm>
          <a:prstGeom prst="wedgeRectCallout">
            <a:avLst>
              <a:gd fmla="val 29400" name="adj1"/>
              <a:gd fmla="val 96676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Similar outputs get similar softmax.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529000" y="3388075"/>
            <a:ext cx="3476400" cy="1536600"/>
          </a:xfrm>
          <a:prstGeom prst="wedgeRectCallout">
            <a:avLst>
              <a:gd fmla="val 67748" name="adj1"/>
              <a:gd fmla="val -50820" name="adj2"/>
            </a:avLst>
          </a:prstGeom>
          <a:noFill/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Remaining problems: Fixed </a:t>
            </a:r>
            <a:r>
              <a:rPr i="1" lang="en" sz="18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" sz="18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" sz="18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Sentences do not have length limits</a:t>
            </a:r>
            <a:r>
              <a:rPr lang="en" sz="1800">
                <a:solidFill>
                  <a:srgbClr val="B45F0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B45F0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Recurrent Language Models</a:t>
            </a:r>
            <a:endParaRPr/>
          </a:p>
        </p:txBody>
      </p:sp>
      <p:sp>
        <p:nvSpPr>
          <p:cNvPr id="666" name="Google Shape;666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Long-distance dependencies </a:t>
            </a:r>
            <a:endParaRPr/>
          </a:p>
        </p:txBody>
      </p:sp>
      <p:sp>
        <p:nvSpPr>
          <p:cNvPr id="672" name="Google Shape;672;p55"/>
          <p:cNvSpPr txBox="1"/>
          <p:nvPr>
            <p:ph idx="1" type="body"/>
          </p:nvPr>
        </p:nvSpPr>
        <p:spPr>
          <a:xfrm>
            <a:off x="471900" y="1919075"/>
            <a:ext cx="82221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Agreement in gender, number or categories.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b="1" lang="en" sz="2000"/>
              <a:t>man</a:t>
            </a:r>
            <a:r>
              <a:rPr lang="en" sz="2000"/>
              <a:t> with a very large blue bag walked to </a:t>
            </a:r>
            <a:r>
              <a:rPr b="1" lang="en" sz="2000"/>
              <a:t>his</a:t>
            </a:r>
            <a:r>
              <a:rPr lang="en" sz="2000"/>
              <a:t> car.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b="1" lang="en" sz="2000"/>
              <a:t>woman</a:t>
            </a:r>
            <a:r>
              <a:rPr lang="en" sz="2000"/>
              <a:t> with a very large blue bag walked to </a:t>
            </a:r>
            <a:r>
              <a:rPr b="1" lang="en" sz="2000"/>
              <a:t>her</a:t>
            </a:r>
            <a:r>
              <a:rPr lang="en" sz="2000"/>
              <a:t> car.</a:t>
            </a:r>
            <a:endParaRPr sz="2000"/>
          </a:p>
        </p:txBody>
      </p:sp>
      <p:sp>
        <p:nvSpPr>
          <p:cNvPr id="673" name="Google Shape;673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55"/>
          <p:cNvSpPr txBox="1"/>
          <p:nvPr/>
        </p:nvSpPr>
        <p:spPr>
          <a:xfrm>
            <a:off x="5403275" y="4546800"/>
            <a:ext cx="32907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(Winograd Schema Challenge)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55"/>
          <p:cNvSpPr txBox="1"/>
          <p:nvPr>
            <p:ph idx="1" type="body"/>
          </p:nvPr>
        </p:nvSpPr>
        <p:spPr>
          <a:xfrm>
            <a:off x="460950" y="1919075"/>
            <a:ext cx="82221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Complicated dependence: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</a:t>
            </a:r>
            <a:r>
              <a:rPr b="1" lang="en" sz="2000">
                <a:solidFill>
                  <a:schemeClr val="accent3"/>
                </a:solidFill>
              </a:rPr>
              <a:t>trophy</a:t>
            </a:r>
            <a:r>
              <a:rPr lang="en" sz="2000"/>
              <a:t> would not fit in the brown suitcase because </a:t>
            </a:r>
            <a:r>
              <a:rPr b="1" lang="en" sz="2000"/>
              <a:t>it</a:t>
            </a:r>
            <a:r>
              <a:rPr lang="en" sz="2000"/>
              <a:t> was too </a:t>
            </a:r>
            <a:r>
              <a:rPr b="1" lang="en" sz="2000"/>
              <a:t>big</a:t>
            </a:r>
            <a:r>
              <a:rPr lang="en" sz="2000"/>
              <a:t>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trophy would not fit in the brown </a:t>
            </a:r>
            <a:r>
              <a:rPr b="1" lang="en" sz="2000">
                <a:solidFill>
                  <a:schemeClr val="accent2"/>
                </a:solidFill>
              </a:rPr>
              <a:t>suitcase</a:t>
            </a:r>
            <a:r>
              <a:rPr lang="en" sz="2000"/>
              <a:t> because </a:t>
            </a:r>
            <a:r>
              <a:rPr b="1" lang="en" sz="2000"/>
              <a:t>it</a:t>
            </a:r>
            <a:r>
              <a:rPr lang="en" sz="2000"/>
              <a:t> was too </a:t>
            </a:r>
            <a:r>
              <a:rPr b="1" lang="en" sz="2000"/>
              <a:t>small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Recurrent Neural Networks (RNNs)</a:t>
            </a:r>
            <a:endParaRPr/>
          </a:p>
        </p:txBody>
      </p:sp>
      <p:sp>
        <p:nvSpPr>
          <p:cNvPr id="681" name="Google Shape;681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2" name="Google Shape;682;p56"/>
          <p:cNvSpPr txBox="1"/>
          <p:nvPr/>
        </p:nvSpPr>
        <p:spPr>
          <a:xfrm>
            <a:off x="7031400" y="4667875"/>
            <a:ext cx="16626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(Elman, 1990)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56"/>
          <p:cNvSpPr txBox="1"/>
          <p:nvPr/>
        </p:nvSpPr>
        <p:spPr>
          <a:xfrm>
            <a:off x="1694525" y="45090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input context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56"/>
          <p:cNvSpPr/>
          <p:nvPr/>
        </p:nvSpPr>
        <p:spPr>
          <a:xfrm>
            <a:off x="1694525" y="3406125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6"/>
          <p:cNvSpPr/>
          <p:nvPr/>
        </p:nvSpPr>
        <p:spPr>
          <a:xfrm>
            <a:off x="1694525" y="39575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6"/>
          <p:cNvSpPr txBox="1"/>
          <p:nvPr/>
        </p:nvSpPr>
        <p:spPr>
          <a:xfrm>
            <a:off x="1694525" y="219495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output label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6"/>
          <p:cNvCxnSpPr>
            <a:stCxn id="683" idx="0"/>
            <a:endCxn id="685" idx="2"/>
          </p:cNvCxnSpPr>
          <p:nvPr/>
        </p:nvCxnSpPr>
        <p:spPr>
          <a:xfrm rot="10800000">
            <a:off x="2525825" y="4242900"/>
            <a:ext cx="0" cy="2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56"/>
          <p:cNvCxnSpPr>
            <a:stCxn id="685" idx="0"/>
            <a:endCxn id="684" idx="2"/>
          </p:cNvCxnSpPr>
          <p:nvPr/>
        </p:nvCxnSpPr>
        <p:spPr>
          <a:xfrm rot="10800000">
            <a:off x="2525825" y="3691463"/>
            <a:ext cx="0" cy="2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56"/>
          <p:cNvCxnSpPr>
            <a:stCxn id="684" idx="0"/>
            <a:endCxn id="690" idx="2"/>
          </p:cNvCxnSpPr>
          <p:nvPr/>
        </p:nvCxnSpPr>
        <p:spPr>
          <a:xfrm rot="10800000">
            <a:off x="2525825" y="3140025"/>
            <a:ext cx="0" cy="2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56"/>
          <p:cNvSpPr txBox="1"/>
          <p:nvPr/>
        </p:nvSpPr>
        <p:spPr>
          <a:xfrm>
            <a:off x="1384775" y="1709950"/>
            <a:ext cx="22821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Feed-forward NN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56"/>
          <p:cNvSpPr txBox="1"/>
          <p:nvPr/>
        </p:nvSpPr>
        <p:spPr>
          <a:xfrm>
            <a:off x="4723725" y="1709950"/>
            <a:ext cx="22821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Recurrent NN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6"/>
          <p:cNvSpPr/>
          <p:nvPr/>
        </p:nvSpPr>
        <p:spPr>
          <a:xfrm>
            <a:off x="1694525" y="28546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3" name="Google Shape;693;p56"/>
          <p:cNvCxnSpPr>
            <a:stCxn id="690" idx="0"/>
            <a:endCxn id="686" idx="2"/>
          </p:cNvCxnSpPr>
          <p:nvPr/>
        </p:nvCxnSpPr>
        <p:spPr>
          <a:xfrm rot="10800000">
            <a:off x="2525825" y="2588588"/>
            <a:ext cx="0" cy="26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94" name="Google Shape;694;p56"/>
          <p:cNvGrpSpPr/>
          <p:nvPr/>
        </p:nvGrpSpPr>
        <p:grpSpPr>
          <a:xfrm>
            <a:off x="5033475" y="2194950"/>
            <a:ext cx="3538275" cy="2707650"/>
            <a:chOff x="5033475" y="2194950"/>
            <a:chExt cx="3538275" cy="2707650"/>
          </a:xfrm>
        </p:grpSpPr>
        <p:sp>
          <p:nvSpPr>
            <p:cNvPr id="695" name="Google Shape;695;p56"/>
            <p:cNvSpPr txBox="1"/>
            <p:nvPr/>
          </p:nvSpPr>
          <p:spPr>
            <a:xfrm>
              <a:off x="7153650" y="3208875"/>
              <a:ext cx="14181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Recurrent connection</a:t>
              </a:r>
              <a:endParaRPr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6" name="Google Shape;696;p56"/>
            <p:cNvSpPr txBox="1"/>
            <p:nvPr/>
          </p:nvSpPr>
          <p:spPr>
            <a:xfrm>
              <a:off x="5033475" y="450900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input context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7" name="Google Shape;697;p56"/>
            <p:cNvSpPr/>
            <p:nvPr/>
          </p:nvSpPr>
          <p:spPr>
            <a:xfrm>
              <a:off x="5033475" y="3406125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8" name="Google Shape;698;p56"/>
            <p:cNvSpPr/>
            <p:nvPr/>
          </p:nvSpPr>
          <p:spPr>
            <a:xfrm>
              <a:off x="5033475" y="3957563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embedding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9" name="Google Shape;699;p56"/>
            <p:cNvSpPr txBox="1"/>
            <p:nvPr/>
          </p:nvSpPr>
          <p:spPr>
            <a:xfrm>
              <a:off x="5033475" y="219495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output label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00" name="Google Shape;700;p56"/>
            <p:cNvCxnSpPr>
              <a:stCxn id="696" idx="0"/>
              <a:endCxn id="698" idx="2"/>
            </p:cNvCxnSpPr>
            <p:nvPr/>
          </p:nvCxnSpPr>
          <p:spPr>
            <a:xfrm rot="10800000">
              <a:off x="5864775" y="4242900"/>
              <a:ext cx="0" cy="26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1" name="Google Shape;701;p56"/>
            <p:cNvCxnSpPr>
              <a:stCxn id="698" idx="0"/>
              <a:endCxn id="697" idx="2"/>
            </p:cNvCxnSpPr>
            <p:nvPr/>
          </p:nvCxnSpPr>
          <p:spPr>
            <a:xfrm rot="10800000">
              <a:off x="5864775" y="3691463"/>
              <a:ext cx="0" cy="26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2" name="Google Shape;702;p56"/>
            <p:cNvCxnSpPr>
              <a:stCxn id="697" idx="0"/>
              <a:endCxn id="703" idx="2"/>
            </p:cNvCxnSpPr>
            <p:nvPr/>
          </p:nvCxnSpPr>
          <p:spPr>
            <a:xfrm rot="10800000">
              <a:off x="5864775" y="3140025"/>
              <a:ext cx="0" cy="26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03" name="Google Shape;703;p56"/>
            <p:cNvSpPr/>
            <p:nvPr/>
          </p:nvSpPr>
          <p:spPr>
            <a:xfrm>
              <a:off x="5033475" y="2854688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04" name="Google Shape;704;p56"/>
            <p:cNvCxnSpPr>
              <a:stCxn id="703" idx="0"/>
              <a:endCxn id="699" idx="2"/>
            </p:cNvCxnSpPr>
            <p:nvPr/>
          </p:nvCxnSpPr>
          <p:spPr>
            <a:xfrm rot="10800000">
              <a:off x="5864775" y="2588588"/>
              <a:ext cx="0" cy="266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5" name="Google Shape;705;p56"/>
            <p:cNvCxnSpPr>
              <a:stCxn id="697" idx="0"/>
              <a:endCxn id="697" idx="2"/>
            </p:cNvCxnSpPr>
            <p:nvPr/>
          </p:nvCxnSpPr>
          <p:spPr>
            <a:xfrm flipH="1" rot="-5400000">
              <a:off x="5722425" y="3548475"/>
              <a:ext cx="285300" cy="600"/>
            </a:xfrm>
            <a:prstGeom prst="curvedConnector5">
              <a:avLst>
                <a:gd fmla="val -81379" name="adj1"/>
                <a:gd fmla="val 208570833" name="adj2"/>
                <a:gd fmla="val 179083" name="adj3"/>
              </a:avLst>
            </a:prstGeom>
            <a:noFill/>
            <a:ln cap="flat" cmpd="sng" w="3810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 as LM</a:t>
            </a:r>
            <a:endParaRPr/>
          </a:p>
        </p:txBody>
      </p:sp>
      <p:sp>
        <p:nvSpPr>
          <p:cNvPr id="711" name="Google Shape;711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2" name="Google Shape;712;p57"/>
          <p:cNvSpPr/>
          <p:nvPr/>
        </p:nvSpPr>
        <p:spPr>
          <a:xfrm>
            <a:off x="2194700" y="1302800"/>
            <a:ext cx="1044000" cy="806100"/>
          </a:xfrm>
          <a:prstGeom prst="wedgeRectCallout">
            <a:avLst>
              <a:gd fmla="val -57541" name="adj1"/>
              <a:gd fmla="val 144625" name="adj2"/>
            </a:avLst>
          </a:prstGeom>
          <a:solidFill>
            <a:srgbClr val="A64D79">
              <a:alpha val="20000"/>
            </a:srgbClr>
          </a:solidFill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hidden</a:t>
            </a: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 states</a:t>
            </a:r>
            <a:endParaRPr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3" name="Google Shape;713;p57"/>
          <p:cNvGrpSpPr/>
          <p:nvPr/>
        </p:nvGrpSpPr>
        <p:grpSpPr>
          <a:xfrm>
            <a:off x="104400" y="1715300"/>
            <a:ext cx="2696975" cy="3171500"/>
            <a:chOff x="104400" y="1715300"/>
            <a:chExt cx="2696975" cy="3171500"/>
          </a:xfrm>
        </p:grpSpPr>
        <p:cxnSp>
          <p:nvCxnSpPr>
            <p:cNvPr id="714" name="Google Shape;714;p57"/>
            <p:cNvCxnSpPr>
              <a:stCxn id="715" idx="0"/>
              <a:endCxn id="716" idx="2"/>
            </p:cNvCxnSpPr>
            <p:nvPr/>
          </p:nvCxnSpPr>
          <p:spPr>
            <a:xfrm rot="10800000">
              <a:off x="1684025" y="4027900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7" name="Google Shape;717;p57"/>
            <p:cNvCxnSpPr>
              <a:stCxn id="716" idx="0"/>
              <a:endCxn id="718" idx="2"/>
            </p:cNvCxnSpPr>
            <p:nvPr/>
          </p:nvCxnSpPr>
          <p:spPr>
            <a:xfrm rot="10800000">
              <a:off x="1684025" y="3528288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19" name="Google Shape;719;p57"/>
            <p:cNvSpPr txBox="1"/>
            <p:nvPr/>
          </p:nvSpPr>
          <p:spPr>
            <a:xfrm>
              <a:off x="1795400" y="2673838"/>
              <a:ext cx="3993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baseline="-25000"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aseline="-25000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20" name="Google Shape;720;p57"/>
            <p:cNvCxnSpPr>
              <a:stCxn id="718" idx="0"/>
              <a:endCxn id="721" idx="2"/>
            </p:cNvCxnSpPr>
            <p:nvPr/>
          </p:nvCxnSpPr>
          <p:spPr>
            <a:xfrm rot="10800000">
              <a:off x="1684025" y="2615600"/>
              <a:ext cx="0" cy="26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22" name="Google Shape;722;p57"/>
            <p:cNvCxnSpPr>
              <a:stCxn id="721" idx="0"/>
              <a:endCxn id="723" idx="2"/>
            </p:cNvCxnSpPr>
            <p:nvPr/>
          </p:nvCxnSpPr>
          <p:spPr>
            <a:xfrm rot="10800000">
              <a:off x="1684025" y="2108963"/>
              <a:ext cx="0" cy="2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4" name="Google Shape;724;p57"/>
            <p:cNvSpPr txBox="1"/>
            <p:nvPr/>
          </p:nvSpPr>
          <p:spPr>
            <a:xfrm>
              <a:off x="1818875" y="4383100"/>
              <a:ext cx="982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baseline="-25000"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&lt;s&gt;</a:t>
              </a:r>
              <a:endParaRPr baseline="-25000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5" name="Google Shape;715;p57"/>
            <p:cNvSpPr/>
            <p:nvPr/>
          </p:nvSpPr>
          <p:spPr>
            <a:xfrm>
              <a:off x="1549175" y="42421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57"/>
            <p:cNvSpPr/>
            <p:nvPr/>
          </p:nvSpPr>
          <p:spPr>
            <a:xfrm>
              <a:off x="1549175" y="28835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7"/>
            <p:cNvSpPr/>
            <p:nvPr/>
          </p:nvSpPr>
          <p:spPr>
            <a:xfrm>
              <a:off x="852725" y="3742488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1" name="Google Shape;721;p57"/>
            <p:cNvSpPr/>
            <p:nvPr/>
          </p:nvSpPr>
          <p:spPr>
            <a:xfrm>
              <a:off x="852725" y="2330363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3" name="Google Shape;723;p57"/>
            <p:cNvSpPr txBox="1"/>
            <p:nvPr/>
          </p:nvSpPr>
          <p:spPr>
            <a:xfrm>
              <a:off x="852725" y="171530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label</a:t>
              </a:r>
              <a:r>
                <a:rPr baseline="-25000"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aseline="-25000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25" name="Google Shape;725;p57"/>
            <p:cNvSpPr/>
            <p:nvPr/>
          </p:nvSpPr>
          <p:spPr>
            <a:xfrm>
              <a:off x="104400" y="28835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6" name="Google Shape;726;p57"/>
            <p:cNvCxnSpPr>
              <a:stCxn id="725" idx="3"/>
              <a:endCxn id="716" idx="1"/>
            </p:cNvCxnSpPr>
            <p:nvPr/>
          </p:nvCxnSpPr>
          <p:spPr>
            <a:xfrm>
              <a:off x="374100" y="3205850"/>
              <a:ext cx="478500" cy="679200"/>
            </a:xfrm>
            <a:prstGeom prst="bentConnector3">
              <a:avLst>
                <a:gd fmla="val 5001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7" name="Google Shape;727;p57"/>
            <p:cNvSpPr txBox="1"/>
            <p:nvPr/>
          </p:nvSpPr>
          <p:spPr>
            <a:xfrm>
              <a:off x="374100" y="2702138"/>
              <a:ext cx="3993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baseline="-25000"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endParaRPr baseline="-25000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28" name="Google Shape;728;p57"/>
          <p:cNvGrpSpPr/>
          <p:nvPr/>
        </p:nvGrpSpPr>
        <p:grpSpPr>
          <a:xfrm>
            <a:off x="1818875" y="1715300"/>
            <a:ext cx="3049325" cy="3171500"/>
            <a:chOff x="1818875" y="1715300"/>
            <a:chExt cx="3049325" cy="3171500"/>
          </a:xfrm>
        </p:grpSpPr>
        <p:sp>
          <p:nvSpPr>
            <p:cNvPr id="729" name="Google Shape;729;p57"/>
            <p:cNvSpPr/>
            <p:nvPr/>
          </p:nvSpPr>
          <p:spPr>
            <a:xfrm>
              <a:off x="3616000" y="42421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57"/>
            <p:cNvSpPr/>
            <p:nvPr/>
          </p:nvSpPr>
          <p:spPr>
            <a:xfrm>
              <a:off x="3616000" y="28835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7"/>
            <p:cNvSpPr/>
            <p:nvPr/>
          </p:nvSpPr>
          <p:spPr>
            <a:xfrm>
              <a:off x="2919550" y="3742488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2" name="Google Shape;732;p57"/>
            <p:cNvSpPr/>
            <p:nvPr/>
          </p:nvSpPr>
          <p:spPr>
            <a:xfrm>
              <a:off x="2919550" y="2330363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3" name="Google Shape;733;p57"/>
            <p:cNvSpPr txBox="1"/>
            <p:nvPr/>
          </p:nvSpPr>
          <p:spPr>
            <a:xfrm>
              <a:off x="2919550" y="171530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label</a:t>
              </a:r>
              <a:r>
                <a:rPr baseline="-25000"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aseline="-25000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4" name="Google Shape;734;p57"/>
            <p:cNvCxnSpPr>
              <a:stCxn id="729" idx="0"/>
              <a:endCxn id="731" idx="2"/>
            </p:cNvCxnSpPr>
            <p:nvPr/>
          </p:nvCxnSpPr>
          <p:spPr>
            <a:xfrm rot="10800000">
              <a:off x="3750850" y="4027900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5" name="Google Shape;735;p57"/>
            <p:cNvCxnSpPr>
              <a:stCxn id="731" idx="0"/>
              <a:endCxn id="730" idx="2"/>
            </p:cNvCxnSpPr>
            <p:nvPr/>
          </p:nvCxnSpPr>
          <p:spPr>
            <a:xfrm rot="10800000">
              <a:off x="3750850" y="3528288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6" name="Google Shape;736;p57"/>
            <p:cNvCxnSpPr>
              <a:stCxn id="730" idx="0"/>
              <a:endCxn id="732" idx="2"/>
            </p:cNvCxnSpPr>
            <p:nvPr/>
          </p:nvCxnSpPr>
          <p:spPr>
            <a:xfrm rot="10800000">
              <a:off x="3750850" y="2615600"/>
              <a:ext cx="0" cy="26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37" name="Google Shape;737;p57"/>
            <p:cNvCxnSpPr>
              <a:stCxn id="732" idx="0"/>
              <a:endCxn id="733" idx="2"/>
            </p:cNvCxnSpPr>
            <p:nvPr/>
          </p:nvCxnSpPr>
          <p:spPr>
            <a:xfrm rot="10800000">
              <a:off x="3750850" y="2108963"/>
              <a:ext cx="0" cy="2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38" name="Google Shape;738;p57"/>
            <p:cNvSpPr txBox="1"/>
            <p:nvPr/>
          </p:nvSpPr>
          <p:spPr>
            <a:xfrm>
              <a:off x="3885700" y="4383100"/>
              <a:ext cx="982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baseline="-25000"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John</a:t>
              </a:r>
              <a:endParaRPr baseline="-25000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39" name="Google Shape;739;p57"/>
            <p:cNvCxnSpPr>
              <a:stCxn id="718" idx="3"/>
              <a:endCxn id="731" idx="1"/>
            </p:cNvCxnSpPr>
            <p:nvPr/>
          </p:nvCxnSpPr>
          <p:spPr>
            <a:xfrm>
              <a:off x="1818875" y="3205850"/>
              <a:ext cx="1100700" cy="679200"/>
            </a:xfrm>
            <a:prstGeom prst="bentConnector3">
              <a:avLst>
                <a:gd fmla="val 49999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40" name="Google Shape;740;p57"/>
            <p:cNvSpPr txBox="1"/>
            <p:nvPr/>
          </p:nvSpPr>
          <p:spPr>
            <a:xfrm>
              <a:off x="3897425" y="2658900"/>
              <a:ext cx="3993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baseline="-25000"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aseline="-25000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1" name="Google Shape;741;p57"/>
          <p:cNvGrpSpPr/>
          <p:nvPr/>
        </p:nvGrpSpPr>
        <p:grpSpPr>
          <a:xfrm>
            <a:off x="3885700" y="1715300"/>
            <a:ext cx="3119725" cy="3171500"/>
            <a:chOff x="3885700" y="1715300"/>
            <a:chExt cx="3119725" cy="3171500"/>
          </a:xfrm>
        </p:grpSpPr>
        <p:sp>
          <p:nvSpPr>
            <p:cNvPr id="742" name="Google Shape;742;p57"/>
            <p:cNvSpPr/>
            <p:nvPr/>
          </p:nvSpPr>
          <p:spPr>
            <a:xfrm>
              <a:off x="5718025" y="42421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57"/>
            <p:cNvSpPr/>
            <p:nvPr/>
          </p:nvSpPr>
          <p:spPr>
            <a:xfrm>
              <a:off x="5718025" y="28835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57"/>
            <p:cNvSpPr/>
            <p:nvPr/>
          </p:nvSpPr>
          <p:spPr>
            <a:xfrm>
              <a:off x="5021575" y="3742488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57"/>
            <p:cNvSpPr/>
            <p:nvPr/>
          </p:nvSpPr>
          <p:spPr>
            <a:xfrm>
              <a:off x="5021575" y="2330363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6" name="Google Shape;746;p57"/>
            <p:cNvSpPr txBox="1"/>
            <p:nvPr/>
          </p:nvSpPr>
          <p:spPr>
            <a:xfrm>
              <a:off x="5021575" y="171530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label</a:t>
              </a:r>
              <a:r>
                <a:rPr baseline="-25000"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aseline="-25000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47" name="Google Shape;747;p57"/>
            <p:cNvCxnSpPr>
              <a:stCxn id="742" idx="0"/>
              <a:endCxn id="744" idx="2"/>
            </p:cNvCxnSpPr>
            <p:nvPr/>
          </p:nvCxnSpPr>
          <p:spPr>
            <a:xfrm rot="10800000">
              <a:off x="5852875" y="4027900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48" name="Google Shape;748;p57"/>
            <p:cNvCxnSpPr>
              <a:stCxn id="744" idx="0"/>
              <a:endCxn id="743" idx="2"/>
            </p:cNvCxnSpPr>
            <p:nvPr/>
          </p:nvCxnSpPr>
          <p:spPr>
            <a:xfrm rot="10800000">
              <a:off x="5852875" y="3528288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49" name="Google Shape;749;p57"/>
            <p:cNvCxnSpPr>
              <a:stCxn id="743" idx="0"/>
              <a:endCxn id="745" idx="2"/>
            </p:cNvCxnSpPr>
            <p:nvPr/>
          </p:nvCxnSpPr>
          <p:spPr>
            <a:xfrm rot="10800000">
              <a:off x="5852875" y="2615600"/>
              <a:ext cx="0" cy="26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0" name="Google Shape;750;p57"/>
            <p:cNvCxnSpPr>
              <a:stCxn id="745" idx="0"/>
              <a:endCxn id="746" idx="2"/>
            </p:cNvCxnSpPr>
            <p:nvPr/>
          </p:nvCxnSpPr>
          <p:spPr>
            <a:xfrm rot="10800000">
              <a:off x="5852875" y="2108963"/>
              <a:ext cx="0" cy="2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1" name="Google Shape;751;p57"/>
            <p:cNvSpPr txBox="1"/>
            <p:nvPr/>
          </p:nvSpPr>
          <p:spPr>
            <a:xfrm>
              <a:off x="6022925" y="4383100"/>
              <a:ext cx="982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baseline="-25000"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is</a:t>
              </a:r>
              <a:endParaRPr baseline="-25000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52" name="Google Shape;752;p57"/>
            <p:cNvCxnSpPr>
              <a:stCxn id="730" idx="3"/>
              <a:endCxn id="744" idx="1"/>
            </p:cNvCxnSpPr>
            <p:nvPr/>
          </p:nvCxnSpPr>
          <p:spPr>
            <a:xfrm>
              <a:off x="3885700" y="3205850"/>
              <a:ext cx="1135800" cy="679200"/>
            </a:xfrm>
            <a:prstGeom prst="bentConnector3">
              <a:avLst>
                <a:gd fmla="val 5000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3" name="Google Shape;753;p57"/>
            <p:cNvSpPr txBox="1"/>
            <p:nvPr/>
          </p:nvSpPr>
          <p:spPr>
            <a:xfrm>
              <a:off x="5999450" y="2658913"/>
              <a:ext cx="3993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baseline="-25000"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aseline="-25000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4" name="Google Shape;754;p57"/>
          <p:cNvGrpSpPr/>
          <p:nvPr/>
        </p:nvGrpSpPr>
        <p:grpSpPr>
          <a:xfrm>
            <a:off x="5987725" y="1715300"/>
            <a:ext cx="3237825" cy="3171500"/>
            <a:chOff x="5987725" y="1715300"/>
            <a:chExt cx="3237825" cy="3171500"/>
          </a:xfrm>
        </p:grpSpPr>
        <p:sp>
          <p:nvSpPr>
            <p:cNvPr id="755" name="Google Shape;755;p57"/>
            <p:cNvSpPr/>
            <p:nvPr/>
          </p:nvSpPr>
          <p:spPr>
            <a:xfrm>
              <a:off x="7820050" y="42421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7"/>
            <p:cNvSpPr/>
            <p:nvPr/>
          </p:nvSpPr>
          <p:spPr>
            <a:xfrm>
              <a:off x="7820050" y="2883500"/>
              <a:ext cx="269700" cy="644700"/>
            </a:xfrm>
            <a:prstGeom prst="rect">
              <a:avLst/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7"/>
            <p:cNvSpPr/>
            <p:nvPr/>
          </p:nvSpPr>
          <p:spPr>
            <a:xfrm>
              <a:off x="7123600" y="3742488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transform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8" name="Google Shape;758;p57"/>
            <p:cNvSpPr/>
            <p:nvPr/>
          </p:nvSpPr>
          <p:spPr>
            <a:xfrm>
              <a:off x="7123600" y="2330363"/>
              <a:ext cx="1662600" cy="2853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softmax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9" name="Google Shape;759;p57"/>
            <p:cNvSpPr txBox="1"/>
            <p:nvPr/>
          </p:nvSpPr>
          <p:spPr>
            <a:xfrm>
              <a:off x="7123600" y="1715300"/>
              <a:ext cx="1662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label</a:t>
              </a:r>
              <a:r>
                <a:rPr baseline="-25000"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aseline="-25000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0" name="Google Shape;760;p57"/>
            <p:cNvCxnSpPr>
              <a:stCxn id="755" idx="0"/>
              <a:endCxn id="757" idx="2"/>
            </p:cNvCxnSpPr>
            <p:nvPr/>
          </p:nvCxnSpPr>
          <p:spPr>
            <a:xfrm rot="10800000">
              <a:off x="7954900" y="4027900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1" name="Google Shape;761;p57"/>
            <p:cNvCxnSpPr>
              <a:stCxn id="757" idx="0"/>
              <a:endCxn id="756" idx="2"/>
            </p:cNvCxnSpPr>
            <p:nvPr/>
          </p:nvCxnSpPr>
          <p:spPr>
            <a:xfrm rot="10800000">
              <a:off x="7954900" y="3528288"/>
              <a:ext cx="0" cy="21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2" name="Google Shape;762;p57"/>
            <p:cNvCxnSpPr>
              <a:stCxn id="756" idx="0"/>
              <a:endCxn id="758" idx="2"/>
            </p:cNvCxnSpPr>
            <p:nvPr/>
          </p:nvCxnSpPr>
          <p:spPr>
            <a:xfrm rot="10800000">
              <a:off x="7954900" y="2615600"/>
              <a:ext cx="0" cy="26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3" name="Google Shape;763;p57"/>
            <p:cNvCxnSpPr>
              <a:stCxn id="758" idx="0"/>
              <a:endCxn id="759" idx="2"/>
            </p:cNvCxnSpPr>
            <p:nvPr/>
          </p:nvCxnSpPr>
          <p:spPr>
            <a:xfrm rot="10800000">
              <a:off x="7954900" y="2108963"/>
              <a:ext cx="0" cy="221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4" name="Google Shape;764;p57"/>
            <p:cNvSpPr txBox="1"/>
            <p:nvPr/>
          </p:nvSpPr>
          <p:spPr>
            <a:xfrm>
              <a:off x="8089750" y="4383100"/>
              <a:ext cx="9825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</a:t>
              </a:r>
              <a:r>
                <a:rPr baseline="-25000"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walking</a:t>
              </a:r>
              <a:endParaRPr baseline="-25000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65" name="Google Shape;765;p57"/>
            <p:cNvCxnSpPr>
              <a:stCxn id="743" idx="3"/>
              <a:endCxn id="757" idx="1"/>
            </p:cNvCxnSpPr>
            <p:nvPr/>
          </p:nvCxnSpPr>
          <p:spPr>
            <a:xfrm>
              <a:off x="5987725" y="3205850"/>
              <a:ext cx="1135800" cy="679200"/>
            </a:xfrm>
            <a:prstGeom prst="bentConnector3">
              <a:avLst>
                <a:gd fmla="val 5000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6" name="Google Shape;766;p57"/>
            <p:cNvCxnSpPr>
              <a:stCxn id="756" idx="3"/>
            </p:cNvCxnSpPr>
            <p:nvPr/>
          </p:nvCxnSpPr>
          <p:spPr>
            <a:xfrm>
              <a:off x="8089750" y="3205850"/>
              <a:ext cx="1135800" cy="678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7" name="Google Shape;767;p57"/>
            <p:cNvSpPr txBox="1"/>
            <p:nvPr/>
          </p:nvSpPr>
          <p:spPr>
            <a:xfrm>
              <a:off x="8101475" y="2658900"/>
              <a:ext cx="3993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h</a:t>
              </a:r>
              <a:r>
                <a:rPr baseline="-25000" lang="en" sz="1800">
                  <a:solidFill>
                    <a:srgbClr val="A64D79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aseline="-25000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68" name="Google Shape;768;p57"/>
          <p:cNvSpPr/>
          <p:nvPr/>
        </p:nvSpPr>
        <p:spPr>
          <a:xfrm>
            <a:off x="4053650" y="705627"/>
            <a:ext cx="2345100" cy="923100"/>
          </a:xfrm>
          <a:prstGeom prst="wedgeRectCallout">
            <a:avLst>
              <a:gd fmla="val -29507" name="adj1"/>
              <a:gd fmla="val 277429" name="adj2"/>
            </a:avLst>
          </a:prstGeom>
          <a:solidFill>
            <a:srgbClr val="DB4437">
              <a:alpha val="20000"/>
            </a:srgbClr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matmul + bias + activation using </a:t>
            </a:r>
            <a:r>
              <a:rPr b="1"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shared parameters</a:t>
            </a:r>
            <a:endParaRPr b="1"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57"/>
          <p:cNvSpPr/>
          <p:nvPr/>
        </p:nvSpPr>
        <p:spPr>
          <a:xfrm>
            <a:off x="6506350" y="934100"/>
            <a:ext cx="2418600" cy="806100"/>
          </a:xfrm>
          <a:prstGeom prst="wedgeRectCallout">
            <a:avLst>
              <a:gd fmla="val -59155" name="adj1"/>
              <a:gd fmla="val 73180" name="adj2"/>
            </a:avLst>
          </a:prstGeom>
          <a:solidFill>
            <a:srgbClr val="737373">
              <a:alpha val="20000"/>
            </a:srgbClr>
          </a:solidFill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3-gram context is </a:t>
            </a:r>
            <a:r>
              <a:rPr b="1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represented implicitly</a:t>
            </a:r>
            <a:endParaRPr b="1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57"/>
          <p:cNvSpPr txBox="1"/>
          <p:nvPr/>
        </p:nvSpPr>
        <p:spPr>
          <a:xfrm>
            <a:off x="104400" y="759500"/>
            <a:ext cx="23451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(Mikolov et al., 2010)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 RNN</a:t>
            </a:r>
            <a:endParaRPr/>
          </a:p>
        </p:txBody>
      </p:sp>
      <p:sp>
        <p:nvSpPr>
          <p:cNvPr id="776" name="Google Shape;776;p5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154917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154917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85272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58"/>
          <p:cNvSpPr/>
          <p:nvPr/>
        </p:nvSpPr>
        <p:spPr>
          <a:xfrm>
            <a:off x="85272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58"/>
          <p:cNvSpPr txBox="1"/>
          <p:nvPr/>
        </p:nvSpPr>
        <p:spPr>
          <a:xfrm>
            <a:off x="85272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58"/>
          <p:cNvCxnSpPr>
            <a:stCxn id="777" idx="0"/>
            <a:endCxn id="779" idx="2"/>
          </p:cNvCxnSpPr>
          <p:nvPr/>
        </p:nvCxnSpPr>
        <p:spPr>
          <a:xfrm rot="10800000">
            <a:off x="168402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3" name="Google Shape;783;p58"/>
          <p:cNvCxnSpPr>
            <a:stCxn id="779" idx="0"/>
            <a:endCxn id="778" idx="2"/>
          </p:cNvCxnSpPr>
          <p:nvPr/>
        </p:nvCxnSpPr>
        <p:spPr>
          <a:xfrm rot="10800000">
            <a:off x="168402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4" name="Google Shape;784;p58"/>
          <p:cNvCxnSpPr>
            <a:stCxn id="778" idx="0"/>
            <a:endCxn id="780" idx="2"/>
          </p:cNvCxnSpPr>
          <p:nvPr/>
        </p:nvCxnSpPr>
        <p:spPr>
          <a:xfrm rot="10800000">
            <a:off x="168402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58"/>
          <p:cNvCxnSpPr>
            <a:stCxn id="780" idx="0"/>
            <a:endCxn id="781" idx="2"/>
          </p:cNvCxnSpPr>
          <p:nvPr/>
        </p:nvCxnSpPr>
        <p:spPr>
          <a:xfrm rot="10800000">
            <a:off x="168402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6" name="Google Shape;786;p58"/>
          <p:cNvSpPr txBox="1"/>
          <p:nvPr/>
        </p:nvSpPr>
        <p:spPr>
          <a:xfrm>
            <a:off x="181887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361600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36160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291955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58"/>
          <p:cNvSpPr/>
          <p:nvPr/>
        </p:nvSpPr>
        <p:spPr>
          <a:xfrm>
            <a:off x="291955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58"/>
          <p:cNvSpPr txBox="1"/>
          <p:nvPr/>
        </p:nvSpPr>
        <p:spPr>
          <a:xfrm>
            <a:off x="291955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2" name="Google Shape;792;p58"/>
          <p:cNvCxnSpPr>
            <a:stCxn id="787" idx="0"/>
            <a:endCxn id="789" idx="2"/>
          </p:cNvCxnSpPr>
          <p:nvPr/>
        </p:nvCxnSpPr>
        <p:spPr>
          <a:xfrm rot="10800000">
            <a:off x="375085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3" name="Google Shape;793;p58"/>
          <p:cNvCxnSpPr>
            <a:stCxn id="789" idx="0"/>
            <a:endCxn id="788" idx="2"/>
          </p:cNvCxnSpPr>
          <p:nvPr/>
        </p:nvCxnSpPr>
        <p:spPr>
          <a:xfrm rot="10800000">
            <a:off x="375085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58"/>
          <p:cNvCxnSpPr>
            <a:stCxn id="788" idx="0"/>
            <a:endCxn id="790" idx="2"/>
          </p:cNvCxnSpPr>
          <p:nvPr/>
        </p:nvCxnSpPr>
        <p:spPr>
          <a:xfrm rot="10800000">
            <a:off x="375085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8"/>
          <p:cNvCxnSpPr>
            <a:stCxn id="790" idx="0"/>
            <a:endCxn id="791" idx="2"/>
          </p:cNvCxnSpPr>
          <p:nvPr/>
        </p:nvCxnSpPr>
        <p:spPr>
          <a:xfrm rot="10800000">
            <a:off x="375085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58"/>
          <p:cNvSpPr/>
          <p:nvPr/>
        </p:nvSpPr>
        <p:spPr>
          <a:xfrm>
            <a:off x="571802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8"/>
          <p:cNvSpPr/>
          <p:nvPr/>
        </p:nvSpPr>
        <p:spPr>
          <a:xfrm>
            <a:off x="571802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58"/>
          <p:cNvSpPr/>
          <p:nvPr/>
        </p:nvSpPr>
        <p:spPr>
          <a:xfrm>
            <a:off x="502157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58"/>
          <p:cNvSpPr/>
          <p:nvPr/>
        </p:nvSpPr>
        <p:spPr>
          <a:xfrm>
            <a:off x="502157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58"/>
          <p:cNvSpPr txBox="1"/>
          <p:nvPr/>
        </p:nvSpPr>
        <p:spPr>
          <a:xfrm>
            <a:off x="502157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1" name="Google Shape;801;p58"/>
          <p:cNvCxnSpPr>
            <a:stCxn id="796" idx="0"/>
            <a:endCxn id="798" idx="2"/>
          </p:cNvCxnSpPr>
          <p:nvPr/>
        </p:nvCxnSpPr>
        <p:spPr>
          <a:xfrm rot="10800000">
            <a:off x="585287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58"/>
          <p:cNvCxnSpPr>
            <a:stCxn id="798" idx="0"/>
            <a:endCxn id="797" idx="2"/>
          </p:cNvCxnSpPr>
          <p:nvPr/>
        </p:nvCxnSpPr>
        <p:spPr>
          <a:xfrm rot="10800000">
            <a:off x="585287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3" name="Google Shape;803;p58"/>
          <p:cNvCxnSpPr>
            <a:stCxn id="797" idx="0"/>
            <a:endCxn id="799" idx="2"/>
          </p:cNvCxnSpPr>
          <p:nvPr/>
        </p:nvCxnSpPr>
        <p:spPr>
          <a:xfrm rot="10800000">
            <a:off x="585287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58"/>
          <p:cNvCxnSpPr>
            <a:stCxn id="799" idx="0"/>
            <a:endCxn id="800" idx="2"/>
          </p:cNvCxnSpPr>
          <p:nvPr/>
        </p:nvCxnSpPr>
        <p:spPr>
          <a:xfrm rot="10800000">
            <a:off x="585287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5" name="Google Shape;805;p58"/>
          <p:cNvSpPr/>
          <p:nvPr/>
        </p:nvSpPr>
        <p:spPr>
          <a:xfrm>
            <a:off x="782005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782005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58"/>
          <p:cNvSpPr/>
          <p:nvPr/>
        </p:nvSpPr>
        <p:spPr>
          <a:xfrm>
            <a:off x="712360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58"/>
          <p:cNvSpPr/>
          <p:nvPr/>
        </p:nvSpPr>
        <p:spPr>
          <a:xfrm>
            <a:off x="712360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9" name="Google Shape;809;p58"/>
          <p:cNvSpPr txBox="1"/>
          <p:nvPr/>
        </p:nvSpPr>
        <p:spPr>
          <a:xfrm>
            <a:off x="712360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0" name="Google Shape;810;p58"/>
          <p:cNvCxnSpPr>
            <a:stCxn id="805" idx="0"/>
            <a:endCxn id="807" idx="2"/>
          </p:cNvCxnSpPr>
          <p:nvPr/>
        </p:nvCxnSpPr>
        <p:spPr>
          <a:xfrm rot="10800000">
            <a:off x="795490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58"/>
          <p:cNvCxnSpPr>
            <a:stCxn id="807" idx="0"/>
            <a:endCxn id="806" idx="2"/>
          </p:cNvCxnSpPr>
          <p:nvPr/>
        </p:nvCxnSpPr>
        <p:spPr>
          <a:xfrm rot="10800000">
            <a:off x="795490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58"/>
          <p:cNvCxnSpPr>
            <a:stCxn id="806" idx="0"/>
            <a:endCxn id="808" idx="2"/>
          </p:cNvCxnSpPr>
          <p:nvPr/>
        </p:nvCxnSpPr>
        <p:spPr>
          <a:xfrm rot="10800000">
            <a:off x="795490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58"/>
          <p:cNvCxnSpPr>
            <a:stCxn id="808" idx="0"/>
            <a:endCxn id="809" idx="2"/>
          </p:cNvCxnSpPr>
          <p:nvPr/>
        </p:nvCxnSpPr>
        <p:spPr>
          <a:xfrm rot="10800000">
            <a:off x="795490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4" name="Google Shape;814;p58"/>
          <p:cNvSpPr txBox="1"/>
          <p:nvPr/>
        </p:nvSpPr>
        <p:spPr>
          <a:xfrm>
            <a:off x="388570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58"/>
          <p:cNvSpPr txBox="1"/>
          <p:nvPr/>
        </p:nvSpPr>
        <p:spPr>
          <a:xfrm>
            <a:off x="602292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58"/>
          <p:cNvSpPr txBox="1"/>
          <p:nvPr/>
        </p:nvSpPr>
        <p:spPr>
          <a:xfrm>
            <a:off x="808975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7" name="Google Shape;817;p58"/>
          <p:cNvCxnSpPr>
            <a:stCxn id="778" idx="3"/>
            <a:endCxn id="789" idx="1"/>
          </p:cNvCxnSpPr>
          <p:nvPr/>
        </p:nvCxnSpPr>
        <p:spPr>
          <a:xfrm>
            <a:off x="1818875" y="3205850"/>
            <a:ext cx="1100700" cy="6792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58"/>
          <p:cNvCxnSpPr>
            <a:stCxn id="788" idx="3"/>
            <a:endCxn id="798" idx="1"/>
          </p:cNvCxnSpPr>
          <p:nvPr/>
        </p:nvCxnSpPr>
        <p:spPr>
          <a:xfrm>
            <a:off x="3885700" y="3205850"/>
            <a:ext cx="1135800" cy="6792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58"/>
          <p:cNvCxnSpPr>
            <a:stCxn id="797" idx="3"/>
            <a:endCxn id="807" idx="1"/>
          </p:cNvCxnSpPr>
          <p:nvPr/>
        </p:nvCxnSpPr>
        <p:spPr>
          <a:xfrm>
            <a:off x="5987725" y="3205850"/>
            <a:ext cx="1135800" cy="6792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58"/>
          <p:cNvSpPr/>
          <p:nvPr/>
        </p:nvSpPr>
        <p:spPr>
          <a:xfrm>
            <a:off x="1044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1" name="Google Shape;821;p58"/>
          <p:cNvCxnSpPr>
            <a:stCxn id="820" idx="3"/>
            <a:endCxn id="779" idx="1"/>
          </p:cNvCxnSpPr>
          <p:nvPr/>
        </p:nvCxnSpPr>
        <p:spPr>
          <a:xfrm>
            <a:off x="374100" y="3205850"/>
            <a:ext cx="478500" cy="679200"/>
          </a:xfrm>
          <a:prstGeom prst="bentConnector3">
            <a:avLst>
              <a:gd fmla="val 50013" name="adj1"/>
            </a:avLst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2" name="Google Shape;822;p58"/>
          <p:cNvCxnSpPr>
            <a:stCxn id="806" idx="3"/>
          </p:cNvCxnSpPr>
          <p:nvPr/>
        </p:nvCxnSpPr>
        <p:spPr>
          <a:xfrm>
            <a:off x="8089750" y="3205850"/>
            <a:ext cx="1135800" cy="678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A64D7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3" name="Google Shape;823;p58"/>
          <p:cNvSpPr txBox="1"/>
          <p:nvPr/>
        </p:nvSpPr>
        <p:spPr>
          <a:xfrm>
            <a:off x="1795400" y="26738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8"/>
          <p:cNvSpPr txBox="1"/>
          <p:nvPr/>
        </p:nvSpPr>
        <p:spPr>
          <a:xfrm>
            <a:off x="374100" y="27021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58"/>
          <p:cNvSpPr txBox="1"/>
          <p:nvPr/>
        </p:nvSpPr>
        <p:spPr>
          <a:xfrm>
            <a:off x="389742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58"/>
          <p:cNvSpPr txBox="1"/>
          <p:nvPr/>
        </p:nvSpPr>
        <p:spPr>
          <a:xfrm>
            <a:off x="5999450" y="2658913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58"/>
          <p:cNvSpPr txBox="1"/>
          <p:nvPr/>
        </p:nvSpPr>
        <p:spPr>
          <a:xfrm>
            <a:off x="810147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58"/>
          <p:cNvSpPr txBox="1"/>
          <p:nvPr/>
        </p:nvSpPr>
        <p:spPr>
          <a:xfrm>
            <a:off x="1045175" y="863400"/>
            <a:ext cx="12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baseline="-25000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>
            <a:off x="3112000" y="863400"/>
            <a:ext cx="12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baseline="-25000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58"/>
          <p:cNvSpPr txBox="1"/>
          <p:nvPr/>
        </p:nvSpPr>
        <p:spPr>
          <a:xfrm>
            <a:off x="5214025" y="863400"/>
            <a:ext cx="12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baseline="-25000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58"/>
          <p:cNvSpPr txBox="1"/>
          <p:nvPr/>
        </p:nvSpPr>
        <p:spPr>
          <a:xfrm>
            <a:off x="7316050" y="863400"/>
            <a:ext cx="12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loss</a:t>
            </a:r>
            <a:r>
              <a:rPr baseline="-25000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1484375" y="13200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8"/>
          <p:cNvSpPr/>
          <p:nvPr/>
        </p:nvSpPr>
        <p:spPr>
          <a:xfrm>
            <a:off x="3551200" y="13200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8"/>
          <p:cNvSpPr/>
          <p:nvPr/>
        </p:nvSpPr>
        <p:spPr>
          <a:xfrm>
            <a:off x="5653225" y="13200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8"/>
          <p:cNvSpPr/>
          <p:nvPr/>
        </p:nvSpPr>
        <p:spPr>
          <a:xfrm>
            <a:off x="7702175" y="13200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8"/>
          <p:cNvSpPr/>
          <p:nvPr/>
        </p:nvSpPr>
        <p:spPr>
          <a:xfrm>
            <a:off x="5307013" y="2642175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58"/>
          <p:cNvSpPr/>
          <p:nvPr/>
        </p:nvSpPr>
        <p:spPr>
          <a:xfrm>
            <a:off x="7409025" y="2642175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8"/>
          <p:cNvSpPr/>
          <p:nvPr/>
        </p:nvSpPr>
        <p:spPr>
          <a:xfrm>
            <a:off x="3205025" y="2712775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58"/>
          <p:cNvSpPr/>
          <p:nvPr/>
        </p:nvSpPr>
        <p:spPr>
          <a:xfrm>
            <a:off x="1138125" y="2712775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8"/>
          <p:cNvSpPr/>
          <p:nvPr/>
        </p:nvSpPr>
        <p:spPr>
          <a:xfrm>
            <a:off x="3143875" y="40795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8"/>
          <p:cNvSpPr/>
          <p:nvPr/>
        </p:nvSpPr>
        <p:spPr>
          <a:xfrm>
            <a:off x="5304963" y="40795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8"/>
          <p:cNvSpPr/>
          <p:nvPr/>
        </p:nvSpPr>
        <p:spPr>
          <a:xfrm>
            <a:off x="1136075" y="40795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8"/>
          <p:cNvSpPr/>
          <p:nvPr/>
        </p:nvSpPr>
        <p:spPr>
          <a:xfrm>
            <a:off x="7406975" y="40795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8"/>
          <p:cNvSpPr/>
          <p:nvPr/>
        </p:nvSpPr>
        <p:spPr>
          <a:xfrm rot="7194941">
            <a:off x="2357403" y="3209616"/>
            <a:ext cx="399418" cy="50387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8"/>
          <p:cNvSpPr/>
          <p:nvPr/>
        </p:nvSpPr>
        <p:spPr>
          <a:xfrm rot="7194941">
            <a:off x="4459441" y="3209616"/>
            <a:ext cx="399418" cy="50387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8"/>
          <p:cNvSpPr/>
          <p:nvPr/>
        </p:nvSpPr>
        <p:spPr>
          <a:xfrm rot="7194941">
            <a:off x="6562441" y="3247441"/>
            <a:ext cx="399418" cy="50387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8"/>
          <p:cNvSpPr/>
          <p:nvPr/>
        </p:nvSpPr>
        <p:spPr>
          <a:xfrm rot="7194941">
            <a:off x="8647228" y="3247453"/>
            <a:ext cx="399418" cy="50387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8"/>
          <p:cNvSpPr/>
          <p:nvPr/>
        </p:nvSpPr>
        <p:spPr>
          <a:xfrm rot="7194941">
            <a:off x="469853" y="3252166"/>
            <a:ext cx="399418" cy="50387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8"/>
          <p:cNvSpPr/>
          <p:nvPr/>
        </p:nvSpPr>
        <p:spPr>
          <a:xfrm>
            <a:off x="6155050" y="563650"/>
            <a:ext cx="1934700" cy="874800"/>
          </a:xfrm>
          <a:prstGeom prst="wedgeRectCallout">
            <a:avLst>
              <a:gd fmla="val -15129" name="adj1"/>
              <a:gd fmla="val 262266" name="adj2"/>
            </a:avLst>
          </a:prstGeom>
          <a:solidFill>
            <a:srgbClr val="1A237E">
              <a:alpha val="20000"/>
            </a:srgbClr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Backpropagation through time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58"/>
          <p:cNvSpPr/>
          <p:nvPr/>
        </p:nvSpPr>
        <p:spPr>
          <a:xfrm>
            <a:off x="4020213" y="863400"/>
            <a:ext cx="1563300" cy="1062300"/>
          </a:xfrm>
          <a:prstGeom prst="wedgeRectCallout">
            <a:avLst>
              <a:gd fmla="val 33353" name="adj1"/>
              <a:gd fmla="val 127360" name="adj2"/>
            </a:avLst>
          </a:prstGeom>
          <a:solidFill>
            <a:srgbClr val="F4B400">
              <a:alpha val="20000"/>
            </a:srgbClr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Gradients are aggregated in each step</a:t>
            </a:r>
            <a:endParaRPr sz="18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58"/>
          <p:cNvSpPr/>
          <p:nvPr/>
        </p:nvSpPr>
        <p:spPr>
          <a:xfrm>
            <a:off x="5524625" y="32997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8"/>
          <p:cNvSpPr/>
          <p:nvPr/>
        </p:nvSpPr>
        <p:spPr>
          <a:xfrm>
            <a:off x="7626638" y="32997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8"/>
          <p:cNvSpPr/>
          <p:nvPr/>
        </p:nvSpPr>
        <p:spPr>
          <a:xfrm>
            <a:off x="3422638" y="33703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8"/>
          <p:cNvSpPr/>
          <p:nvPr/>
        </p:nvSpPr>
        <p:spPr>
          <a:xfrm>
            <a:off x="1355738" y="3370338"/>
            <a:ext cx="399300" cy="503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F9D58">
              <a:alpha val="20000"/>
            </a:srgbClr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represented by an </a:t>
            </a:r>
            <a:r>
              <a:rPr lang="en" u="sng">
                <a:solidFill>
                  <a:schemeClr val="hlink"/>
                </a:solidFill>
                <a:hlinkClick r:id="rId3"/>
              </a:rPr>
              <a:t>LSTM</a:t>
            </a:r>
            <a:r>
              <a:rPr lang="en"/>
              <a:t> (an instance of RNNs): Structures?</a:t>
            </a:r>
            <a:endParaRPr/>
          </a:p>
        </p:txBody>
      </p:sp>
      <p:sp>
        <p:nvSpPr>
          <p:cNvPr id="860" name="Google Shape;860;p5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1" name="Google Shape;86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75" y="771450"/>
            <a:ext cx="8218744" cy="399658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9"/>
          <p:cNvSpPr txBox="1"/>
          <p:nvPr/>
        </p:nvSpPr>
        <p:spPr>
          <a:xfrm>
            <a:off x="6362250" y="4695625"/>
            <a:ext cx="25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(Karpathy et al., 2016)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6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represented by an </a:t>
            </a:r>
            <a:r>
              <a:rPr lang="en" u="sng">
                <a:solidFill>
                  <a:schemeClr val="hlink"/>
                </a:solidFill>
                <a:hlinkClick r:id="rId3"/>
              </a:rPr>
              <a:t>LSTM</a:t>
            </a:r>
            <a:r>
              <a:rPr lang="en"/>
              <a:t> (an instance of RNNs): Output length?</a:t>
            </a:r>
            <a:endParaRPr/>
          </a:p>
        </p:txBody>
      </p:sp>
      <p:sp>
        <p:nvSpPr>
          <p:cNvPr id="868" name="Google Shape;868;p6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9" name="Google Shape;86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8600" y="784025"/>
            <a:ext cx="5285906" cy="42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60"/>
          <p:cNvSpPr txBox="1"/>
          <p:nvPr/>
        </p:nvSpPr>
        <p:spPr>
          <a:xfrm>
            <a:off x="6602250" y="4695625"/>
            <a:ext cx="23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(Shi et al., 2016)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6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represented by an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LSTM</a:t>
            </a:r>
            <a:r>
              <a:rPr lang="en"/>
              <a:t> (an instance of RNNs): Capacity of RNN</a:t>
            </a:r>
            <a:endParaRPr/>
          </a:p>
        </p:txBody>
      </p:sp>
      <p:sp>
        <p:nvSpPr>
          <p:cNvPr id="876" name="Google Shape;876;p61"/>
          <p:cNvSpPr txBox="1"/>
          <p:nvPr>
            <p:ph idx="4294967295" type="body"/>
          </p:nvPr>
        </p:nvSpPr>
        <p:spPr>
          <a:xfrm>
            <a:off x="471900" y="841675"/>
            <a:ext cx="3985800" cy="42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RNN is Turing-complete (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Siegelmann and Sontag, 1992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Rationally Recurrent (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Peng et al., 2018</a:t>
            </a:r>
            <a:r>
              <a:rPr lang="en" sz="2000"/>
              <a:t>): Forward computation by WFA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Counter Machine (</a:t>
            </a:r>
            <a:r>
              <a:rPr lang="en" sz="2000" u="sng">
                <a:solidFill>
                  <a:schemeClr val="hlink"/>
                </a:solidFill>
                <a:hlinkClick r:id="rId6"/>
              </a:rPr>
              <a:t>Discher 1966</a:t>
            </a:r>
            <a:r>
              <a:rPr lang="en" sz="2000"/>
              <a:t>): Closed under +, -, ×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Stack RNN (</a:t>
            </a:r>
            <a:r>
              <a:rPr lang="en" sz="2000" u="sng">
                <a:solidFill>
                  <a:schemeClr val="hlink"/>
                </a:solidFill>
                <a:hlinkClick r:id="rId7"/>
              </a:rPr>
              <a:t>Suzgun et al., 2019</a:t>
            </a:r>
            <a:r>
              <a:rPr lang="en" sz="2000"/>
              <a:t>): Additional differentiable stack in each state</a:t>
            </a:r>
            <a:endParaRPr sz="2000"/>
          </a:p>
        </p:txBody>
      </p:sp>
      <p:pic>
        <p:nvPicPr>
          <p:cNvPr id="877" name="Google Shape;877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10100" y="771450"/>
            <a:ext cx="4126051" cy="4077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61"/>
          <p:cNvSpPr txBox="1"/>
          <p:nvPr/>
        </p:nvSpPr>
        <p:spPr>
          <a:xfrm>
            <a:off x="6602250" y="4695625"/>
            <a:ext cx="23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(Merrill et al., 2020)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6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Language Models</a:t>
            </a:r>
            <a:endParaRPr/>
          </a:p>
        </p:txBody>
      </p:sp>
      <p:sp>
        <p:nvSpPr>
          <p:cNvPr id="885" name="Google Shape;885;p6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RNN as LM</a:t>
            </a:r>
            <a:endParaRPr/>
          </a:p>
        </p:txBody>
      </p:sp>
      <p:sp>
        <p:nvSpPr>
          <p:cNvPr id="891" name="Google Shape;891;p6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92" name="Google Shape;892;p63"/>
          <p:cNvCxnSpPr>
            <a:stCxn id="893" idx="0"/>
            <a:endCxn id="894" idx="2"/>
          </p:cNvCxnSpPr>
          <p:nvPr/>
        </p:nvCxnSpPr>
        <p:spPr>
          <a:xfrm rot="10800000">
            <a:off x="168402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63"/>
          <p:cNvCxnSpPr>
            <a:stCxn id="894" idx="0"/>
            <a:endCxn id="896" idx="2"/>
          </p:cNvCxnSpPr>
          <p:nvPr/>
        </p:nvCxnSpPr>
        <p:spPr>
          <a:xfrm rot="10800000">
            <a:off x="168402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63"/>
          <p:cNvSpPr txBox="1"/>
          <p:nvPr/>
        </p:nvSpPr>
        <p:spPr>
          <a:xfrm>
            <a:off x="1795400" y="26738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8" name="Google Shape;898;p63"/>
          <p:cNvCxnSpPr>
            <a:stCxn id="896" idx="0"/>
            <a:endCxn id="899" idx="2"/>
          </p:cNvCxnSpPr>
          <p:nvPr/>
        </p:nvCxnSpPr>
        <p:spPr>
          <a:xfrm rot="10800000">
            <a:off x="168402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63"/>
          <p:cNvCxnSpPr>
            <a:stCxn id="899" idx="0"/>
            <a:endCxn id="901" idx="2"/>
          </p:cNvCxnSpPr>
          <p:nvPr/>
        </p:nvCxnSpPr>
        <p:spPr>
          <a:xfrm rot="10800000">
            <a:off x="168402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63"/>
          <p:cNvSpPr txBox="1"/>
          <p:nvPr/>
        </p:nvSpPr>
        <p:spPr>
          <a:xfrm>
            <a:off x="181887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63"/>
          <p:cNvSpPr/>
          <p:nvPr/>
        </p:nvSpPr>
        <p:spPr>
          <a:xfrm>
            <a:off x="154917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3"/>
          <p:cNvSpPr/>
          <p:nvPr/>
        </p:nvSpPr>
        <p:spPr>
          <a:xfrm>
            <a:off x="154917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63"/>
          <p:cNvSpPr/>
          <p:nvPr/>
        </p:nvSpPr>
        <p:spPr>
          <a:xfrm>
            <a:off x="85272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9" name="Google Shape;899;p63"/>
          <p:cNvSpPr/>
          <p:nvPr/>
        </p:nvSpPr>
        <p:spPr>
          <a:xfrm>
            <a:off x="85272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63"/>
          <p:cNvSpPr txBox="1"/>
          <p:nvPr/>
        </p:nvSpPr>
        <p:spPr>
          <a:xfrm>
            <a:off x="85272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63"/>
          <p:cNvSpPr/>
          <p:nvPr/>
        </p:nvSpPr>
        <p:spPr>
          <a:xfrm>
            <a:off x="1044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63"/>
          <p:cNvSpPr txBox="1"/>
          <p:nvPr/>
        </p:nvSpPr>
        <p:spPr>
          <a:xfrm>
            <a:off x="374100" y="27021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5" name="Google Shape;905;p63"/>
          <p:cNvSpPr/>
          <p:nvPr/>
        </p:nvSpPr>
        <p:spPr>
          <a:xfrm>
            <a:off x="361600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63"/>
          <p:cNvSpPr/>
          <p:nvPr/>
        </p:nvSpPr>
        <p:spPr>
          <a:xfrm>
            <a:off x="36160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63"/>
          <p:cNvSpPr/>
          <p:nvPr/>
        </p:nvSpPr>
        <p:spPr>
          <a:xfrm>
            <a:off x="291955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63"/>
          <p:cNvSpPr/>
          <p:nvPr/>
        </p:nvSpPr>
        <p:spPr>
          <a:xfrm>
            <a:off x="291955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9" name="Google Shape;909;p63"/>
          <p:cNvSpPr txBox="1"/>
          <p:nvPr/>
        </p:nvSpPr>
        <p:spPr>
          <a:xfrm>
            <a:off x="291955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0" name="Google Shape;910;p63"/>
          <p:cNvCxnSpPr>
            <a:stCxn id="905" idx="0"/>
            <a:endCxn id="907" idx="2"/>
          </p:cNvCxnSpPr>
          <p:nvPr/>
        </p:nvCxnSpPr>
        <p:spPr>
          <a:xfrm rot="10800000">
            <a:off x="375085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1" name="Google Shape;911;p63"/>
          <p:cNvCxnSpPr>
            <a:stCxn id="907" idx="0"/>
            <a:endCxn id="906" idx="2"/>
          </p:cNvCxnSpPr>
          <p:nvPr/>
        </p:nvCxnSpPr>
        <p:spPr>
          <a:xfrm rot="10800000">
            <a:off x="375085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63"/>
          <p:cNvCxnSpPr>
            <a:stCxn id="906" idx="0"/>
            <a:endCxn id="908" idx="2"/>
          </p:cNvCxnSpPr>
          <p:nvPr/>
        </p:nvCxnSpPr>
        <p:spPr>
          <a:xfrm rot="10800000">
            <a:off x="375085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3" name="Google Shape;913;p63"/>
          <p:cNvCxnSpPr>
            <a:stCxn id="908" idx="0"/>
            <a:endCxn id="909" idx="2"/>
          </p:cNvCxnSpPr>
          <p:nvPr/>
        </p:nvCxnSpPr>
        <p:spPr>
          <a:xfrm rot="10800000">
            <a:off x="375085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4" name="Google Shape;914;p63"/>
          <p:cNvSpPr txBox="1"/>
          <p:nvPr/>
        </p:nvSpPr>
        <p:spPr>
          <a:xfrm>
            <a:off x="388570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p63"/>
          <p:cNvSpPr txBox="1"/>
          <p:nvPr/>
        </p:nvSpPr>
        <p:spPr>
          <a:xfrm>
            <a:off x="389742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63"/>
          <p:cNvSpPr/>
          <p:nvPr/>
        </p:nvSpPr>
        <p:spPr>
          <a:xfrm>
            <a:off x="571802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63"/>
          <p:cNvSpPr/>
          <p:nvPr/>
        </p:nvSpPr>
        <p:spPr>
          <a:xfrm>
            <a:off x="571802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3"/>
          <p:cNvSpPr/>
          <p:nvPr/>
        </p:nvSpPr>
        <p:spPr>
          <a:xfrm>
            <a:off x="502157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63"/>
          <p:cNvSpPr/>
          <p:nvPr/>
        </p:nvSpPr>
        <p:spPr>
          <a:xfrm>
            <a:off x="502157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0" name="Google Shape;920;p63"/>
          <p:cNvSpPr txBox="1"/>
          <p:nvPr/>
        </p:nvSpPr>
        <p:spPr>
          <a:xfrm>
            <a:off x="502157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1" name="Google Shape;921;p63"/>
          <p:cNvCxnSpPr>
            <a:stCxn id="916" idx="0"/>
            <a:endCxn id="918" idx="2"/>
          </p:cNvCxnSpPr>
          <p:nvPr/>
        </p:nvCxnSpPr>
        <p:spPr>
          <a:xfrm rot="10800000">
            <a:off x="585287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2" name="Google Shape;922;p63"/>
          <p:cNvCxnSpPr>
            <a:stCxn id="918" idx="0"/>
            <a:endCxn id="917" idx="2"/>
          </p:cNvCxnSpPr>
          <p:nvPr/>
        </p:nvCxnSpPr>
        <p:spPr>
          <a:xfrm rot="10800000">
            <a:off x="585287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63"/>
          <p:cNvCxnSpPr>
            <a:stCxn id="917" idx="0"/>
            <a:endCxn id="919" idx="2"/>
          </p:cNvCxnSpPr>
          <p:nvPr/>
        </p:nvCxnSpPr>
        <p:spPr>
          <a:xfrm rot="10800000">
            <a:off x="585287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63"/>
          <p:cNvCxnSpPr>
            <a:stCxn id="919" idx="0"/>
            <a:endCxn id="920" idx="2"/>
          </p:cNvCxnSpPr>
          <p:nvPr/>
        </p:nvCxnSpPr>
        <p:spPr>
          <a:xfrm rot="10800000">
            <a:off x="585287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63"/>
          <p:cNvSpPr txBox="1"/>
          <p:nvPr/>
        </p:nvSpPr>
        <p:spPr>
          <a:xfrm>
            <a:off x="602292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63"/>
          <p:cNvSpPr txBox="1"/>
          <p:nvPr/>
        </p:nvSpPr>
        <p:spPr>
          <a:xfrm>
            <a:off x="5999450" y="2658913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63"/>
          <p:cNvSpPr/>
          <p:nvPr/>
        </p:nvSpPr>
        <p:spPr>
          <a:xfrm>
            <a:off x="782005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63"/>
          <p:cNvSpPr/>
          <p:nvPr/>
        </p:nvSpPr>
        <p:spPr>
          <a:xfrm>
            <a:off x="782005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3"/>
          <p:cNvSpPr/>
          <p:nvPr/>
        </p:nvSpPr>
        <p:spPr>
          <a:xfrm>
            <a:off x="712360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3"/>
          <p:cNvSpPr/>
          <p:nvPr/>
        </p:nvSpPr>
        <p:spPr>
          <a:xfrm>
            <a:off x="712360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3"/>
          <p:cNvSpPr txBox="1"/>
          <p:nvPr/>
        </p:nvSpPr>
        <p:spPr>
          <a:xfrm>
            <a:off x="712360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63"/>
          <p:cNvCxnSpPr>
            <a:stCxn id="927" idx="0"/>
            <a:endCxn id="929" idx="2"/>
          </p:cNvCxnSpPr>
          <p:nvPr/>
        </p:nvCxnSpPr>
        <p:spPr>
          <a:xfrm rot="10800000">
            <a:off x="795490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63"/>
          <p:cNvCxnSpPr>
            <a:stCxn id="929" idx="0"/>
            <a:endCxn id="928" idx="2"/>
          </p:cNvCxnSpPr>
          <p:nvPr/>
        </p:nvCxnSpPr>
        <p:spPr>
          <a:xfrm rot="10800000">
            <a:off x="795490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63"/>
          <p:cNvCxnSpPr>
            <a:stCxn id="928" idx="0"/>
            <a:endCxn id="930" idx="2"/>
          </p:cNvCxnSpPr>
          <p:nvPr/>
        </p:nvCxnSpPr>
        <p:spPr>
          <a:xfrm rot="10800000">
            <a:off x="795490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63"/>
          <p:cNvCxnSpPr>
            <a:stCxn id="930" idx="0"/>
            <a:endCxn id="931" idx="2"/>
          </p:cNvCxnSpPr>
          <p:nvPr/>
        </p:nvCxnSpPr>
        <p:spPr>
          <a:xfrm rot="10800000">
            <a:off x="795490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63"/>
          <p:cNvSpPr txBox="1"/>
          <p:nvPr/>
        </p:nvSpPr>
        <p:spPr>
          <a:xfrm>
            <a:off x="808975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37" name="Google Shape;937;p63"/>
          <p:cNvGrpSpPr/>
          <p:nvPr/>
        </p:nvGrpSpPr>
        <p:grpSpPr>
          <a:xfrm>
            <a:off x="374100" y="3205850"/>
            <a:ext cx="8851450" cy="679200"/>
            <a:chOff x="374100" y="3205850"/>
            <a:chExt cx="8851450" cy="679200"/>
          </a:xfrm>
        </p:grpSpPr>
        <p:cxnSp>
          <p:nvCxnSpPr>
            <p:cNvPr id="938" name="Google Shape;938;p63"/>
            <p:cNvCxnSpPr>
              <a:stCxn id="903" idx="3"/>
              <a:endCxn id="894" idx="1"/>
            </p:cNvCxnSpPr>
            <p:nvPr/>
          </p:nvCxnSpPr>
          <p:spPr>
            <a:xfrm>
              <a:off x="374100" y="3205850"/>
              <a:ext cx="478500" cy="679200"/>
            </a:xfrm>
            <a:prstGeom prst="bentConnector3">
              <a:avLst>
                <a:gd fmla="val 5001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9" name="Google Shape;939;p63"/>
            <p:cNvCxnSpPr>
              <a:stCxn id="896" idx="3"/>
              <a:endCxn id="907" idx="1"/>
            </p:cNvCxnSpPr>
            <p:nvPr/>
          </p:nvCxnSpPr>
          <p:spPr>
            <a:xfrm>
              <a:off x="1818875" y="3205850"/>
              <a:ext cx="1100700" cy="679200"/>
            </a:xfrm>
            <a:prstGeom prst="bentConnector3">
              <a:avLst>
                <a:gd fmla="val 49999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0" name="Google Shape;940;p63"/>
            <p:cNvCxnSpPr>
              <a:stCxn id="906" idx="3"/>
              <a:endCxn id="918" idx="1"/>
            </p:cNvCxnSpPr>
            <p:nvPr/>
          </p:nvCxnSpPr>
          <p:spPr>
            <a:xfrm>
              <a:off x="3885700" y="3205850"/>
              <a:ext cx="1135800" cy="679200"/>
            </a:xfrm>
            <a:prstGeom prst="bentConnector3">
              <a:avLst>
                <a:gd fmla="val 5000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1" name="Google Shape;941;p63"/>
            <p:cNvCxnSpPr>
              <a:stCxn id="917" idx="3"/>
              <a:endCxn id="929" idx="1"/>
            </p:cNvCxnSpPr>
            <p:nvPr/>
          </p:nvCxnSpPr>
          <p:spPr>
            <a:xfrm>
              <a:off x="5987725" y="3205850"/>
              <a:ext cx="1135800" cy="679200"/>
            </a:xfrm>
            <a:prstGeom prst="bentConnector3">
              <a:avLst>
                <a:gd fmla="val 50003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2" name="Google Shape;942;p63"/>
            <p:cNvCxnSpPr>
              <a:stCxn id="928" idx="3"/>
            </p:cNvCxnSpPr>
            <p:nvPr/>
          </p:nvCxnSpPr>
          <p:spPr>
            <a:xfrm>
              <a:off x="8089750" y="3205850"/>
              <a:ext cx="1135800" cy="678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rgbClr val="A64D7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43" name="Google Shape;943;p63"/>
          <p:cNvSpPr txBox="1"/>
          <p:nvPr/>
        </p:nvSpPr>
        <p:spPr>
          <a:xfrm>
            <a:off x="810147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63"/>
          <p:cNvSpPr txBox="1"/>
          <p:nvPr/>
        </p:nvSpPr>
        <p:spPr>
          <a:xfrm>
            <a:off x="104400" y="759500"/>
            <a:ext cx="23451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(Mikolov et al., 2010)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63"/>
          <p:cNvSpPr/>
          <p:nvPr/>
        </p:nvSpPr>
        <p:spPr>
          <a:xfrm>
            <a:off x="4163900" y="759500"/>
            <a:ext cx="3049200" cy="1035300"/>
          </a:xfrm>
          <a:prstGeom prst="wedgeRectCallout">
            <a:avLst>
              <a:gd fmla="val -33534" name="adj1"/>
              <a:gd fmla="val 157496" name="adj2"/>
            </a:avLst>
          </a:prstGeom>
          <a:solidFill>
            <a:srgbClr val="1A237E">
              <a:alpha val="20000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Every state can look at only previous state.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4"/>
          <p:cNvSpPr txBox="1"/>
          <p:nvPr/>
        </p:nvSpPr>
        <p:spPr>
          <a:xfrm>
            <a:off x="602292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4"/>
          <p:cNvSpPr txBox="1"/>
          <p:nvPr/>
        </p:nvSpPr>
        <p:spPr>
          <a:xfrm>
            <a:off x="388570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64"/>
          <p:cNvSpPr txBox="1"/>
          <p:nvPr/>
        </p:nvSpPr>
        <p:spPr>
          <a:xfrm>
            <a:off x="1795400" y="26738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64"/>
          <p:cNvSpPr txBox="1"/>
          <p:nvPr/>
        </p:nvSpPr>
        <p:spPr>
          <a:xfrm>
            <a:off x="389742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64"/>
          <p:cNvSpPr txBox="1"/>
          <p:nvPr/>
        </p:nvSpPr>
        <p:spPr>
          <a:xfrm>
            <a:off x="5999450" y="2658913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4"/>
          <p:cNvSpPr txBox="1"/>
          <p:nvPr/>
        </p:nvSpPr>
        <p:spPr>
          <a:xfrm>
            <a:off x="810147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6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for LM: GPT-2 and its successors</a:t>
            </a:r>
            <a:endParaRPr/>
          </a:p>
        </p:txBody>
      </p:sp>
      <p:sp>
        <p:nvSpPr>
          <p:cNvPr id="957" name="Google Shape;957;p6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58" name="Google Shape;958;p64"/>
          <p:cNvCxnSpPr>
            <a:stCxn id="959" idx="0"/>
            <a:endCxn id="960" idx="2"/>
          </p:cNvCxnSpPr>
          <p:nvPr/>
        </p:nvCxnSpPr>
        <p:spPr>
          <a:xfrm rot="10800000">
            <a:off x="168402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64"/>
          <p:cNvCxnSpPr>
            <a:stCxn id="960" idx="0"/>
            <a:endCxn id="962" idx="2"/>
          </p:cNvCxnSpPr>
          <p:nvPr/>
        </p:nvCxnSpPr>
        <p:spPr>
          <a:xfrm rot="10800000">
            <a:off x="168402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64"/>
          <p:cNvCxnSpPr>
            <a:stCxn id="962" idx="0"/>
            <a:endCxn id="964" idx="2"/>
          </p:cNvCxnSpPr>
          <p:nvPr/>
        </p:nvCxnSpPr>
        <p:spPr>
          <a:xfrm rot="10800000">
            <a:off x="168402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64"/>
          <p:cNvCxnSpPr>
            <a:stCxn id="964" idx="0"/>
            <a:endCxn id="966" idx="2"/>
          </p:cNvCxnSpPr>
          <p:nvPr/>
        </p:nvCxnSpPr>
        <p:spPr>
          <a:xfrm rot="10800000">
            <a:off x="168402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64"/>
          <p:cNvSpPr txBox="1"/>
          <p:nvPr/>
        </p:nvSpPr>
        <p:spPr>
          <a:xfrm>
            <a:off x="181887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9" name="Google Shape;959;p64"/>
          <p:cNvSpPr/>
          <p:nvPr/>
        </p:nvSpPr>
        <p:spPr>
          <a:xfrm>
            <a:off x="154917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4"/>
          <p:cNvSpPr/>
          <p:nvPr/>
        </p:nvSpPr>
        <p:spPr>
          <a:xfrm>
            <a:off x="154917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4"/>
          <p:cNvSpPr/>
          <p:nvPr/>
        </p:nvSpPr>
        <p:spPr>
          <a:xfrm>
            <a:off x="85272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85272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64"/>
          <p:cNvSpPr txBox="1"/>
          <p:nvPr/>
        </p:nvSpPr>
        <p:spPr>
          <a:xfrm>
            <a:off x="85272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64"/>
          <p:cNvSpPr/>
          <p:nvPr/>
        </p:nvSpPr>
        <p:spPr>
          <a:xfrm>
            <a:off x="361600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4"/>
          <p:cNvSpPr/>
          <p:nvPr/>
        </p:nvSpPr>
        <p:spPr>
          <a:xfrm>
            <a:off x="36160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4"/>
          <p:cNvSpPr/>
          <p:nvPr/>
        </p:nvSpPr>
        <p:spPr>
          <a:xfrm>
            <a:off x="291955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64"/>
          <p:cNvSpPr/>
          <p:nvPr/>
        </p:nvSpPr>
        <p:spPr>
          <a:xfrm>
            <a:off x="291955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64"/>
          <p:cNvSpPr txBox="1"/>
          <p:nvPr/>
        </p:nvSpPr>
        <p:spPr>
          <a:xfrm>
            <a:off x="291955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3" name="Google Shape;973;p64"/>
          <p:cNvCxnSpPr>
            <a:stCxn id="968" idx="0"/>
            <a:endCxn id="970" idx="2"/>
          </p:cNvCxnSpPr>
          <p:nvPr/>
        </p:nvCxnSpPr>
        <p:spPr>
          <a:xfrm rot="10800000">
            <a:off x="375085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64"/>
          <p:cNvCxnSpPr>
            <a:stCxn id="970" idx="0"/>
            <a:endCxn id="969" idx="2"/>
          </p:cNvCxnSpPr>
          <p:nvPr/>
        </p:nvCxnSpPr>
        <p:spPr>
          <a:xfrm rot="10800000">
            <a:off x="375085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64"/>
          <p:cNvCxnSpPr>
            <a:stCxn id="969" idx="0"/>
            <a:endCxn id="971" idx="2"/>
          </p:cNvCxnSpPr>
          <p:nvPr/>
        </p:nvCxnSpPr>
        <p:spPr>
          <a:xfrm rot="10800000">
            <a:off x="375085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6" name="Google Shape;976;p64"/>
          <p:cNvCxnSpPr>
            <a:stCxn id="971" idx="0"/>
            <a:endCxn id="972" idx="2"/>
          </p:cNvCxnSpPr>
          <p:nvPr/>
        </p:nvCxnSpPr>
        <p:spPr>
          <a:xfrm rot="10800000">
            <a:off x="375085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7" name="Google Shape;977;p64"/>
          <p:cNvSpPr/>
          <p:nvPr/>
        </p:nvSpPr>
        <p:spPr>
          <a:xfrm>
            <a:off x="571802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4"/>
          <p:cNvSpPr/>
          <p:nvPr/>
        </p:nvSpPr>
        <p:spPr>
          <a:xfrm>
            <a:off x="571802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4"/>
          <p:cNvSpPr/>
          <p:nvPr/>
        </p:nvSpPr>
        <p:spPr>
          <a:xfrm>
            <a:off x="502157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4"/>
          <p:cNvSpPr/>
          <p:nvPr/>
        </p:nvSpPr>
        <p:spPr>
          <a:xfrm>
            <a:off x="5021575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4"/>
          <p:cNvSpPr txBox="1"/>
          <p:nvPr/>
        </p:nvSpPr>
        <p:spPr>
          <a:xfrm>
            <a:off x="5021575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2" name="Google Shape;982;p64"/>
          <p:cNvCxnSpPr>
            <a:stCxn id="977" idx="0"/>
            <a:endCxn id="979" idx="2"/>
          </p:cNvCxnSpPr>
          <p:nvPr/>
        </p:nvCxnSpPr>
        <p:spPr>
          <a:xfrm rot="10800000">
            <a:off x="585287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64"/>
          <p:cNvCxnSpPr>
            <a:stCxn id="979" idx="0"/>
            <a:endCxn id="978" idx="2"/>
          </p:cNvCxnSpPr>
          <p:nvPr/>
        </p:nvCxnSpPr>
        <p:spPr>
          <a:xfrm rot="10800000">
            <a:off x="585287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64"/>
          <p:cNvCxnSpPr>
            <a:stCxn id="978" idx="0"/>
            <a:endCxn id="980" idx="2"/>
          </p:cNvCxnSpPr>
          <p:nvPr/>
        </p:nvCxnSpPr>
        <p:spPr>
          <a:xfrm rot="10800000">
            <a:off x="5852875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64"/>
          <p:cNvCxnSpPr>
            <a:stCxn id="980" idx="0"/>
            <a:endCxn id="981" idx="2"/>
          </p:cNvCxnSpPr>
          <p:nvPr/>
        </p:nvCxnSpPr>
        <p:spPr>
          <a:xfrm rot="10800000">
            <a:off x="5852875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64"/>
          <p:cNvSpPr/>
          <p:nvPr/>
        </p:nvSpPr>
        <p:spPr>
          <a:xfrm>
            <a:off x="782005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4"/>
          <p:cNvSpPr/>
          <p:nvPr/>
        </p:nvSpPr>
        <p:spPr>
          <a:xfrm>
            <a:off x="782005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712360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64"/>
          <p:cNvSpPr/>
          <p:nvPr/>
        </p:nvSpPr>
        <p:spPr>
          <a:xfrm>
            <a:off x="712360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0" name="Google Shape;990;p64"/>
          <p:cNvSpPr txBox="1"/>
          <p:nvPr/>
        </p:nvSpPr>
        <p:spPr>
          <a:xfrm>
            <a:off x="712360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1" name="Google Shape;991;p64"/>
          <p:cNvCxnSpPr>
            <a:stCxn id="986" idx="0"/>
            <a:endCxn id="988" idx="2"/>
          </p:cNvCxnSpPr>
          <p:nvPr/>
        </p:nvCxnSpPr>
        <p:spPr>
          <a:xfrm rot="10800000">
            <a:off x="795490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64"/>
          <p:cNvCxnSpPr>
            <a:stCxn id="988" idx="0"/>
            <a:endCxn id="987" idx="2"/>
          </p:cNvCxnSpPr>
          <p:nvPr/>
        </p:nvCxnSpPr>
        <p:spPr>
          <a:xfrm rot="10800000">
            <a:off x="795490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64"/>
          <p:cNvCxnSpPr>
            <a:stCxn id="987" idx="0"/>
            <a:endCxn id="989" idx="2"/>
          </p:cNvCxnSpPr>
          <p:nvPr/>
        </p:nvCxnSpPr>
        <p:spPr>
          <a:xfrm rot="10800000">
            <a:off x="795490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64"/>
          <p:cNvCxnSpPr>
            <a:stCxn id="989" idx="0"/>
            <a:endCxn id="990" idx="2"/>
          </p:cNvCxnSpPr>
          <p:nvPr/>
        </p:nvCxnSpPr>
        <p:spPr>
          <a:xfrm rot="10800000">
            <a:off x="795490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64"/>
          <p:cNvSpPr txBox="1"/>
          <p:nvPr/>
        </p:nvSpPr>
        <p:spPr>
          <a:xfrm>
            <a:off x="808975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64"/>
          <p:cNvCxnSpPr>
            <a:stCxn id="959" idx="3"/>
            <a:endCxn id="970" idx="1"/>
          </p:cNvCxnSpPr>
          <p:nvPr/>
        </p:nvCxnSpPr>
        <p:spPr>
          <a:xfrm flipH="1" rot="10800000">
            <a:off x="1818875" y="3885250"/>
            <a:ext cx="1100700" cy="679200"/>
          </a:xfrm>
          <a:prstGeom prst="curvedConnector3">
            <a:avLst>
              <a:gd fmla="val 49999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97" name="Google Shape;997;p64"/>
          <p:cNvGrpSpPr/>
          <p:nvPr/>
        </p:nvGrpSpPr>
        <p:grpSpPr>
          <a:xfrm>
            <a:off x="1818875" y="3885250"/>
            <a:ext cx="3202800" cy="679200"/>
            <a:chOff x="1818875" y="3885250"/>
            <a:chExt cx="3202800" cy="679200"/>
          </a:xfrm>
        </p:grpSpPr>
        <p:cxnSp>
          <p:nvCxnSpPr>
            <p:cNvPr id="998" name="Google Shape;998;p64"/>
            <p:cNvCxnSpPr>
              <a:stCxn id="968" idx="3"/>
              <a:endCxn id="979" idx="1"/>
            </p:cNvCxnSpPr>
            <p:nvPr/>
          </p:nvCxnSpPr>
          <p:spPr>
            <a:xfrm flipH="1" rot="10800000">
              <a:off x="3885700" y="3885250"/>
              <a:ext cx="1135800" cy="679200"/>
            </a:xfrm>
            <a:prstGeom prst="curvedConnector3">
              <a:avLst>
                <a:gd fmla="val 50003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9" name="Google Shape;999;p64"/>
            <p:cNvCxnSpPr>
              <a:stCxn id="959" idx="3"/>
              <a:endCxn id="979" idx="1"/>
            </p:cNvCxnSpPr>
            <p:nvPr/>
          </p:nvCxnSpPr>
          <p:spPr>
            <a:xfrm flipH="1" rot="10800000">
              <a:off x="1818875" y="3885250"/>
              <a:ext cx="3202800" cy="679200"/>
            </a:xfrm>
            <a:prstGeom prst="curvedConnector3">
              <a:avLst>
                <a:gd fmla="val 49998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00" name="Google Shape;1000;p64"/>
          <p:cNvGrpSpPr/>
          <p:nvPr/>
        </p:nvGrpSpPr>
        <p:grpSpPr>
          <a:xfrm>
            <a:off x="1818875" y="3885250"/>
            <a:ext cx="5304725" cy="679200"/>
            <a:chOff x="1818875" y="3885250"/>
            <a:chExt cx="5304725" cy="679200"/>
          </a:xfrm>
        </p:grpSpPr>
        <p:cxnSp>
          <p:nvCxnSpPr>
            <p:cNvPr id="1001" name="Google Shape;1001;p64"/>
            <p:cNvCxnSpPr>
              <a:stCxn id="977" idx="3"/>
              <a:endCxn id="988" idx="1"/>
            </p:cNvCxnSpPr>
            <p:nvPr/>
          </p:nvCxnSpPr>
          <p:spPr>
            <a:xfrm flipH="1" rot="10800000">
              <a:off x="5987725" y="3885250"/>
              <a:ext cx="1135800" cy="679200"/>
            </a:xfrm>
            <a:prstGeom prst="curvedConnector3">
              <a:avLst>
                <a:gd fmla="val 50003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2" name="Google Shape;1002;p64"/>
            <p:cNvCxnSpPr>
              <a:stCxn id="968" idx="3"/>
              <a:endCxn id="988" idx="1"/>
            </p:cNvCxnSpPr>
            <p:nvPr/>
          </p:nvCxnSpPr>
          <p:spPr>
            <a:xfrm flipH="1" rot="10800000">
              <a:off x="3885700" y="3885250"/>
              <a:ext cx="3237900" cy="6792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03" name="Google Shape;1003;p64"/>
            <p:cNvCxnSpPr>
              <a:stCxn id="959" idx="3"/>
              <a:endCxn id="988" idx="1"/>
            </p:cNvCxnSpPr>
            <p:nvPr/>
          </p:nvCxnSpPr>
          <p:spPr>
            <a:xfrm flipH="1" rot="10800000">
              <a:off x="1818875" y="3885250"/>
              <a:ext cx="5304600" cy="679200"/>
            </a:xfrm>
            <a:prstGeom prst="curvedConnector3">
              <a:avLst>
                <a:gd fmla="val 50001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04" name="Google Shape;1004;p64"/>
          <p:cNvSpPr txBox="1"/>
          <p:nvPr/>
        </p:nvSpPr>
        <p:spPr>
          <a:xfrm>
            <a:off x="104400" y="759500"/>
            <a:ext cx="23451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Radford et al., 2019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;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Brown et al., 2020</a:t>
            </a: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5" name="Google Shape;1005;p64"/>
          <p:cNvSpPr/>
          <p:nvPr/>
        </p:nvSpPr>
        <p:spPr>
          <a:xfrm>
            <a:off x="2515325" y="903488"/>
            <a:ext cx="2638500" cy="811800"/>
          </a:xfrm>
          <a:prstGeom prst="wedgeRectCallout">
            <a:avLst>
              <a:gd fmla="val 37508" name="adj1"/>
              <a:gd fmla="val 306869" name="adj2"/>
            </a:avLst>
          </a:prstGeom>
          <a:solidFill>
            <a:srgbClr val="1A237E">
              <a:alpha val="20000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Every state can look at all previous states.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06" name="Google Shape;1006;p64"/>
          <p:cNvSpPr/>
          <p:nvPr/>
        </p:nvSpPr>
        <p:spPr>
          <a:xfrm>
            <a:off x="6100150" y="862600"/>
            <a:ext cx="3091800" cy="811800"/>
          </a:xfrm>
          <a:prstGeom prst="wedgeRectCallout">
            <a:avLst>
              <a:gd fmla="val -32744" name="adj1"/>
              <a:gd fmla="val 290476" name="adj2"/>
            </a:avLst>
          </a:prstGeom>
          <a:solidFill>
            <a:srgbClr val="1A237E">
              <a:alpha val="20000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Representation comes from lower layers.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LM with self-attention: BERT and its variants </a:t>
            </a:r>
            <a:endParaRPr/>
          </a:p>
        </p:txBody>
      </p:sp>
      <p:sp>
        <p:nvSpPr>
          <p:cNvPr id="1012" name="Google Shape;1012;p6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13" name="Google Shape;1013;p65"/>
          <p:cNvCxnSpPr>
            <a:stCxn id="1014" idx="0"/>
            <a:endCxn id="1015" idx="2"/>
          </p:cNvCxnSpPr>
          <p:nvPr/>
        </p:nvCxnSpPr>
        <p:spPr>
          <a:xfrm rot="10800000">
            <a:off x="168402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5"/>
          <p:cNvCxnSpPr>
            <a:stCxn id="1015" idx="0"/>
            <a:endCxn id="1017" idx="2"/>
          </p:cNvCxnSpPr>
          <p:nvPr/>
        </p:nvCxnSpPr>
        <p:spPr>
          <a:xfrm rot="10800000">
            <a:off x="168402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8" name="Google Shape;1018;p65"/>
          <p:cNvSpPr txBox="1"/>
          <p:nvPr/>
        </p:nvSpPr>
        <p:spPr>
          <a:xfrm>
            <a:off x="1795400" y="2673838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65"/>
          <p:cNvSpPr txBox="1"/>
          <p:nvPr/>
        </p:nvSpPr>
        <p:spPr>
          <a:xfrm>
            <a:off x="181887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65"/>
          <p:cNvSpPr/>
          <p:nvPr/>
        </p:nvSpPr>
        <p:spPr>
          <a:xfrm>
            <a:off x="154917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5"/>
          <p:cNvSpPr/>
          <p:nvPr/>
        </p:nvSpPr>
        <p:spPr>
          <a:xfrm>
            <a:off x="154917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5"/>
          <p:cNvSpPr/>
          <p:nvPr/>
        </p:nvSpPr>
        <p:spPr>
          <a:xfrm>
            <a:off x="85272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65"/>
          <p:cNvSpPr/>
          <p:nvPr/>
        </p:nvSpPr>
        <p:spPr>
          <a:xfrm>
            <a:off x="361600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5"/>
          <p:cNvSpPr/>
          <p:nvPr/>
        </p:nvSpPr>
        <p:spPr>
          <a:xfrm>
            <a:off x="361600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5"/>
          <p:cNvSpPr/>
          <p:nvPr/>
        </p:nvSpPr>
        <p:spPr>
          <a:xfrm>
            <a:off x="291955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65"/>
          <p:cNvSpPr/>
          <p:nvPr/>
        </p:nvSpPr>
        <p:spPr>
          <a:xfrm>
            <a:off x="2919550" y="2330363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softmax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65"/>
          <p:cNvSpPr txBox="1"/>
          <p:nvPr/>
        </p:nvSpPr>
        <p:spPr>
          <a:xfrm>
            <a:off x="2919550" y="1715300"/>
            <a:ext cx="166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aseline="-25000"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5" name="Google Shape;1025;p65"/>
          <p:cNvCxnSpPr>
            <a:stCxn id="1020" idx="0"/>
            <a:endCxn id="1022" idx="2"/>
          </p:cNvCxnSpPr>
          <p:nvPr/>
        </p:nvCxnSpPr>
        <p:spPr>
          <a:xfrm rot="10800000">
            <a:off x="375085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65"/>
          <p:cNvCxnSpPr>
            <a:stCxn id="1022" idx="0"/>
            <a:endCxn id="1021" idx="2"/>
          </p:cNvCxnSpPr>
          <p:nvPr/>
        </p:nvCxnSpPr>
        <p:spPr>
          <a:xfrm rot="10800000">
            <a:off x="375085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65"/>
          <p:cNvCxnSpPr>
            <a:stCxn id="1021" idx="0"/>
            <a:endCxn id="1023" idx="2"/>
          </p:cNvCxnSpPr>
          <p:nvPr/>
        </p:nvCxnSpPr>
        <p:spPr>
          <a:xfrm rot="10800000">
            <a:off x="3750850" y="2615600"/>
            <a:ext cx="0" cy="2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65"/>
          <p:cNvCxnSpPr>
            <a:stCxn id="1023" idx="0"/>
            <a:endCxn id="1024" idx="2"/>
          </p:cNvCxnSpPr>
          <p:nvPr/>
        </p:nvCxnSpPr>
        <p:spPr>
          <a:xfrm rot="10800000">
            <a:off x="3750850" y="2108963"/>
            <a:ext cx="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65"/>
          <p:cNvSpPr txBox="1"/>
          <p:nvPr/>
        </p:nvSpPr>
        <p:spPr>
          <a:xfrm>
            <a:off x="388570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  <a:endParaRPr b="1"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5"/>
          <p:cNvSpPr txBox="1"/>
          <p:nvPr/>
        </p:nvSpPr>
        <p:spPr>
          <a:xfrm>
            <a:off x="389742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5"/>
          <p:cNvSpPr/>
          <p:nvPr/>
        </p:nvSpPr>
        <p:spPr>
          <a:xfrm>
            <a:off x="5718025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5718025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5021575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4" name="Google Shape;1034;p65"/>
          <p:cNvCxnSpPr>
            <a:stCxn id="1031" idx="0"/>
            <a:endCxn id="1033" idx="2"/>
          </p:cNvCxnSpPr>
          <p:nvPr/>
        </p:nvCxnSpPr>
        <p:spPr>
          <a:xfrm rot="10800000">
            <a:off x="5852875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5" name="Google Shape;1035;p65"/>
          <p:cNvCxnSpPr>
            <a:stCxn id="1033" idx="0"/>
            <a:endCxn id="1032" idx="2"/>
          </p:cNvCxnSpPr>
          <p:nvPr/>
        </p:nvCxnSpPr>
        <p:spPr>
          <a:xfrm rot="10800000">
            <a:off x="5852875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6" name="Google Shape;1036;p65"/>
          <p:cNvSpPr txBox="1"/>
          <p:nvPr/>
        </p:nvSpPr>
        <p:spPr>
          <a:xfrm>
            <a:off x="6022925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5"/>
          <p:cNvSpPr txBox="1"/>
          <p:nvPr/>
        </p:nvSpPr>
        <p:spPr>
          <a:xfrm>
            <a:off x="5999450" y="2658913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8" name="Google Shape;1038;p65"/>
          <p:cNvSpPr/>
          <p:nvPr/>
        </p:nvSpPr>
        <p:spPr>
          <a:xfrm>
            <a:off x="7820050" y="4242100"/>
            <a:ext cx="269700" cy="644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5"/>
          <p:cNvSpPr/>
          <p:nvPr/>
        </p:nvSpPr>
        <p:spPr>
          <a:xfrm>
            <a:off x="7820050" y="2883500"/>
            <a:ext cx="269700" cy="644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5"/>
          <p:cNvSpPr/>
          <p:nvPr/>
        </p:nvSpPr>
        <p:spPr>
          <a:xfrm>
            <a:off x="7123600" y="3742488"/>
            <a:ext cx="1662600" cy="285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transform</a:t>
            </a:r>
            <a:endParaRPr sz="18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1" name="Google Shape;1041;p65"/>
          <p:cNvCxnSpPr>
            <a:stCxn id="1038" idx="0"/>
            <a:endCxn id="1040" idx="2"/>
          </p:cNvCxnSpPr>
          <p:nvPr/>
        </p:nvCxnSpPr>
        <p:spPr>
          <a:xfrm rot="10800000">
            <a:off x="7954900" y="4027900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2" name="Google Shape;1042;p65"/>
          <p:cNvCxnSpPr>
            <a:stCxn id="1040" idx="0"/>
            <a:endCxn id="1039" idx="2"/>
          </p:cNvCxnSpPr>
          <p:nvPr/>
        </p:nvCxnSpPr>
        <p:spPr>
          <a:xfrm rot="10800000">
            <a:off x="7954900" y="3528288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3" name="Google Shape;1043;p65"/>
          <p:cNvSpPr txBox="1"/>
          <p:nvPr/>
        </p:nvSpPr>
        <p:spPr>
          <a:xfrm>
            <a:off x="8089750" y="4383100"/>
            <a:ext cx="9825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aseline="-25000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baseline="-25000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65"/>
          <p:cNvSpPr txBox="1"/>
          <p:nvPr/>
        </p:nvSpPr>
        <p:spPr>
          <a:xfrm>
            <a:off x="8101475" y="2658900"/>
            <a:ext cx="3993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r>
              <a:rPr baseline="-25000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aseline="-25000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45" name="Google Shape;1045;p65"/>
          <p:cNvGrpSpPr/>
          <p:nvPr/>
        </p:nvGrpSpPr>
        <p:grpSpPr>
          <a:xfrm>
            <a:off x="1818875" y="3885250"/>
            <a:ext cx="6001175" cy="679200"/>
            <a:chOff x="1818875" y="3885250"/>
            <a:chExt cx="6001175" cy="679200"/>
          </a:xfrm>
        </p:grpSpPr>
        <p:cxnSp>
          <p:nvCxnSpPr>
            <p:cNvPr id="1046" name="Google Shape;1046;p65"/>
            <p:cNvCxnSpPr>
              <a:stCxn id="1014" idx="3"/>
              <a:endCxn id="1022" idx="1"/>
            </p:cNvCxnSpPr>
            <p:nvPr/>
          </p:nvCxnSpPr>
          <p:spPr>
            <a:xfrm flipH="1" rot="10800000">
              <a:off x="1818875" y="3885250"/>
              <a:ext cx="1100700" cy="679200"/>
            </a:xfrm>
            <a:prstGeom prst="curvedConnector3">
              <a:avLst>
                <a:gd fmla="val 49999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47" name="Google Shape;1047;p65"/>
            <p:cNvCxnSpPr>
              <a:stCxn id="1031" idx="1"/>
              <a:endCxn id="1022" idx="3"/>
            </p:cNvCxnSpPr>
            <p:nvPr/>
          </p:nvCxnSpPr>
          <p:spPr>
            <a:xfrm rot="10800000">
              <a:off x="4582225" y="3885250"/>
              <a:ext cx="1135800" cy="679200"/>
            </a:xfrm>
            <a:prstGeom prst="curvedConnector3">
              <a:avLst>
                <a:gd fmla="val 50003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48" name="Google Shape;1048;p65"/>
            <p:cNvCxnSpPr>
              <a:stCxn id="1038" idx="1"/>
              <a:endCxn id="1022" idx="3"/>
            </p:cNvCxnSpPr>
            <p:nvPr/>
          </p:nvCxnSpPr>
          <p:spPr>
            <a:xfrm rot="10800000">
              <a:off x="4582150" y="3885250"/>
              <a:ext cx="3237900" cy="6792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49" name="Google Shape;1049;p65"/>
          <p:cNvSpPr txBox="1"/>
          <p:nvPr/>
        </p:nvSpPr>
        <p:spPr>
          <a:xfrm>
            <a:off x="104400" y="759500"/>
            <a:ext cx="2345100" cy="4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(Devlin et al., 2019)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65"/>
          <p:cNvSpPr/>
          <p:nvPr/>
        </p:nvSpPr>
        <p:spPr>
          <a:xfrm>
            <a:off x="159425" y="1251838"/>
            <a:ext cx="3049200" cy="1035300"/>
          </a:xfrm>
          <a:prstGeom prst="wedgeRectCallout">
            <a:avLst>
              <a:gd fmla="val 39993" name="adj1"/>
              <a:gd fmla="val 70534" name="adj2"/>
            </a:avLst>
          </a:prstGeom>
          <a:solidFill>
            <a:srgbClr val="1A237E">
              <a:alpha val="20000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Masking for a position and predict the word at that position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51" name="Google Shape;1051;p65"/>
          <p:cNvSpPr/>
          <p:nvPr/>
        </p:nvSpPr>
        <p:spPr>
          <a:xfrm>
            <a:off x="6579750" y="1715300"/>
            <a:ext cx="2345100" cy="1035300"/>
          </a:xfrm>
          <a:prstGeom prst="wedgeRectCallout">
            <a:avLst>
              <a:gd fmla="val -34734" name="adj1"/>
              <a:gd fmla="val 92531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States from all the positions.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052" name="Google Shape;1052;p65"/>
          <p:cNvSpPr/>
          <p:nvPr/>
        </p:nvSpPr>
        <p:spPr>
          <a:xfrm>
            <a:off x="3361700" y="649525"/>
            <a:ext cx="4092000" cy="1035300"/>
          </a:xfrm>
          <a:prstGeom prst="wedgeRectCallout">
            <a:avLst>
              <a:gd fmla="val -34836" name="adj1"/>
              <a:gd fmla="val 68426" name="adj2"/>
            </a:avLst>
          </a:prstGeom>
          <a:solidFill>
            <a:srgbClr val="1A237E">
              <a:alpha val="20000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It is not a language model, but we can compute “pseudo-likelihood.” See (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Salazar et al., 2020</a:t>
            </a:r>
            <a:r>
              <a:rPr lang="en" sz="2000">
                <a:solidFill>
                  <a:schemeClr val="accent5"/>
                </a:solidFill>
              </a:rPr>
              <a:t>)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7" name="Google Shape;1057;p66"/>
          <p:cNvGrpSpPr/>
          <p:nvPr/>
        </p:nvGrpSpPr>
        <p:grpSpPr>
          <a:xfrm>
            <a:off x="4450600" y="2510250"/>
            <a:ext cx="4461900" cy="2369950"/>
            <a:chOff x="4450600" y="2510250"/>
            <a:chExt cx="4461900" cy="2369950"/>
          </a:xfrm>
        </p:grpSpPr>
        <p:sp>
          <p:nvSpPr>
            <p:cNvPr id="1058" name="Google Shape;1058;p66"/>
            <p:cNvSpPr/>
            <p:nvPr/>
          </p:nvSpPr>
          <p:spPr>
            <a:xfrm>
              <a:off x="4450600" y="2510250"/>
              <a:ext cx="4461900" cy="9534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5095375" y="4152700"/>
              <a:ext cx="3736800" cy="727500"/>
            </a:xfrm>
            <a:prstGeom prst="wedgeRectCallout">
              <a:avLst>
                <a:gd fmla="val 662" name="adj1"/>
                <a:gd fmla="val -138014" name="adj2"/>
              </a:avLst>
            </a:prstGeom>
            <a:solidFill>
              <a:srgbClr val="1A237E">
                <a:alpha val="20000"/>
              </a:srgbClr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5"/>
                  </a:solidFill>
                </a:rPr>
                <a:t>Weighted sum of values = new representation for “</a:t>
              </a:r>
              <a:r>
                <a:rPr b="1" lang="en" sz="2000">
                  <a:solidFill>
                    <a:schemeClr val="accent5"/>
                  </a:solidFill>
                </a:rPr>
                <a:t>walking</a:t>
              </a:r>
              <a:r>
                <a:rPr lang="en" sz="2000">
                  <a:solidFill>
                    <a:schemeClr val="accent5"/>
                  </a:solidFill>
                </a:rPr>
                <a:t>”</a:t>
              </a:r>
              <a:endParaRPr sz="2000">
                <a:solidFill>
                  <a:schemeClr val="accent5"/>
                </a:solidFill>
              </a:endParaRPr>
            </a:p>
          </p:txBody>
        </p:sp>
      </p:grpSp>
      <p:sp>
        <p:nvSpPr>
          <p:cNvPr id="1060" name="Google Shape;1060;p6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061" name="Google Shape;1061;p66"/>
          <p:cNvSpPr txBox="1"/>
          <p:nvPr>
            <p:ph idx="1" type="body"/>
          </p:nvPr>
        </p:nvSpPr>
        <p:spPr>
          <a:xfrm>
            <a:off x="226075" y="1465800"/>
            <a:ext cx="29895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Weighted sum of representations (</a:t>
            </a:r>
            <a:r>
              <a:rPr b="1" lang="en" sz="1800"/>
              <a:t>values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</a:t>
            </a:r>
            <a:r>
              <a:rPr b="1" lang="en" sz="1800"/>
              <a:t> query</a:t>
            </a:r>
            <a:r>
              <a:rPr lang="en" sz="1800"/>
              <a:t>, a </a:t>
            </a:r>
            <a:r>
              <a:rPr b="1" lang="en" sz="1800"/>
              <a:t>weight</a:t>
            </a:r>
            <a:r>
              <a:rPr lang="en" sz="1800"/>
              <a:t> (= similarity) for every</a:t>
            </a:r>
            <a:r>
              <a:rPr b="1" lang="en" sz="1800"/>
              <a:t> key</a:t>
            </a:r>
            <a:r>
              <a:rPr lang="en" sz="1800"/>
              <a:t> is computed.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Re-interpreting</a:t>
            </a:r>
            <a:r>
              <a:rPr lang="en" sz="1800"/>
              <a:t> representations </a:t>
            </a:r>
            <a:r>
              <a:rPr b="1" lang="en" sz="1800"/>
              <a:t>across context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Vaswani et al., 2017</a:t>
            </a:r>
            <a:r>
              <a:rPr lang="en" sz="1800"/>
              <a:t>).</a:t>
            </a:r>
            <a:endParaRPr sz="1800"/>
          </a:p>
        </p:txBody>
      </p:sp>
      <p:sp>
        <p:nvSpPr>
          <p:cNvPr id="1062" name="Google Shape;1062;p6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5051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6"/>
          <p:cNvSpPr/>
          <p:nvPr/>
        </p:nvSpPr>
        <p:spPr>
          <a:xfrm>
            <a:off x="45051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6"/>
          <p:cNvSpPr/>
          <p:nvPr/>
        </p:nvSpPr>
        <p:spPr>
          <a:xfrm>
            <a:off x="56670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56670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 txBox="1"/>
          <p:nvPr/>
        </p:nvSpPr>
        <p:spPr>
          <a:xfrm>
            <a:off x="42466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66"/>
          <p:cNvSpPr txBox="1"/>
          <p:nvPr/>
        </p:nvSpPr>
        <p:spPr>
          <a:xfrm>
            <a:off x="539672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68289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6"/>
          <p:cNvSpPr/>
          <p:nvPr/>
        </p:nvSpPr>
        <p:spPr>
          <a:xfrm>
            <a:off x="68289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6"/>
          <p:cNvSpPr txBox="1"/>
          <p:nvPr/>
        </p:nvSpPr>
        <p:spPr>
          <a:xfrm>
            <a:off x="65704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66"/>
          <p:cNvSpPr txBox="1"/>
          <p:nvPr/>
        </p:nvSpPr>
        <p:spPr>
          <a:xfrm>
            <a:off x="7643425" y="3690988"/>
            <a:ext cx="9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66"/>
          <p:cNvSpPr/>
          <p:nvPr/>
        </p:nvSpPr>
        <p:spPr>
          <a:xfrm>
            <a:off x="79908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6"/>
          <p:cNvSpPr/>
          <p:nvPr/>
        </p:nvSpPr>
        <p:spPr>
          <a:xfrm>
            <a:off x="79908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6"/>
          <p:cNvSpPr/>
          <p:nvPr/>
        </p:nvSpPr>
        <p:spPr>
          <a:xfrm>
            <a:off x="7990825" y="990800"/>
            <a:ext cx="269700" cy="6447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6"/>
          <p:cNvSpPr/>
          <p:nvPr/>
        </p:nvSpPr>
        <p:spPr>
          <a:xfrm>
            <a:off x="68289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6"/>
          <p:cNvSpPr/>
          <p:nvPr/>
        </p:nvSpPr>
        <p:spPr>
          <a:xfrm>
            <a:off x="56670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6"/>
          <p:cNvSpPr/>
          <p:nvPr/>
        </p:nvSpPr>
        <p:spPr>
          <a:xfrm>
            <a:off x="45051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9" name="Google Shape;1079;p66"/>
          <p:cNvGrpSpPr/>
          <p:nvPr/>
        </p:nvGrpSpPr>
        <p:grpSpPr>
          <a:xfrm>
            <a:off x="4742275" y="2736588"/>
            <a:ext cx="3841800" cy="465775"/>
            <a:chOff x="4742275" y="2736588"/>
            <a:chExt cx="3841800" cy="465775"/>
          </a:xfrm>
        </p:grpSpPr>
        <p:sp>
          <p:nvSpPr>
            <p:cNvPr id="1080" name="Google Shape;1080;p66"/>
            <p:cNvSpPr txBox="1"/>
            <p:nvPr/>
          </p:nvSpPr>
          <p:spPr>
            <a:xfrm>
              <a:off x="5239075" y="2740663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＋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1" name="Google Shape;1081;p66"/>
            <p:cNvSpPr txBox="1"/>
            <p:nvPr/>
          </p:nvSpPr>
          <p:spPr>
            <a:xfrm>
              <a:off x="6420025" y="2740663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＋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2" name="Google Shape;1082;p66"/>
            <p:cNvSpPr txBox="1"/>
            <p:nvPr/>
          </p:nvSpPr>
          <p:spPr>
            <a:xfrm>
              <a:off x="7562200" y="2736588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＋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3" name="Google Shape;1083;p66"/>
            <p:cNvSpPr txBox="1"/>
            <p:nvPr/>
          </p:nvSpPr>
          <p:spPr>
            <a:xfrm>
              <a:off x="4742275" y="2736588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×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4" name="Google Shape;1084;p66"/>
            <p:cNvSpPr txBox="1"/>
            <p:nvPr/>
          </p:nvSpPr>
          <p:spPr>
            <a:xfrm>
              <a:off x="5914975" y="2736588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×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5" name="Google Shape;1085;p66"/>
            <p:cNvSpPr txBox="1"/>
            <p:nvPr/>
          </p:nvSpPr>
          <p:spPr>
            <a:xfrm>
              <a:off x="7087675" y="2736588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×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6" name="Google Shape;1086;p66"/>
            <p:cNvSpPr txBox="1"/>
            <p:nvPr/>
          </p:nvSpPr>
          <p:spPr>
            <a:xfrm>
              <a:off x="8260375" y="2736588"/>
              <a:ext cx="323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×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7" name="Google Shape;1087;p66"/>
          <p:cNvGrpSpPr/>
          <p:nvPr/>
        </p:nvGrpSpPr>
        <p:grpSpPr>
          <a:xfrm>
            <a:off x="4774825" y="1313150"/>
            <a:ext cx="4137600" cy="1885138"/>
            <a:chOff x="4774825" y="1313150"/>
            <a:chExt cx="4137600" cy="1885138"/>
          </a:xfrm>
        </p:grpSpPr>
        <p:sp>
          <p:nvSpPr>
            <p:cNvPr id="1088" name="Google Shape;1088;p66"/>
            <p:cNvSpPr txBox="1"/>
            <p:nvPr/>
          </p:nvSpPr>
          <p:spPr>
            <a:xfrm>
              <a:off x="4908175" y="2736588"/>
              <a:ext cx="4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b="1" baseline="-25000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41</a:t>
              </a:r>
              <a:endParaRPr b="1" baseline="-25000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66"/>
            <p:cNvSpPr txBox="1"/>
            <p:nvPr/>
          </p:nvSpPr>
          <p:spPr>
            <a:xfrm>
              <a:off x="6098575" y="2736588"/>
              <a:ext cx="4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b="1" baseline="-25000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42</a:t>
              </a:r>
              <a:endParaRPr b="1" baseline="-25000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0" name="Google Shape;1090;p66"/>
            <p:cNvSpPr txBox="1"/>
            <p:nvPr/>
          </p:nvSpPr>
          <p:spPr>
            <a:xfrm>
              <a:off x="7275400" y="2736588"/>
              <a:ext cx="4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b="1" baseline="-25000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43</a:t>
              </a:r>
              <a:endParaRPr b="1" baseline="-25000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1" name="Google Shape;1091;p66"/>
            <p:cNvSpPr txBox="1"/>
            <p:nvPr/>
          </p:nvSpPr>
          <p:spPr>
            <a:xfrm>
              <a:off x="8459125" y="2736588"/>
              <a:ext cx="4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a</a:t>
              </a:r>
              <a:r>
                <a:rPr b="1" baseline="-25000" lang="en" sz="1800">
                  <a:solidFill>
                    <a:srgbClr val="F6B26B"/>
                  </a:solidFill>
                  <a:latin typeface="Roboto"/>
                  <a:ea typeface="Roboto"/>
                  <a:cs typeface="Roboto"/>
                  <a:sym typeface="Roboto"/>
                </a:rPr>
                <a:t>44</a:t>
              </a:r>
              <a:endParaRPr b="1" baseline="-25000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2" name="Google Shape;1092;p66"/>
            <p:cNvSpPr/>
            <p:nvPr/>
          </p:nvSpPr>
          <p:spPr>
            <a:xfrm>
              <a:off x="5033275" y="2040788"/>
              <a:ext cx="203100" cy="203100"/>
            </a:xfrm>
            <a:prstGeom prst="flowChartConnector">
              <a:avLst/>
            </a:prstGeom>
            <a:noFill/>
            <a:ln cap="flat" cmpd="sng" w="38100">
              <a:solidFill>
                <a:srgbClr val="F6B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3" name="Google Shape;1093;p66"/>
            <p:cNvSpPr/>
            <p:nvPr/>
          </p:nvSpPr>
          <p:spPr>
            <a:xfrm>
              <a:off x="6216925" y="2040788"/>
              <a:ext cx="203100" cy="203100"/>
            </a:xfrm>
            <a:prstGeom prst="flowChartConnector">
              <a:avLst/>
            </a:prstGeom>
            <a:noFill/>
            <a:ln cap="flat" cmpd="sng" w="38100">
              <a:solidFill>
                <a:srgbClr val="F6B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66"/>
            <p:cNvSpPr/>
            <p:nvPr/>
          </p:nvSpPr>
          <p:spPr>
            <a:xfrm>
              <a:off x="7400575" y="2040788"/>
              <a:ext cx="203100" cy="203100"/>
            </a:xfrm>
            <a:prstGeom prst="flowChartConnector">
              <a:avLst/>
            </a:prstGeom>
            <a:noFill/>
            <a:ln cap="flat" cmpd="sng" w="38100">
              <a:solidFill>
                <a:srgbClr val="F6B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5" name="Google Shape;1095;p66"/>
            <p:cNvSpPr/>
            <p:nvPr/>
          </p:nvSpPr>
          <p:spPr>
            <a:xfrm>
              <a:off x="8584225" y="2040788"/>
              <a:ext cx="203100" cy="203100"/>
            </a:xfrm>
            <a:prstGeom prst="flowChartConnector">
              <a:avLst/>
            </a:prstGeom>
            <a:noFill/>
            <a:ln cap="flat" cmpd="sng" w="38100">
              <a:solidFill>
                <a:srgbClr val="F6B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6" name="Google Shape;1096;p66"/>
            <p:cNvCxnSpPr>
              <a:stCxn id="1075" idx="1"/>
              <a:endCxn id="1092" idx="0"/>
            </p:cNvCxnSpPr>
            <p:nvPr/>
          </p:nvCxnSpPr>
          <p:spPr>
            <a:xfrm flipH="1">
              <a:off x="5134825" y="1313150"/>
              <a:ext cx="2856000" cy="727500"/>
            </a:xfrm>
            <a:prstGeom prst="curvedConnector2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7" name="Google Shape;1097;p66"/>
            <p:cNvCxnSpPr>
              <a:stCxn id="1075" idx="1"/>
              <a:endCxn id="1093" idx="0"/>
            </p:cNvCxnSpPr>
            <p:nvPr/>
          </p:nvCxnSpPr>
          <p:spPr>
            <a:xfrm flipH="1">
              <a:off x="6318625" y="1313150"/>
              <a:ext cx="1672200" cy="727500"/>
            </a:xfrm>
            <a:prstGeom prst="curvedConnector2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8" name="Google Shape;1098;p66"/>
            <p:cNvCxnSpPr>
              <a:stCxn id="1075" idx="1"/>
              <a:endCxn id="1094" idx="0"/>
            </p:cNvCxnSpPr>
            <p:nvPr/>
          </p:nvCxnSpPr>
          <p:spPr>
            <a:xfrm flipH="1">
              <a:off x="7502125" y="1313150"/>
              <a:ext cx="488700" cy="727500"/>
            </a:xfrm>
            <a:prstGeom prst="curvedConnector2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9" name="Google Shape;1099;p66"/>
            <p:cNvCxnSpPr>
              <a:stCxn id="1075" idx="3"/>
              <a:endCxn id="1095" idx="0"/>
            </p:cNvCxnSpPr>
            <p:nvPr/>
          </p:nvCxnSpPr>
          <p:spPr>
            <a:xfrm>
              <a:off x="8260525" y="1313150"/>
              <a:ext cx="425400" cy="727500"/>
            </a:xfrm>
            <a:prstGeom prst="curvedConnector2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0" name="Google Shape;1100;p66"/>
            <p:cNvCxnSpPr>
              <a:stCxn id="1063" idx="3"/>
              <a:endCxn id="1092" idx="2"/>
            </p:cNvCxnSpPr>
            <p:nvPr/>
          </p:nvCxnSpPr>
          <p:spPr>
            <a:xfrm>
              <a:off x="4774825" y="2142325"/>
              <a:ext cx="258600" cy="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1" name="Google Shape;1101;p66"/>
            <p:cNvCxnSpPr>
              <a:stCxn id="1065" idx="3"/>
              <a:endCxn id="1093" idx="2"/>
            </p:cNvCxnSpPr>
            <p:nvPr/>
          </p:nvCxnSpPr>
          <p:spPr>
            <a:xfrm>
              <a:off x="5936725" y="2142325"/>
              <a:ext cx="280200" cy="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2" name="Google Shape;1102;p66"/>
            <p:cNvCxnSpPr>
              <a:stCxn id="1069" idx="3"/>
              <a:endCxn id="1094" idx="2"/>
            </p:cNvCxnSpPr>
            <p:nvPr/>
          </p:nvCxnSpPr>
          <p:spPr>
            <a:xfrm>
              <a:off x="7098625" y="2142325"/>
              <a:ext cx="302100" cy="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3" name="Google Shape;1103;p66"/>
            <p:cNvCxnSpPr>
              <a:stCxn id="1073" idx="3"/>
              <a:endCxn id="1095" idx="2"/>
            </p:cNvCxnSpPr>
            <p:nvPr/>
          </p:nvCxnSpPr>
          <p:spPr>
            <a:xfrm>
              <a:off x="8260525" y="2142325"/>
              <a:ext cx="323700" cy="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4" name="Google Shape;1104;p66"/>
            <p:cNvCxnSpPr>
              <a:stCxn id="1092" idx="4"/>
              <a:endCxn id="1088" idx="0"/>
            </p:cNvCxnSpPr>
            <p:nvPr/>
          </p:nvCxnSpPr>
          <p:spPr>
            <a:xfrm>
              <a:off x="5134825" y="2243888"/>
              <a:ext cx="0" cy="49260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5" name="Google Shape;1105;p66"/>
            <p:cNvCxnSpPr>
              <a:stCxn id="1093" idx="4"/>
              <a:endCxn id="1089" idx="0"/>
            </p:cNvCxnSpPr>
            <p:nvPr/>
          </p:nvCxnSpPr>
          <p:spPr>
            <a:xfrm>
              <a:off x="6318475" y="2243888"/>
              <a:ext cx="6900" cy="49260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6" name="Google Shape;1106;p66"/>
            <p:cNvCxnSpPr>
              <a:stCxn id="1094" idx="4"/>
              <a:endCxn id="1090" idx="0"/>
            </p:cNvCxnSpPr>
            <p:nvPr/>
          </p:nvCxnSpPr>
          <p:spPr>
            <a:xfrm>
              <a:off x="7502125" y="2243888"/>
              <a:ext cx="0" cy="49260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07" name="Google Shape;1107;p66"/>
            <p:cNvCxnSpPr>
              <a:stCxn id="1095" idx="4"/>
              <a:endCxn id="1091" idx="0"/>
            </p:cNvCxnSpPr>
            <p:nvPr/>
          </p:nvCxnSpPr>
          <p:spPr>
            <a:xfrm>
              <a:off x="8685775" y="2243888"/>
              <a:ext cx="0" cy="492600"/>
            </a:xfrm>
            <a:prstGeom prst="straightConnector1">
              <a:avLst/>
            </a:prstGeom>
            <a:noFill/>
            <a:ln cap="flat" cmpd="sng" w="28575">
              <a:solidFill>
                <a:srgbClr val="F6B26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08" name="Google Shape;1108;p66"/>
          <p:cNvSpPr txBox="1"/>
          <p:nvPr/>
        </p:nvSpPr>
        <p:spPr>
          <a:xfrm>
            <a:off x="3349900" y="108230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Query </a:t>
            </a:r>
            <a:endParaRPr b="1"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66"/>
          <p:cNvSpPr txBox="1"/>
          <p:nvPr/>
        </p:nvSpPr>
        <p:spPr>
          <a:xfrm>
            <a:off x="3349900" y="1911475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1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66"/>
          <p:cNvSpPr txBox="1"/>
          <p:nvPr/>
        </p:nvSpPr>
        <p:spPr>
          <a:xfrm>
            <a:off x="3349900" y="274065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Value </a:t>
            </a:r>
            <a:endParaRPr b="1" sz="1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66"/>
          <p:cNvSpPr/>
          <p:nvPr/>
        </p:nvSpPr>
        <p:spPr>
          <a:xfrm>
            <a:off x="6828925" y="78825"/>
            <a:ext cx="2035200" cy="727500"/>
          </a:xfrm>
          <a:prstGeom prst="wedgeRectCallout">
            <a:avLst>
              <a:gd fmla="val -9095" name="adj1"/>
              <a:gd fmla="val 108488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Weights for query “</a:t>
            </a:r>
            <a:r>
              <a:rPr b="1" lang="en" sz="2000">
                <a:solidFill>
                  <a:schemeClr val="accent5"/>
                </a:solidFill>
              </a:rPr>
              <a:t>walking</a:t>
            </a:r>
            <a:r>
              <a:rPr lang="en" sz="2000">
                <a:solidFill>
                  <a:schemeClr val="accent5"/>
                </a:solidFill>
              </a:rPr>
              <a:t>”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12" name="Google Shape;1112;p66"/>
          <p:cNvSpPr/>
          <p:nvPr/>
        </p:nvSpPr>
        <p:spPr>
          <a:xfrm>
            <a:off x="3313225" y="47000"/>
            <a:ext cx="3323700" cy="843900"/>
          </a:xfrm>
          <a:prstGeom prst="wedgeRectCallout">
            <a:avLst>
              <a:gd fmla="val -28712" name="adj1"/>
              <a:gd fmla="val 71762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Representation is projected as </a:t>
            </a:r>
            <a:r>
              <a:rPr b="1" lang="en" sz="2000">
                <a:solidFill>
                  <a:schemeClr val="accent5"/>
                </a:solidFill>
              </a:rPr>
              <a:t>query</a:t>
            </a:r>
            <a:r>
              <a:rPr lang="en" sz="2000">
                <a:solidFill>
                  <a:schemeClr val="accent5"/>
                </a:solidFill>
              </a:rPr>
              <a:t>, </a:t>
            </a:r>
            <a:r>
              <a:rPr b="1" lang="en" sz="2000">
                <a:solidFill>
                  <a:schemeClr val="accent5"/>
                </a:solidFill>
              </a:rPr>
              <a:t>key</a:t>
            </a:r>
            <a:r>
              <a:rPr lang="en" sz="2000">
                <a:solidFill>
                  <a:schemeClr val="accent5"/>
                </a:solidFill>
              </a:rPr>
              <a:t> &amp; </a:t>
            </a:r>
            <a:r>
              <a:rPr b="1" lang="en" sz="2000">
                <a:solidFill>
                  <a:schemeClr val="accent5"/>
                </a:solidFill>
              </a:rPr>
              <a:t>value</a:t>
            </a:r>
            <a:r>
              <a:rPr lang="en" sz="2000">
                <a:solidFill>
                  <a:schemeClr val="accent5"/>
                </a:solidFill>
              </a:rPr>
              <a:t>.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6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118" name="Google Shape;1118;p6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9" name="Google Shape;1119;p67"/>
          <p:cNvSpPr/>
          <p:nvPr/>
        </p:nvSpPr>
        <p:spPr>
          <a:xfrm>
            <a:off x="45051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7"/>
          <p:cNvSpPr/>
          <p:nvPr/>
        </p:nvSpPr>
        <p:spPr>
          <a:xfrm>
            <a:off x="45051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7"/>
          <p:cNvSpPr txBox="1"/>
          <p:nvPr/>
        </p:nvSpPr>
        <p:spPr>
          <a:xfrm>
            <a:off x="42466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67"/>
          <p:cNvSpPr/>
          <p:nvPr/>
        </p:nvSpPr>
        <p:spPr>
          <a:xfrm>
            <a:off x="4505125" y="990800"/>
            <a:ext cx="269700" cy="6447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7"/>
          <p:cNvSpPr txBox="1"/>
          <p:nvPr/>
        </p:nvSpPr>
        <p:spPr>
          <a:xfrm>
            <a:off x="47422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67"/>
          <p:cNvSpPr txBox="1"/>
          <p:nvPr/>
        </p:nvSpPr>
        <p:spPr>
          <a:xfrm>
            <a:off x="49081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5" name="Google Shape;1125;p67"/>
          <p:cNvSpPr/>
          <p:nvPr/>
        </p:nvSpPr>
        <p:spPr>
          <a:xfrm>
            <a:off x="50332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6" name="Google Shape;1126;p67"/>
          <p:cNvCxnSpPr>
            <a:stCxn id="1122" idx="3"/>
            <a:endCxn id="1125" idx="0"/>
          </p:cNvCxnSpPr>
          <p:nvPr/>
        </p:nvCxnSpPr>
        <p:spPr>
          <a:xfrm>
            <a:off x="4774825" y="1313150"/>
            <a:ext cx="3600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7" name="Google Shape;1127;p67"/>
          <p:cNvCxnSpPr>
            <a:stCxn id="1119" idx="3"/>
            <a:endCxn id="1125" idx="2"/>
          </p:cNvCxnSpPr>
          <p:nvPr/>
        </p:nvCxnSpPr>
        <p:spPr>
          <a:xfrm>
            <a:off x="4774825" y="2142325"/>
            <a:ext cx="2586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8" name="Google Shape;1128;p67"/>
          <p:cNvCxnSpPr>
            <a:stCxn id="1125" idx="4"/>
            <a:endCxn id="1124" idx="0"/>
          </p:cNvCxnSpPr>
          <p:nvPr/>
        </p:nvCxnSpPr>
        <p:spPr>
          <a:xfrm>
            <a:off x="51348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9" name="Google Shape;1129;p67"/>
          <p:cNvSpPr txBox="1"/>
          <p:nvPr/>
        </p:nvSpPr>
        <p:spPr>
          <a:xfrm>
            <a:off x="3349900" y="108230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Query </a:t>
            </a:r>
            <a:endParaRPr b="1"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67"/>
          <p:cNvSpPr txBox="1"/>
          <p:nvPr/>
        </p:nvSpPr>
        <p:spPr>
          <a:xfrm>
            <a:off x="3349900" y="1911475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1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67"/>
          <p:cNvSpPr txBox="1"/>
          <p:nvPr/>
        </p:nvSpPr>
        <p:spPr>
          <a:xfrm>
            <a:off x="3349900" y="274065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Value </a:t>
            </a:r>
            <a:endParaRPr b="1" sz="1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67"/>
          <p:cNvSpPr/>
          <p:nvPr/>
        </p:nvSpPr>
        <p:spPr>
          <a:xfrm>
            <a:off x="4572000" y="38550"/>
            <a:ext cx="3753300" cy="843900"/>
          </a:xfrm>
          <a:prstGeom prst="wedgeRectCallout">
            <a:avLst>
              <a:gd fmla="val -39260" name="adj1"/>
              <a:gd fmla="val 84966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For each query, computes weights and sums values.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33" name="Google Shape;1133;p67"/>
          <p:cNvSpPr txBox="1"/>
          <p:nvPr>
            <p:ph idx="1" type="body"/>
          </p:nvPr>
        </p:nvSpPr>
        <p:spPr>
          <a:xfrm>
            <a:off x="226075" y="1465800"/>
            <a:ext cx="29895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Weighted sum of representations (</a:t>
            </a:r>
            <a:r>
              <a:rPr b="1" lang="en" sz="1800"/>
              <a:t>values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</a:t>
            </a:r>
            <a:r>
              <a:rPr b="1" lang="en" sz="1800"/>
              <a:t> query</a:t>
            </a:r>
            <a:r>
              <a:rPr lang="en" sz="1800"/>
              <a:t>, a </a:t>
            </a:r>
            <a:r>
              <a:rPr b="1" lang="en" sz="1800"/>
              <a:t>weight</a:t>
            </a:r>
            <a:r>
              <a:rPr lang="en" sz="1800"/>
              <a:t> (= similarity) for every</a:t>
            </a:r>
            <a:r>
              <a:rPr b="1" lang="en" sz="1800"/>
              <a:t> key</a:t>
            </a:r>
            <a:r>
              <a:rPr lang="en" sz="1800"/>
              <a:t> is computed.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Re-interpreting</a:t>
            </a:r>
            <a:r>
              <a:rPr lang="en" sz="1800"/>
              <a:t> representations </a:t>
            </a:r>
            <a:r>
              <a:rPr b="1" lang="en" sz="1800"/>
              <a:t>across context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Vaswani et al., 2017</a:t>
            </a:r>
            <a:r>
              <a:rPr lang="en" sz="1800"/>
              <a:t>).</a:t>
            </a:r>
            <a:endParaRPr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139" name="Google Shape;1139;p6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0" name="Google Shape;1140;p68"/>
          <p:cNvSpPr/>
          <p:nvPr/>
        </p:nvSpPr>
        <p:spPr>
          <a:xfrm>
            <a:off x="45051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68"/>
          <p:cNvSpPr/>
          <p:nvPr/>
        </p:nvSpPr>
        <p:spPr>
          <a:xfrm>
            <a:off x="45051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68"/>
          <p:cNvSpPr/>
          <p:nvPr/>
        </p:nvSpPr>
        <p:spPr>
          <a:xfrm>
            <a:off x="56670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68"/>
          <p:cNvSpPr/>
          <p:nvPr/>
        </p:nvSpPr>
        <p:spPr>
          <a:xfrm>
            <a:off x="56670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68"/>
          <p:cNvSpPr txBox="1"/>
          <p:nvPr/>
        </p:nvSpPr>
        <p:spPr>
          <a:xfrm>
            <a:off x="42466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68"/>
          <p:cNvSpPr txBox="1"/>
          <p:nvPr/>
        </p:nvSpPr>
        <p:spPr>
          <a:xfrm>
            <a:off x="539672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68"/>
          <p:cNvSpPr/>
          <p:nvPr/>
        </p:nvSpPr>
        <p:spPr>
          <a:xfrm>
            <a:off x="5667025" y="990800"/>
            <a:ext cx="269700" cy="6447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68"/>
          <p:cNvSpPr/>
          <p:nvPr/>
        </p:nvSpPr>
        <p:spPr>
          <a:xfrm>
            <a:off x="45051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68"/>
          <p:cNvSpPr txBox="1"/>
          <p:nvPr/>
        </p:nvSpPr>
        <p:spPr>
          <a:xfrm>
            <a:off x="5239075" y="2740663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68"/>
          <p:cNvSpPr txBox="1"/>
          <p:nvPr/>
        </p:nvSpPr>
        <p:spPr>
          <a:xfrm>
            <a:off x="47422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0" name="Google Shape;1150;p68"/>
          <p:cNvSpPr txBox="1"/>
          <p:nvPr/>
        </p:nvSpPr>
        <p:spPr>
          <a:xfrm>
            <a:off x="59149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68"/>
          <p:cNvSpPr txBox="1"/>
          <p:nvPr/>
        </p:nvSpPr>
        <p:spPr>
          <a:xfrm>
            <a:off x="49081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68"/>
          <p:cNvSpPr txBox="1"/>
          <p:nvPr/>
        </p:nvSpPr>
        <p:spPr>
          <a:xfrm>
            <a:off x="60985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68"/>
          <p:cNvSpPr/>
          <p:nvPr/>
        </p:nvSpPr>
        <p:spPr>
          <a:xfrm>
            <a:off x="50332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68"/>
          <p:cNvSpPr/>
          <p:nvPr/>
        </p:nvSpPr>
        <p:spPr>
          <a:xfrm>
            <a:off x="621692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5" name="Google Shape;1155;p68"/>
          <p:cNvCxnSpPr>
            <a:stCxn id="1146" idx="1"/>
            <a:endCxn id="1153" idx="0"/>
          </p:cNvCxnSpPr>
          <p:nvPr/>
        </p:nvCxnSpPr>
        <p:spPr>
          <a:xfrm flipH="1">
            <a:off x="5134825" y="1313150"/>
            <a:ext cx="5322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68"/>
          <p:cNvCxnSpPr>
            <a:stCxn id="1146" idx="3"/>
            <a:endCxn id="1154" idx="0"/>
          </p:cNvCxnSpPr>
          <p:nvPr/>
        </p:nvCxnSpPr>
        <p:spPr>
          <a:xfrm>
            <a:off x="5936725" y="1313150"/>
            <a:ext cx="3819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68"/>
          <p:cNvCxnSpPr>
            <a:stCxn id="1140" idx="3"/>
            <a:endCxn id="1153" idx="2"/>
          </p:cNvCxnSpPr>
          <p:nvPr/>
        </p:nvCxnSpPr>
        <p:spPr>
          <a:xfrm>
            <a:off x="4774825" y="2142325"/>
            <a:ext cx="2586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8"/>
          <p:cNvCxnSpPr>
            <a:stCxn id="1142" idx="3"/>
            <a:endCxn id="1154" idx="2"/>
          </p:cNvCxnSpPr>
          <p:nvPr/>
        </p:nvCxnSpPr>
        <p:spPr>
          <a:xfrm>
            <a:off x="5936725" y="2142325"/>
            <a:ext cx="2802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68"/>
          <p:cNvCxnSpPr>
            <a:stCxn id="1153" idx="4"/>
            <a:endCxn id="1151" idx="0"/>
          </p:cNvCxnSpPr>
          <p:nvPr/>
        </p:nvCxnSpPr>
        <p:spPr>
          <a:xfrm>
            <a:off x="51348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68"/>
          <p:cNvCxnSpPr>
            <a:stCxn id="1154" idx="4"/>
            <a:endCxn id="1152" idx="0"/>
          </p:cNvCxnSpPr>
          <p:nvPr/>
        </p:nvCxnSpPr>
        <p:spPr>
          <a:xfrm>
            <a:off x="6318475" y="2243888"/>
            <a:ext cx="690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1" name="Google Shape;1161;p68"/>
          <p:cNvSpPr txBox="1"/>
          <p:nvPr/>
        </p:nvSpPr>
        <p:spPr>
          <a:xfrm>
            <a:off x="3349900" y="108230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Query </a:t>
            </a:r>
            <a:endParaRPr b="1"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68"/>
          <p:cNvSpPr txBox="1"/>
          <p:nvPr/>
        </p:nvSpPr>
        <p:spPr>
          <a:xfrm>
            <a:off x="3349900" y="1911475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1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68"/>
          <p:cNvSpPr txBox="1"/>
          <p:nvPr/>
        </p:nvSpPr>
        <p:spPr>
          <a:xfrm>
            <a:off x="3349900" y="274065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Value </a:t>
            </a:r>
            <a:endParaRPr b="1" sz="1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68"/>
          <p:cNvSpPr/>
          <p:nvPr/>
        </p:nvSpPr>
        <p:spPr>
          <a:xfrm>
            <a:off x="4572000" y="38550"/>
            <a:ext cx="3753300" cy="843900"/>
          </a:xfrm>
          <a:prstGeom prst="wedgeRectCallout">
            <a:avLst>
              <a:gd fmla="val -28712" name="adj1"/>
              <a:gd fmla="val 71762" name="adj2"/>
            </a:avLst>
          </a:prstGeom>
          <a:solidFill>
            <a:srgbClr val="1A237E">
              <a:alpha val="20000"/>
            </a:srgbClr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Weights are probabilistic, ∑</a:t>
            </a:r>
            <a:r>
              <a:rPr baseline="-25000" lang="en" sz="2000">
                <a:solidFill>
                  <a:schemeClr val="accent5"/>
                </a:solidFill>
              </a:rPr>
              <a:t>j</a:t>
            </a:r>
            <a:r>
              <a:rPr lang="en" sz="2000">
                <a:solidFill>
                  <a:schemeClr val="accent5"/>
                </a:solidFill>
              </a:rPr>
              <a:t> a</a:t>
            </a:r>
            <a:r>
              <a:rPr baseline="-25000" lang="en" sz="2000">
                <a:solidFill>
                  <a:schemeClr val="accent5"/>
                </a:solidFill>
              </a:rPr>
              <a:t>ij</a:t>
            </a:r>
            <a:r>
              <a:rPr lang="en" sz="2000">
                <a:solidFill>
                  <a:schemeClr val="accent5"/>
                </a:solidFill>
              </a:rPr>
              <a:t> = 1, e.g., a</a:t>
            </a:r>
            <a:r>
              <a:rPr baseline="-25000" lang="en" sz="2000">
                <a:solidFill>
                  <a:schemeClr val="accent5"/>
                </a:solidFill>
              </a:rPr>
              <a:t>21</a:t>
            </a:r>
            <a:r>
              <a:rPr lang="en" sz="2000">
                <a:solidFill>
                  <a:schemeClr val="accent5"/>
                </a:solidFill>
              </a:rPr>
              <a:t> + a</a:t>
            </a:r>
            <a:r>
              <a:rPr baseline="-25000" lang="en" sz="2000">
                <a:solidFill>
                  <a:schemeClr val="accent5"/>
                </a:solidFill>
              </a:rPr>
              <a:t>22</a:t>
            </a:r>
            <a:r>
              <a:rPr lang="en" sz="2000">
                <a:solidFill>
                  <a:schemeClr val="accent5"/>
                </a:solidFill>
              </a:rPr>
              <a:t> = 1.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165" name="Google Shape;1165;p68"/>
          <p:cNvSpPr txBox="1"/>
          <p:nvPr>
            <p:ph idx="1" type="body"/>
          </p:nvPr>
        </p:nvSpPr>
        <p:spPr>
          <a:xfrm>
            <a:off x="226075" y="1465800"/>
            <a:ext cx="29895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Weighted sum of representations (</a:t>
            </a:r>
            <a:r>
              <a:rPr b="1" lang="en" sz="1800"/>
              <a:t>values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</a:t>
            </a:r>
            <a:r>
              <a:rPr b="1" lang="en" sz="1800"/>
              <a:t> query</a:t>
            </a:r>
            <a:r>
              <a:rPr lang="en" sz="1800"/>
              <a:t>, a </a:t>
            </a:r>
            <a:r>
              <a:rPr b="1" lang="en" sz="1800"/>
              <a:t>weight</a:t>
            </a:r>
            <a:r>
              <a:rPr lang="en" sz="1800"/>
              <a:t> (= similarity) for every</a:t>
            </a:r>
            <a:r>
              <a:rPr b="1" lang="en" sz="1800"/>
              <a:t> key</a:t>
            </a:r>
            <a:r>
              <a:rPr lang="en" sz="1800"/>
              <a:t> is computed.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Re-interpreting</a:t>
            </a:r>
            <a:r>
              <a:rPr lang="en" sz="1800"/>
              <a:t> representations </a:t>
            </a:r>
            <a:r>
              <a:rPr b="1" lang="en" sz="1800"/>
              <a:t>across context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Vaswani et al., 2017</a:t>
            </a:r>
            <a:r>
              <a:rPr lang="en" sz="1800"/>
              <a:t>).</a:t>
            </a:r>
            <a:endParaRPr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171" name="Google Shape;1171;p6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2" name="Google Shape;1172;p69"/>
          <p:cNvSpPr/>
          <p:nvPr/>
        </p:nvSpPr>
        <p:spPr>
          <a:xfrm>
            <a:off x="45051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69"/>
          <p:cNvSpPr/>
          <p:nvPr/>
        </p:nvSpPr>
        <p:spPr>
          <a:xfrm>
            <a:off x="45051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69"/>
          <p:cNvSpPr/>
          <p:nvPr/>
        </p:nvSpPr>
        <p:spPr>
          <a:xfrm>
            <a:off x="56670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69"/>
          <p:cNvSpPr/>
          <p:nvPr/>
        </p:nvSpPr>
        <p:spPr>
          <a:xfrm>
            <a:off x="56670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69"/>
          <p:cNvSpPr txBox="1"/>
          <p:nvPr/>
        </p:nvSpPr>
        <p:spPr>
          <a:xfrm>
            <a:off x="42466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69"/>
          <p:cNvSpPr txBox="1"/>
          <p:nvPr/>
        </p:nvSpPr>
        <p:spPr>
          <a:xfrm>
            <a:off x="539672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69"/>
          <p:cNvSpPr/>
          <p:nvPr/>
        </p:nvSpPr>
        <p:spPr>
          <a:xfrm>
            <a:off x="68289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69"/>
          <p:cNvSpPr/>
          <p:nvPr/>
        </p:nvSpPr>
        <p:spPr>
          <a:xfrm>
            <a:off x="68289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69"/>
          <p:cNvSpPr txBox="1"/>
          <p:nvPr/>
        </p:nvSpPr>
        <p:spPr>
          <a:xfrm>
            <a:off x="65704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1" name="Google Shape;1181;p69"/>
          <p:cNvSpPr/>
          <p:nvPr/>
        </p:nvSpPr>
        <p:spPr>
          <a:xfrm>
            <a:off x="6828925" y="990800"/>
            <a:ext cx="269700" cy="6447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69"/>
          <p:cNvSpPr/>
          <p:nvPr/>
        </p:nvSpPr>
        <p:spPr>
          <a:xfrm>
            <a:off x="56670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9"/>
          <p:cNvSpPr/>
          <p:nvPr/>
        </p:nvSpPr>
        <p:spPr>
          <a:xfrm>
            <a:off x="45051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9"/>
          <p:cNvSpPr txBox="1"/>
          <p:nvPr/>
        </p:nvSpPr>
        <p:spPr>
          <a:xfrm>
            <a:off x="5239075" y="2740663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5" name="Google Shape;1185;p69"/>
          <p:cNvSpPr txBox="1"/>
          <p:nvPr/>
        </p:nvSpPr>
        <p:spPr>
          <a:xfrm>
            <a:off x="6420025" y="2740663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p69"/>
          <p:cNvSpPr txBox="1"/>
          <p:nvPr/>
        </p:nvSpPr>
        <p:spPr>
          <a:xfrm>
            <a:off x="47422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p69"/>
          <p:cNvSpPr txBox="1"/>
          <p:nvPr/>
        </p:nvSpPr>
        <p:spPr>
          <a:xfrm>
            <a:off x="59149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69"/>
          <p:cNvSpPr txBox="1"/>
          <p:nvPr/>
        </p:nvSpPr>
        <p:spPr>
          <a:xfrm>
            <a:off x="70876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69"/>
          <p:cNvSpPr txBox="1"/>
          <p:nvPr/>
        </p:nvSpPr>
        <p:spPr>
          <a:xfrm>
            <a:off x="49081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69"/>
          <p:cNvSpPr txBox="1"/>
          <p:nvPr/>
        </p:nvSpPr>
        <p:spPr>
          <a:xfrm>
            <a:off x="60985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69"/>
          <p:cNvSpPr txBox="1"/>
          <p:nvPr/>
        </p:nvSpPr>
        <p:spPr>
          <a:xfrm>
            <a:off x="7275400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33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69"/>
          <p:cNvSpPr/>
          <p:nvPr/>
        </p:nvSpPr>
        <p:spPr>
          <a:xfrm>
            <a:off x="50332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69"/>
          <p:cNvSpPr/>
          <p:nvPr/>
        </p:nvSpPr>
        <p:spPr>
          <a:xfrm>
            <a:off x="621692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69"/>
          <p:cNvSpPr/>
          <p:nvPr/>
        </p:nvSpPr>
        <p:spPr>
          <a:xfrm>
            <a:off x="74005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5" name="Google Shape;1195;p69"/>
          <p:cNvCxnSpPr>
            <a:stCxn id="1181" idx="1"/>
            <a:endCxn id="1192" idx="0"/>
          </p:cNvCxnSpPr>
          <p:nvPr/>
        </p:nvCxnSpPr>
        <p:spPr>
          <a:xfrm flipH="1">
            <a:off x="5134825" y="1313150"/>
            <a:ext cx="16941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69"/>
          <p:cNvCxnSpPr>
            <a:stCxn id="1181" idx="1"/>
            <a:endCxn id="1193" idx="0"/>
          </p:cNvCxnSpPr>
          <p:nvPr/>
        </p:nvCxnSpPr>
        <p:spPr>
          <a:xfrm flipH="1">
            <a:off x="6318625" y="1313150"/>
            <a:ext cx="5103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69"/>
          <p:cNvCxnSpPr>
            <a:stCxn id="1181" idx="3"/>
            <a:endCxn id="1194" idx="0"/>
          </p:cNvCxnSpPr>
          <p:nvPr/>
        </p:nvCxnSpPr>
        <p:spPr>
          <a:xfrm>
            <a:off x="7098625" y="1313150"/>
            <a:ext cx="4035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69"/>
          <p:cNvCxnSpPr>
            <a:stCxn id="1172" idx="3"/>
            <a:endCxn id="1192" idx="2"/>
          </p:cNvCxnSpPr>
          <p:nvPr/>
        </p:nvCxnSpPr>
        <p:spPr>
          <a:xfrm>
            <a:off x="4774825" y="2142325"/>
            <a:ext cx="2586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69"/>
          <p:cNvCxnSpPr>
            <a:stCxn id="1174" idx="3"/>
            <a:endCxn id="1193" idx="2"/>
          </p:cNvCxnSpPr>
          <p:nvPr/>
        </p:nvCxnSpPr>
        <p:spPr>
          <a:xfrm>
            <a:off x="5936725" y="2142325"/>
            <a:ext cx="2802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69"/>
          <p:cNvCxnSpPr>
            <a:stCxn id="1178" idx="3"/>
            <a:endCxn id="1194" idx="2"/>
          </p:cNvCxnSpPr>
          <p:nvPr/>
        </p:nvCxnSpPr>
        <p:spPr>
          <a:xfrm>
            <a:off x="7098625" y="2142325"/>
            <a:ext cx="3021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69"/>
          <p:cNvCxnSpPr>
            <a:stCxn id="1192" idx="4"/>
            <a:endCxn id="1189" idx="0"/>
          </p:cNvCxnSpPr>
          <p:nvPr/>
        </p:nvCxnSpPr>
        <p:spPr>
          <a:xfrm>
            <a:off x="51348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69"/>
          <p:cNvCxnSpPr>
            <a:stCxn id="1193" idx="4"/>
            <a:endCxn id="1190" idx="0"/>
          </p:cNvCxnSpPr>
          <p:nvPr/>
        </p:nvCxnSpPr>
        <p:spPr>
          <a:xfrm>
            <a:off x="6318475" y="2243888"/>
            <a:ext cx="690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69"/>
          <p:cNvCxnSpPr>
            <a:stCxn id="1194" idx="4"/>
            <a:endCxn id="1191" idx="0"/>
          </p:cNvCxnSpPr>
          <p:nvPr/>
        </p:nvCxnSpPr>
        <p:spPr>
          <a:xfrm>
            <a:off x="75021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4" name="Google Shape;1204;p69"/>
          <p:cNvSpPr txBox="1"/>
          <p:nvPr/>
        </p:nvSpPr>
        <p:spPr>
          <a:xfrm>
            <a:off x="3349900" y="108230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Query </a:t>
            </a:r>
            <a:endParaRPr b="1"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69"/>
          <p:cNvSpPr txBox="1"/>
          <p:nvPr/>
        </p:nvSpPr>
        <p:spPr>
          <a:xfrm>
            <a:off x="3349900" y="1911475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1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69"/>
          <p:cNvSpPr txBox="1"/>
          <p:nvPr/>
        </p:nvSpPr>
        <p:spPr>
          <a:xfrm>
            <a:off x="3349900" y="274065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Value </a:t>
            </a:r>
            <a:endParaRPr b="1" sz="1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69"/>
          <p:cNvSpPr txBox="1"/>
          <p:nvPr>
            <p:ph idx="1" type="body"/>
          </p:nvPr>
        </p:nvSpPr>
        <p:spPr>
          <a:xfrm>
            <a:off x="226075" y="1465800"/>
            <a:ext cx="29895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Weighted sum of representations (</a:t>
            </a:r>
            <a:r>
              <a:rPr b="1" lang="en" sz="1800"/>
              <a:t>values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</a:t>
            </a:r>
            <a:r>
              <a:rPr b="1" lang="en" sz="1800"/>
              <a:t> query</a:t>
            </a:r>
            <a:r>
              <a:rPr lang="en" sz="1800"/>
              <a:t>, a </a:t>
            </a:r>
            <a:r>
              <a:rPr b="1" lang="en" sz="1800"/>
              <a:t>weight</a:t>
            </a:r>
            <a:r>
              <a:rPr lang="en" sz="1800"/>
              <a:t> (= similarity) for every</a:t>
            </a:r>
            <a:r>
              <a:rPr b="1" lang="en" sz="1800"/>
              <a:t> key</a:t>
            </a:r>
            <a:r>
              <a:rPr lang="en" sz="1800"/>
              <a:t> is computed.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Re-interpreting</a:t>
            </a:r>
            <a:r>
              <a:rPr lang="en" sz="1800"/>
              <a:t> representations </a:t>
            </a:r>
            <a:r>
              <a:rPr b="1" lang="en" sz="1800"/>
              <a:t>across context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Vaswani et al., 2017</a:t>
            </a:r>
            <a:r>
              <a:rPr lang="en" sz="1800"/>
              <a:t>).</a:t>
            </a:r>
            <a:endParaRPr sz="1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  <p:sp>
        <p:nvSpPr>
          <p:cNvPr id="1213" name="Google Shape;1213;p7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4" name="Google Shape;1214;p70"/>
          <p:cNvSpPr/>
          <p:nvPr/>
        </p:nvSpPr>
        <p:spPr>
          <a:xfrm>
            <a:off x="45051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70"/>
          <p:cNvSpPr/>
          <p:nvPr/>
        </p:nvSpPr>
        <p:spPr>
          <a:xfrm>
            <a:off x="45051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70"/>
          <p:cNvSpPr/>
          <p:nvPr/>
        </p:nvSpPr>
        <p:spPr>
          <a:xfrm>
            <a:off x="56670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0"/>
          <p:cNvSpPr/>
          <p:nvPr/>
        </p:nvSpPr>
        <p:spPr>
          <a:xfrm>
            <a:off x="56670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0"/>
          <p:cNvSpPr txBox="1"/>
          <p:nvPr/>
        </p:nvSpPr>
        <p:spPr>
          <a:xfrm>
            <a:off x="42466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&lt;s&gt;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0"/>
          <p:cNvSpPr txBox="1"/>
          <p:nvPr/>
        </p:nvSpPr>
        <p:spPr>
          <a:xfrm>
            <a:off x="539672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John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0"/>
          <p:cNvSpPr/>
          <p:nvPr/>
        </p:nvSpPr>
        <p:spPr>
          <a:xfrm>
            <a:off x="68289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70"/>
          <p:cNvSpPr/>
          <p:nvPr/>
        </p:nvSpPr>
        <p:spPr>
          <a:xfrm>
            <a:off x="68289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70"/>
          <p:cNvSpPr txBox="1"/>
          <p:nvPr/>
        </p:nvSpPr>
        <p:spPr>
          <a:xfrm>
            <a:off x="6570475" y="3690988"/>
            <a:ext cx="7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0"/>
          <p:cNvSpPr txBox="1"/>
          <p:nvPr/>
        </p:nvSpPr>
        <p:spPr>
          <a:xfrm>
            <a:off x="7643425" y="3690988"/>
            <a:ext cx="9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walking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4" name="Google Shape;1224;p70"/>
          <p:cNvSpPr/>
          <p:nvPr/>
        </p:nvSpPr>
        <p:spPr>
          <a:xfrm>
            <a:off x="7990825" y="1819975"/>
            <a:ext cx="269700" cy="644700"/>
          </a:xfrm>
          <a:prstGeom prst="rect">
            <a:avLst/>
          </a:prstGeom>
          <a:noFill/>
          <a:ln cap="flat" cmpd="sng" w="3810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70"/>
          <p:cNvSpPr/>
          <p:nvPr/>
        </p:nvSpPr>
        <p:spPr>
          <a:xfrm>
            <a:off x="7990825" y="2649150"/>
            <a:ext cx="269700" cy="644700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0"/>
          <p:cNvSpPr/>
          <p:nvPr/>
        </p:nvSpPr>
        <p:spPr>
          <a:xfrm>
            <a:off x="7990825" y="990800"/>
            <a:ext cx="269700" cy="644700"/>
          </a:xfrm>
          <a:prstGeom prst="rect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70"/>
          <p:cNvSpPr/>
          <p:nvPr/>
        </p:nvSpPr>
        <p:spPr>
          <a:xfrm>
            <a:off x="68289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70"/>
          <p:cNvSpPr/>
          <p:nvPr/>
        </p:nvSpPr>
        <p:spPr>
          <a:xfrm>
            <a:off x="56670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70"/>
          <p:cNvSpPr/>
          <p:nvPr/>
        </p:nvSpPr>
        <p:spPr>
          <a:xfrm>
            <a:off x="4505125" y="990800"/>
            <a:ext cx="269700" cy="644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70"/>
          <p:cNvSpPr txBox="1"/>
          <p:nvPr/>
        </p:nvSpPr>
        <p:spPr>
          <a:xfrm>
            <a:off x="5239075" y="2740663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70"/>
          <p:cNvSpPr txBox="1"/>
          <p:nvPr/>
        </p:nvSpPr>
        <p:spPr>
          <a:xfrm>
            <a:off x="6420025" y="2740663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2" name="Google Shape;1232;p70"/>
          <p:cNvSpPr txBox="1"/>
          <p:nvPr/>
        </p:nvSpPr>
        <p:spPr>
          <a:xfrm>
            <a:off x="7562200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＋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3" name="Google Shape;1233;p70"/>
          <p:cNvSpPr txBox="1"/>
          <p:nvPr/>
        </p:nvSpPr>
        <p:spPr>
          <a:xfrm>
            <a:off x="47422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70"/>
          <p:cNvSpPr txBox="1"/>
          <p:nvPr/>
        </p:nvSpPr>
        <p:spPr>
          <a:xfrm>
            <a:off x="59149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5" name="Google Shape;1235;p70"/>
          <p:cNvSpPr txBox="1"/>
          <p:nvPr/>
        </p:nvSpPr>
        <p:spPr>
          <a:xfrm>
            <a:off x="70876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6" name="Google Shape;1236;p70"/>
          <p:cNvSpPr txBox="1"/>
          <p:nvPr/>
        </p:nvSpPr>
        <p:spPr>
          <a:xfrm>
            <a:off x="8260375" y="2736588"/>
            <a:ext cx="32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0"/>
          <p:cNvSpPr txBox="1"/>
          <p:nvPr/>
        </p:nvSpPr>
        <p:spPr>
          <a:xfrm>
            <a:off x="49081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0"/>
          <p:cNvSpPr txBox="1"/>
          <p:nvPr/>
        </p:nvSpPr>
        <p:spPr>
          <a:xfrm>
            <a:off x="609857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0"/>
          <p:cNvSpPr txBox="1"/>
          <p:nvPr/>
        </p:nvSpPr>
        <p:spPr>
          <a:xfrm>
            <a:off x="7275400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43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0"/>
          <p:cNvSpPr txBox="1"/>
          <p:nvPr/>
        </p:nvSpPr>
        <p:spPr>
          <a:xfrm>
            <a:off x="8459125" y="27365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44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0"/>
          <p:cNvSpPr/>
          <p:nvPr/>
        </p:nvSpPr>
        <p:spPr>
          <a:xfrm>
            <a:off x="50332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0"/>
          <p:cNvSpPr/>
          <p:nvPr/>
        </p:nvSpPr>
        <p:spPr>
          <a:xfrm>
            <a:off x="621692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0"/>
          <p:cNvSpPr/>
          <p:nvPr/>
        </p:nvSpPr>
        <p:spPr>
          <a:xfrm>
            <a:off x="740057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70"/>
          <p:cNvSpPr/>
          <p:nvPr/>
        </p:nvSpPr>
        <p:spPr>
          <a:xfrm>
            <a:off x="8584225" y="2040788"/>
            <a:ext cx="203100" cy="203100"/>
          </a:xfrm>
          <a:prstGeom prst="flowChartConnector">
            <a:avLst/>
          </a:prstGeom>
          <a:noFill/>
          <a:ln cap="flat" cmpd="sng" w="3810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5" name="Google Shape;1245;p70"/>
          <p:cNvCxnSpPr>
            <a:stCxn id="1226" idx="1"/>
            <a:endCxn id="1241" idx="0"/>
          </p:cNvCxnSpPr>
          <p:nvPr/>
        </p:nvCxnSpPr>
        <p:spPr>
          <a:xfrm flipH="1">
            <a:off x="5134825" y="1313150"/>
            <a:ext cx="28560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6" name="Google Shape;1246;p70"/>
          <p:cNvCxnSpPr>
            <a:stCxn id="1226" idx="1"/>
            <a:endCxn id="1242" idx="0"/>
          </p:cNvCxnSpPr>
          <p:nvPr/>
        </p:nvCxnSpPr>
        <p:spPr>
          <a:xfrm flipH="1">
            <a:off x="6318625" y="1313150"/>
            <a:ext cx="16722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7" name="Google Shape;1247;p70"/>
          <p:cNvCxnSpPr>
            <a:stCxn id="1226" idx="1"/>
            <a:endCxn id="1243" idx="0"/>
          </p:cNvCxnSpPr>
          <p:nvPr/>
        </p:nvCxnSpPr>
        <p:spPr>
          <a:xfrm flipH="1">
            <a:off x="7502125" y="1313150"/>
            <a:ext cx="4887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70"/>
          <p:cNvCxnSpPr>
            <a:stCxn id="1226" idx="3"/>
            <a:endCxn id="1244" idx="0"/>
          </p:cNvCxnSpPr>
          <p:nvPr/>
        </p:nvCxnSpPr>
        <p:spPr>
          <a:xfrm>
            <a:off x="8260525" y="1313150"/>
            <a:ext cx="425400" cy="727500"/>
          </a:xfrm>
          <a:prstGeom prst="curvedConnector2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70"/>
          <p:cNvCxnSpPr>
            <a:stCxn id="1214" idx="3"/>
            <a:endCxn id="1241" idx="2"/>
          </p:cNvCxnSpPr>
          <p:nvPr/>
        </p:nvCxnSpPr>
        <p:spPr>
          <a:xfrm>
            <a:off x="4774825" y="2142325"/>
            <a:ext cx="2586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70"/>
          <p:cNvCxnSpPr>
            <a:stCxn id="1216" idx="3"/>
            <a:endCxn id="1242" idx="2"/>
          </p:cNvCxnSpPr>
          <p:nvPr/>
        </p:nvCxnSpPr>
        <p:spPr>
          <a:xfrm>
            <a:off x="5936725" y="2142325"/>
            <a:ext cx="2802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70"/>
          <p:cNvCxnSpPr>
            <a:stCxn id="1220" idx="3"/>
            <a:endCxn id="1243" idx="2"/>
          </p:cNvCxnSpPr>
          <p:nvPr/>
        </p:nvCxnSpPr>
        <p:spPr>
          <a:xfrm>
            <a:off x="7098625" y="2142325"/>
            <a:ext cx="3021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2" name="Google Shape;1252;p70"/>
          <p:cNvCxnSpPr>
            <a:stCxn id="1224" idx="3"/>
            <a:endCxn id="1244" idx="2"/>
          </p:cNvCxnSpPr>
          <p:nvPr/>
        </p:nvCxnSpPr>
        <p:spPr>
          <a:xfrm>
            <a:off x="8260525" y="2142325"/>
            <a:ext cx="323700" cy="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3" name="Google Shape;1253;p70"/>
          <p:cNvCxnSpPr>
            <a:stCxn id="1241" idx="4"/>
            <a:endCxn id="1237" idx="0"/>
          </p:cNvCxnSpPr>
          <p:nvPr/>
        </p:nvCxnSpPr>
        <p:spPr>
          <a:xfrm>
            <a:off x="51348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4" name="Google Shape;1254;p70"/>
          <p:cNvCxnSpPr>
            <a:stCxn id="1242" idx="4"/>
            <a:endCxn id="1238" idx="0"/>
          </p:cNvCxnSpPr>
          <p:nvPr/>
        </p:nvCxnSpPr>
        <p:spPr>
          <a:xfrm>
            <a:off x="6318475" y="2243888"/>
            <a:ext cx="690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5" name="Google Shape;1255;p70"/>
          <p:cNvCxnSpPr>
            <a:stCxn id="1243" idx="4"/>
            <a:endCxn id="1239" idx="0"/>
          </p:cNvCxnSpPr>
          <p:nvPr/>
        </p:nvCxnSpPr>
        <p:spPr>
          <a:xfrm>
            <a:off x="750212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6" name="Google Shape;1256;p70"/>
          <p:cNvCxnSpPr>
            <a:stCxn id="1244" idx="4"/>
            <a:endCxn id="1240" idx="0"/>
          </p:cNvCxnSpPr>
          <p:nvPr/>
        </p:nvCxnSpPr>
        <p:spPr>
          <a:xfrm>
            <a:off x="8685775" y="2243888"/>
            <a:ext cx="0" cy="492600"/>
          </a:xfrm>
          <a:prstGeom prst="straightConnector1">
            <a:avLst/>
          </a:prstGeom>
          <a:noFill/>
          <a:ln cap="flat" cmpd="sng" w="28575">
            <a:solidFill>
              <a:srgbClr val="F6B26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7" name="Google Shape;1257;p70"/>
          <p:cNvSpPr txBox="1"/>
          <p:nvPr/>
        </p:nvSpPr>
        <p:spPr>
          <a:xfrm>
            <a:off x="3349900" y="108230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Query </a:t>
            </a:r>
            <a:endParaRPr b="1" sz="18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70"/>
          <p:cNvSpPr txBox="1"/>
          <p:nvPr/>
        </p:nvSpPr>
        <p:spPr>
          <a:xfrm>
            <a:off x="3349900" y="1911475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1" sz="1800">
              <a:solidFill>
                <a:srgbClr val="A64D7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70"/>
          <p:cNvSpPr txBox="1"/>
          <p:nvPr/>
        </p:nvSpPr>
        <p:spPr>
          <a:xfrm>
            <a:off x="3349900" y="2740650"/>
            <a:ext cx="110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Value </a:t>
            </a:r>
            <a:endParaRPr b="1" sz="18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0" name="Google Shape;1260;p70"/>
          <p:cNvSpPr txBox="1"/>
          <p:nvPr>
            <p:ph idx="1" type="body"/>
          </p:nvPr>
        </p:nvSpPr>
        <p:spPr>
          <a:xfrm>
            <a:off x="226075" y="1465800"/>
            <a:ext cx="2989500" cy="3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Weighted sum of representations (</a:t>
            </a:r>
            <a:r>
              <a:rPr b="1" lang="en" sz="1800"/>
              <a:t>values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For each</a:t>
            </a:r>
            <a:r>
              <a:rPr b="1" lang="en" sz="1800"/>
              <a:t> query</a:t>
            </a:r>
            <a:r>
              <a:rPr lang="en" sz="1800"/>
              <a:t>, a </a:t>
            </a:r>
            <a:r>
              <a:rPr b="1" lang="en" sz="1800"/>
              <a:t>weight</a:t>
            </a:r>
            <a:r>
              <a:rPr lang="en" sz="1800"/>
              <a:t> (= similarity) for every</a:t>
            </a:r>
            <a:r>
              <a:rPr b="1" lang="en" sz="1800"/>
              <a:t> key</a:t>
            </a:r>
            <a:r>
              <a:rPr lang="en" sz="1800"/>
              <a:t> is computed.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Re-interpreting</a:t>
            </a:r>
            <a:r>
              <a:rPr lang="en" sz="1800"/>
              <a:t> representations </a:t>
            </a:r>
            <a:r>
              <a:rPr b="1" lang="en" sz="1800"/>
              <a:t>across context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Vaswani et al., 2017</a:t>
            </a:r>
            <a:r>
              <a:rPr lang="en" sz="1800"/>
              <a:t>).</a:t>
            </a:r>
            <a:endParaRPr sz="1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71"/>
          <p:cNvSpPr/>
          <p:nvPr/>
        </p:nvSpPr>
        <p:spPr>
          <a:xfrm>
            <a:off x="4442150" y="641025"/>
            <a:ext cx="2275500" cy="1627500"/>
          </a:xfrm>
          <a:prstGeom prst="bracketPair">
            <a:avLst/>
          </a:prstGeom>
          <a:noFill/>
          <a:ln cap="flat" cmpd="sng" w="19050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7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Computation</a:t>
            </a:r>
            <a:endParaRPr/>
          </a:p>
        </p:txBody>
      </p:sp>
      <p:sp>
        <p:nvSpPr>
          <p:cNvPr id="1267" name="Google Shape;1267;p7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Attention is efficiently computed with matrix multiplication in parallel.</a:t>
            </a:r>
            <a:endParaRPr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" sz="1900"/>
              <a:t>Mask out</a:t>
            </a:r>
            <a:r>
              <a:rPr lang="en" sz="1900"/>
              <a:t> invalid positions for A, e.g., a</a:t>
            </a:r>
            <a:r>
              <a:rPr baseline="-25000" lang="en" sz="1900"/>
              <a:t>12</a:t>
            </a:r>
            <a:r>
              <a:rPr lang="en" sz="1900"/>
              <a:t>.</a:t>
            </a:r>
            <a:endParaRPr sz="1900"/>
          </a:p>
        </p:txBody>
      </p:sp>
      <p:sp>
        <p:nvSpPr>
          <p:cNvPr id="1268" name="Google Shape;1268;p7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9" name="Google Shape;1269;p71"/>
          <p:cNvSpPr txBox="1"/>
          <p:nvPr/>
        </p:nvSpPr>
        <p:spPr>
          <a:xfrm>
            <a:off x="4493625" y="5244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71"/>
          <p:cNvSpPr txBox="1"/>
          <p:nvPr/>
        </p:nvSpPr>
        <p:spPr>
          <a:xfrm>
            <a:off x="4493625" y="945304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1" name="Google Shape;1271;p71"/>
          <p:cNvSpPr txBox="1"/>
          <p:nvPr/>
        </p:nvSpPr>
        <p:spPr>
          <a:xfrm>
            <a:off x="5090163" y="9452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71"/>
          <p:cNvSpPr txBox="1"/>
          <p:nvPr/>
        </p:nvSpPr>
        <p:spPr>
          <a:xfrm>
            <a:off x="4493625" y="1366121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3" name="Google Shape;1273;p71"/>
          <p:cNvSpPr txBox="1"/>
          <p:nvPr/>
        </p:nvSpPr>
        <p:spPr>
          <a:xfrm>
            <a:off x="5128225" y="1366113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4" name="Google Shape;1274;p71"/>
          <p:cNvSpPr txBox="1"/>
          <p:nvPr/>
        </p:nvSpPr>
        <p:spPr>
          <a:xfrm>
            <a:off x="5686700" y="14069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33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5" name="Google Shape;1275;p71"/>
          <p:cNvSpPr txBox="1"/>
          <p:nvPr/>
        </p:nvSpPr>
        <p:spPr>
          <a:xfrm>
            <a:off x="4493625" y="178693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41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71"/>
          <p:cNvSpPr txBox="1"/>
          <p:nvPr/>
        </p:nvSpPr>
        <p:spPr>
          <a:xfrm>
            <a:off x="5128225" y="18066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71"/>
          <p:cNvSpPr txBox="1"/>
          <p:nvPr/>
        </p:nvSpPr>
        <p:spPr>
          <a:xfrm>
            <a:off x="5686700" y="18066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43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71"/>
          <p:cNvSpPr txBox="1"/>
          <p:nvPr/>
        </p:nvSpPr>
        <p:spPr>
          <a:xfrm>
            <a:off x="6140000" y="1806688"/>
            <a:ext cx="4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baseline="-25000" lang="en" sz="18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44</a:t>
            </a:r>
            <a:endParaRPr b="1" baseline="-25000" sz="1800">
              <a:solidFill>
                <a:srgbClr val="F6B2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71"/>
          <p:cNvSpPr txBox="1"/>
          <p:nvPr/>
        </p:nvSpPr>
        <p:spPr>
          <a:xfrm>
            <a:off x="6879775" y="1172300"/>
            <a:ext cx="59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endParaRPr b="1" sz="2000">
              <a:solidFill>
                <a:srgbClr val="3D85C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71"/>
          <p:cNvSpPr/>
          <p:nvPr/>
        </p:nvSpPr>
        <p:spPr>
          <a:xfrm>
            <a:off x="6879775" y="524500"/>
            <a:ext cx="1181400" cy="593100"/>
          </a:xfrm>
          <a:prstGeom prst="wedgeRectCallout">
            <a:avLst>
              <a:gd fmla="val -28712" name="adj1"/>
              <a:gd fmla="val 71762" name="adj2"/>
            </a:avLst>
          </a:prstGeom>
          <a:solidFill>
            <a:srgbClr val="0277BD">
              <a:alpha val="20000"/>
            </a:srgbClr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D85C6"/>
                </a:solidFill>
              </a:rPr>
              <a:t>Value</a:t>
            </a:r>
            <a:endParaRPr sz="2000">
              <a:solidFill>
                <a:srgbClr val="3D85C6"/>
              </a:solidFill>
            </a:endParaRPr>
          </a:p>
        </p:txBody>
      </p:sp>
      <p:sp>
        <p:nvSpPr>
          <p:cNvPr id="1281" name="Google Shape;1281;p71"/>
          <p:cNvSpPr/>
          <p:nvPr/>
        </p:nvSpPr>
        <p:spPr>
          <a:xfrm>
            <a:off x="6795300" y="1978650"/>
            <a:ext cx="1605900" cy="593100"/>
          </a:xfrm>
          <a:prstGeom prst="wedgeRectCallout">
            <a:avLst>
              <a:gd fmla="val -57275" name="adj1"/>
              <a:gd fmla="val -21641" name="adj2"/>
            </a:avLst>
          </a:prstGeom>
          <a:solidFill>
            <a:srgbClr val="F4B400">
              <a:alpha val="20000"/>
            </a:srgbClr>
          </a:solidFill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6B26B"/>
                </a:solidFill>
              </a:rPr>
              <a:t>A </a:t>
            </a:r>
            <a:r>
              <a:rPr lang="en" sz="2000">
                <a:solidFill>
                  <a:srgbClr val="F6B26B"/>
                </a:solidFill>
              </a:rPr>
              <a:t>(weights)</a:t>
            </a:r>
            <a:endParaRPr sz="2000">
              <a:solidFill>
                <a:srgbClr val="F6B26B"/>
              </a:solidFill>
            </a:endParaRPr>
          </a:p>
        </p:txBody>
      </p:sp>
      <p:sp>
        <p:nvSpPr>
          <p:cNvPr id="1282" name="Google Shape;1282;p71"/>
          <p:cNvSpPr txBox="1"/>
          <p:nvPr/>
        </p:nvSpPr>
        <p:spPr>
          <a:xfrm>
            <a:off x="4482350" y="3269575"/>
            <a:ext cx="339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6B26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= softmax(</a:t>
            </a:r>
            <a:r>
              <a:rPr b="1" lang="en" sz="24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Q</a:t>
            </a:r>
            <a:r>
              <a:rPr b="1" lang="en" sz="2400">
                <a:solidFill>
                  <a:srgbClr val="A64D79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aseline="30000"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⟙</a:t>
            </a: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b="1" lang="en" sz="24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" sz="24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71"/>
          <p:cNvSpPr/>
          <p:nvPr/>
        </p:nvSpPr>
        <p:spPr>
          <a:xfrm>
            <a:off x="5400625" y="2628600"/>
            <a:ext cx="1181400" cy="593100"/>
          </a:xfrm>
          <a:prstGeom prst="wedgeRectCallout">
            <a:avLst>
              <a:gd fmla="val 37623" name="adj1"/>
              <a:gd fmla="val 78026" name="adj2"/>
            </a:avLst>
          </a:prstGeom>
          <a:solidFill>
            <a:srgbClr val="0F9D58">
              <a:alpha val="20000"/>
            </a:srgbClr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AA84F"/>
                </a:solidFill>
              </a:rPr>
              <a:t>Query</a:t>
            </a:r>
            <a:endParaRPr sz="2000">
              <a:solidFill>
                <a:srgbClr val="6AA84F"/>
              </a:solidFill>
            </a:endParaRPr>
          </a:p>
        </p:txBody>
      </p:sp>
      <p:sp>
        <p:nvSpPr>
          <p:cNvPr id="1284" name="Google Shape;1284;p71"/>
          <p:cNvSpPr/>
          <p:nvPr/>
        </p:nvSpPr>
        <p:spPr>
          <a:xfrm>
            <a:off x="6706375" y="2628600"/>
            <a:ext cx="1181400" cy="593100"/>
          </a:xfrm>
          <a:prstGeom prst="wedgeRectCallout">
            <a:avLst>
              <a:gd fmla="val -54285" name="adj1"/>
              <a:gd fmla="val 80880" name="adj2"/>
            </a:avLst>
          </a:prstGeom>
          <a:solidFill>
            <a:srgbClr val="A64D79">
              <a:alpha val="20000"/>
            </a:srgbClr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64D79"/>
                </a:solidFill>
              </a:rPr>
              <a:t>Key</a:t>
            </a:r>
            <a:endParaRPr sz="2000">
              <a:solidFill>
                <a:srgbClr val="A64D79"/>
              </a:solidFill>
            </a:endParaRPr>
          </a:p>
        </p:txBody>
      </p:sp>
      <p:sp>
        <p:nvSpPr>
          <p:cNvPr id="1285" name="Google Shape;1285;p71"/>
          <p:cNvSpPr/>
          <p:nvPr/>
        </p:nvSpPr>
        <p:spPr>
          <a:xfrm>
            <a:off x="3353675" y="3926275"/>
            <a:ext cx="3395100" cy="843900"/>
          </a:xfrm>
          <a:prstGeom prst="wedgeRectCallout">
            <a:avLst>
              <a:gd fmla="val 16861" name="adj1"/>
              <a:gd fmla="val -73697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Softmax for each row, i.e.,  ∑</a:t>
            </a:r>
            <a:r>
              <a:rPr baseline="-25000" lang="en" sz="2000">
                <a:solidFill>
                  <a:schemeClr val="accent5"/>
                </a:solidFill>
              </a:rPr>
              <a:t>j</a:t>
            </a:r>
            <a:r>
              <a:rPr lang="en" sz="2000">
                <a:solidFill>
                  <a:schemeClr val="accent5"/>
                </a:solidFill>
              </a:rPr>
              <a:t> a</a:t>
            </a:r>
            <a:r>
              <a:rPr baseline="-25000" lang="en" sz="2000">
                <a:solidFill>
                  <a:schemeClr val="accent5"/>
                </a:solidFill>
              </a:rPr>
              <a:t>ij</a:t>
            </a:r>
            <a:r>
              <a:rPr lang="en" sz="2000">
                <a:solidFill>
                  <a:schemeClr val="accent5"/>
                </a:solidFill>
              </a:rPr>
              <a:t> = 1, e.g., a</a:t>
            </a:r>
            <a:r>
              <a:rPr baseline="-25000" lang="en" sz="2000">
                <a:solidFill>
                  <a:schemeClr val="accent5"/>
                </a:solidFill>
              </a:rPr>
              <a:t>21</a:t>
            </a:r>
            <a:r>
              <a:rPr lang="en" sz="2000">
                <a:solidFill>
                  <a:schemeClr val="accent5"/>
                </a:solidFill>
              </a:rPr>
              <a:t> + a</a:t>
            </a:r>
            <a:r>
              <a:rPr baseline="-25000" lang="en" sz="2000">
                <a:solidFill>
                  <a:schemeClr val="accent5"/>
                </a:solidFill>
              </a:rPr>
              <a:t>22</a:t>
            </a:r>
            <a:r>
              <a:rPr lang="en" sz="2000">
                <a:solidFill>
                  <a:schemeClr val="accent5"/>
                </a:solidFill>
              </a:rPr>
              <a:t> = 1.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286" name="Google Shape;1286;p71"/>
          <p:cNvSpPr/>
          <p:nvPr/>
        </p:nvSpPr>
        <p:spPr>
          <a:xfrm>
            <a:off x="6868500" y="3823675"/>
            <a:ext cx="2275500" cy="953400"/>
          </a:xfrm>
          <a:prstGeom prst="wedgeRectCallout">
            <a:avLst>
              <a:gd fmla="val -31172" name="adj1"/>
              <a:gd fmla="val -64249" name="adj2"/>
            </a:avLst>
          </a:prstGeom>
          <a:noFill/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61C00"/>
                </a:solidFill>
              </a:rPr>
              <a:t>Mask, e.g., -inf for invalid positions, e.g., a</a:t>
            </a:r>
            <a:r>
              <a:rPr baseline="-25000" lang="en" sz="2000">
                <a:solidFill>
                  <a:srgbClr val="A61C00"/>
                </a:solidFill>
              </a:rPr>
              <a:t>12</a:t>
            </a:r>
            <a:r>
              <a:rPr lang="en" sz="2000">
                <a:solidFill>
                  <a:srgbClr val="A61C00"/>
                </a:solidFill>
              </a:rPr>
              <a:t>.</a:t>
            </a:r>
            <a:endParaRPr sz="2000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Self-Attention Language Model</a:t>
            </a:r>
            <a:endParaRPr/>
          </a:p>
        </p:txBody>
      </p:sp>
      <p:sp>
        <p:nvSpPr>
          <p:cNvPr id="1292" name="Google Shape;1292;p7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Access to a long context when predicting a token.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Computational complexity: </a:t>
            </a:r>
            <a:r>
              <a:rPr b="1" lang="en" sz="2000"/>
              <a:t>O(I</a:t>
            </a:r>
            <a:r>
              <a:rPr b="1" baseline="30000" lang="en" sz="2000"/>
              <a:t>2</a:t>
            </a:r>
            <a:r>
              <a:rPr b="1" lang="en" sz="2000"/>
              <a:t>) </a:t>
            </a:r>
            <a:r>
              <a:rPr lang="en" sz="2000"/>
              <a:t>(I = length)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faster implementation (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Dao, 2024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Attention can be regarded as recurrence (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Feng et al., 2024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Relation to formal language (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Strobl et al., 2024</a:t>
            </a:r>
            <a:r>
              <a:rPr lang="en" sz="2000"/>
              <a:t>)</a:t>
            </a:r>
            <a:endParaRPr sz="2000"/>
          </a:p>
        </p:txBody>
      </p:sp>
      <p:sp>
        <p:nvSpPr>
          <p:cNvPr id="1293" name="Google Shape;1293;p7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7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299" name="Google Shape;1299;p7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n</a:t>
            </a:r>
            <a:r>
              <a:rPr lang="en"/>
              <a:t>-gram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Log-linear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Recurrent Language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Self-attention Language Models</a:t>
            </a:r>
            <a:endParaRPr/>
          </a:p>
        </p:txBody>
      </p:sp>
      <p:sp>
        <p:nvSpPr>
          <p:cNvPr id="1300" name="Google Shape;1300;p7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7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LM?</a:t>
            </a:r>
            <a:endParaRPr/>
          </a:p>
        </p:txBody>
      </p:sp>
      <p:sp>
        <p:nvSpPr>
          <p:cNvPr id="1306" name="Google Shape;1306;p7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Used as a component of NLP tasks, especially for </a:t>
            </a:r>
            <a:r>
              <a:rPr b="1" lang="en" sz="1800"/>
              <a:t>generation</a:t>
            </a:r>
            <a:r>
              <a:rPr lang="en" sz="1800"/>
              <a:t> and </a:t>
            </a:r>
            <a:r>
              <a:rPr b="1" lang="en" sz="1800"/>
              <a:t>probability</a:t>
            </a:r>
            <a:r>
              <a:rPr lang="en" sz="1800"/>
              <a:t> </a:t>
            </a:r>
            <a:r>
              <a:rPr b="1" lang="en" sz="1800"/>
              <a:t>computation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Benchmark for understanding language: </a:t>
            </a:r>
            <a:r>
              <a:rPr b="1" lang="en" sz="1800"/>
              <a:t>competition</a:t>
            </a:r>
            <a:endParaRPr b="1" sz="1800"/>
          </a:p>
        </p:txBody>
      </p:sp>
      <p:sp>
        <p:nvSpPr>
          <p:cNvPr id="1307" name="Google Shape;1307;p7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8" name="Google Shape;1308;p74"/>
          <p:cNvSpPr txBox="1"/>
          <p:nvPr/>
        </p:nvSpPr>
        <p:spPr>
          <a:xfrm>
            <a:off x="6668875" y="3276000"/>
            <a:ext cx="232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paperwithcode.com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74"/>
          <p:cNvSpPr txBox="1"/>
          <p:nvPr/>
        </p:nvSpPr>
        <p:spPr>
          <a:xfrm>
            <a:off x="3375475" y="3669600"/>
            <a:ext cx="56160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Popular research directions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Transformation, softmax, more parameters, initialization, optimization algorithm.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Optional readings in </a:t>
            </a: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paperwithcode.com</a:t>
            </a: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0" name="Google Shape;1310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250" y="71025"/>
            <a:ext cx="5616000" cy="3275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7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LM?</a:t>
            </a:r>
            <a:endParaRPr/>
          </a:p>
        </p:txBody>
      </p:sp>
      <p:sp>
        <p:nvSpPr>
          <p:cNvPr id="1316" name="Google Shape;1316;p7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Learned </a:t>
            </a:r>
            <a:r>
              <a:rPr b="1" lang="en" sz="1800"/>
              <a:t>representations</a:t>
            </a:r>
            <a:r>
              <a:rPr lang="en" sz="1800"/>
              <a:t> are </a:t>
            </a:r>
            <a:r>
              <a:rPr b="1" lang="en" sz="1800"/>
              <a:t>exploited/abused</a:t>
            </a:r>
            <a:r>
              <a:rPr lang="en" sz="1800"/>
              <a:t> in many </a:t>
            </a:r>
            <a:r>
              <a:rPr b="1" lang="en" sz="1800"/>
              <a:t>downstream tasks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Pre-training</a:t>
            </a:r>
            <a:r>
              <a:rPr lang="en" sz="1800"/>
              <a:t> a LM on </a:t>
            </a:r>
            <a:r>
              <a:rPr b="1" lang="en" sz="1800"/>
              <a:t>huge text data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Fine-tuning</a:t>
            </a:r>
            <a:r>
              <a:rPr lang="en" sz="1800"/>
              <a:t> for specific tasks, e.g., QA or dialogue.</a:t>
            </a:r>
            <a:endParaRPr sz="1800"/>
          </a:p>
        </p:txBody>
      </p:sp>
      <p:sp>
        <p:nvSpPr>
          <p:cNvPr id="1317" name="Google Shape;1317;p7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8" name="Google Shape;131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2025" y="121075"/>
            <a:ext cx="5450226" cy="464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75"/>
          <p:cNvSpPr txBox="1"/>
          <p:nvPr/>
        </p:nvSpPr>
        <p:spPr>
          <a:xfrm>
            <a:off x="5791450" y="4768325"/>
            <a:ext cx="301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(Chowdhery et al., 2022)</a:t>
            </a:r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7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LM?</a:t>
            </a:r>
            <a:endParaRPr/>
          </a:p>
        </p:txBody>
      </p:sp>
      <p:sp>
        <p:nvSpPr>
          <p:cNvPr id="1325" name="Google Shape;1325;p7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Surpassing human experts (89.8%) by </a:t>
            </a:r>
            <a:r>
              <a:rPr lang="en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Gemini Ultra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Zero-shot</a:t>
            </a:r>
            <a:r>
              <a:rPr lang="en" sz="1800"/>
              <a:t> and </a:t>
            </a:r>
            <a:r>
              <a:rPr b="1" lang="en" sz="1800"/>
              <a:t>few-shot</a:t>
            </a:r>
            <a:r>
              <a:rPr lang="en" sz="1800"/>
              <a:t> by leveraging </a:t>
            </a:r>
            <a:r>
              <a:rPr b="1" lang="en" sz="1800"/>
              <a:t>in-context learning</a:t>
            </a:r>
            <a:r>
              <a:rPr lang="en" sz="1800"/>
              <a:t> capabilities.</a:t>
            </a:r>
            <a:endParaRPr sz="1800"/>
          </a:p>
        </p:txBody>
      </p:sp>
      <p:pic>
        <p:nvPicPr>
          <p:cNvPr id="1326" name="Google Shape;132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350" y="955787"/>
            <a:ext cx="5655899" cy="3231924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7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8" name="Google Shape;1328;p76"/>
          <p:cNvSpPr txBox="1"/>
          <p:nvPr/>
        </p:nvSpPr>
        <p:spPr>
          <a:xfrm>
            <a:off x="6060850" y="4187700"/>
            <a:ext cx="301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https://paperswithcode.com/sota/multi-task-language-understanding-on-mmlu</a:t>
            </a:r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77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 (LLMs)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train an LLM?</a:t>
            </a:r>
            <a:endParaRPr/>
          </a:p>
        </p:txBody>
      </p:sp>
      <p:sp>
        <p:nvSpPr>
          <p:cNvPr id="1339" name="Google Shape;1339;p7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0" name="Google Shape;1340;p78"/>
          <p:cNvSpPr/>
          <p:nvPr/>
        </p:nvSpPr>
        <p:spPr>
          <a:xfrm>
            <a:off x="3335850" y="1848750"/>
            <a:ext cx="2472300" cy="102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Instruction Tuning</a:t>
            </a:r>
            <a:endParaRPr sz="2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78"/>
          <p:cNvSpPr/>
          <p:nvPr/>
        </p:nvSpPr>
        <p:spPr>
          <a:xfrm>
            <a:off x="71750" y="1848750"/>
            <a:ext cx="2472300" cy="102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Pre-training</a:t>
            </a:r>
            <a:endParaRPr sz="20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78"/>
          <p:cNvSpPr/>
          <p:nvPr/>
        </p:nvSpPr>
        <p:spPr>
          <a:xfrm>
            <a:off x="6599950" y="1848750"/>
            <a:ext cx="2472300" cy="102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Alignment</a:t>
            </a:r>
            <a:endParaRPr sz="20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78"/>
          <p:cNvSpPr/>
          <p:nvPr/>
        </p:nvSpPr>
        <p:spPr>
          <a:xfrm>
            <a:off x="2544050" y="2149200"/>
            <a:ext cx="791700" cy="4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37373">
              <a:alpha val="1962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4" name="Google Shape;1344;p78"/>
          <p:cNvSpPr/>
          <p:nvPr/>
        </p:nvSpPr>
        <p:spPr>
          <a:xfrm>
            <a:off x="5808150" y="2149200"/>
            <a:ext cx="791700" cy="42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37373">
              <a:alpha val="19620"/>
            </a:srgb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78"/>
          <p:cNvSpPr txBox="1"/>
          <p:nvPr>
            <p:ph idx="1" type="body"/>
          </p:nvPr>
        </p:nvSpPr>
        <p:spPr>
          <a:xfrm>
            <a:off x="471900" y="3041850"/>
            <a:ext cx="8222100" cy="15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Pre-training</a:t>
            </a:r>
            <a:r>
              <a:rPr lang="en"/>
              <a:t>: Train a model to </a:t>
            </a:r>
            <a:r>
              <a:rPr b="1" lang="en"/>
              <a:t>predict next words</a:t>
            </a:r>
            <a:r>
              <a:rPr lang="en"/>
              <a:t> from human written texts.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2"/>
                </a:solidFill>
              </a:rPr>
              <a:t>Instruction Tuning</a:t>
            </a:r>
            <a:r>
              <a:rPr lang="en"/>
              <a:t>: Tune a model to </a:t>
            </a:r>
            <a:r>
              <a:rPr b="1" lang="en"/>
              <a:t>predict appropriate outputs</a:t>
            </a:r>
            <a:r>
              <a:rPr lang="en"/>
              <a:t> </a:t>
            </a:r>
            <a:r>
              <a:rPr b="1" lang="en"/>
              <a:t>for a task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Alignment</a:t>
            </a:r>
            <a:r>
              <a:rPr lang="en"/>
              <a:t>: Train a model to </a:t>
            </a:r>
            <a:r>
              <a:rPr b="1" lang="en"/>
              <a:t>predict outputs which align human values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Pre-training</a:t>
            </a:r>
            <a:endParaRPr/>
          </a:p>
        </p:txBody>
      </p:sp>
      <p:sp>
        <p:nvSpPr>
          <p:cNvPr id="1351" name="Google Shape;1351;p7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many data (100B  〜 1.5T words), train a model with large # of parameters (e.g., 70B).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Acquire knowledge</a:t>
            </a:r>
            <a:r>
              <a:rPr lang="en" sz="1800"/>
              <a:t> from texts.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Also learn </a:t>
            </a:r>
            <a:r>
              <a:rPr b="1" lang="en" sz="1800"/>
              <a:t>artificial languages</a:t>
            </a:r>
            <a:r>
              <a:rPr lang="en" sz="1800"/>
              <a:t> (e.g., codes).</a:t>
            </a:r>
            <a:endParaRPr sz="1800"/>
          </a:p>
        </p:txBody>
      </p:sp>
      <p:sp>
        <p:nvSpPr>
          <p:cNvPr id="1352" name="Google Shape;1352;p7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3" name="Google Shape;135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88" y="1718788"/>
            <a:ext cx="1571626" cy="145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79"/>
          <p:cNvSpPr/>
          <p:nvPr/>
        </p:nvSpPr>
        <p:spPr>
          <a:xfrm>
            <a:off x="3786200" y="121775"/>
            <a:ext cx="4737300" cy="1510800"/>
          </a:xfrm>
          <a:prstGeom prst="wedgeRectCallout">
            <a:avLst>
              <a:gd fmla="val -30384" name="adj1"/>
              <a:gd fmla="val 58003" name="adj2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Predict the words in a sentence. Predict the words in the next sentence.  Predict the words in the next sentence. Again, predict the words in the next sentence. Predict the words of sentences in other documents….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79"/>
          <p:cNvSpPr/>
          <p:nvPr/>
        </p:nvSpPr>
        <p:spPr>
          <a:xfrm>
            <a:off x="3874800" y="3258800"/>
            <a:ext cx="2667000" cy="1043400"/>
          </a:xfrm>
          <a:prstGeom prst="wedgeRoundRectCallout">
            <a:avLst>
              <a:gd fmla="val 5790" name="adj1"/>
              <a:gd fmla="val -64885" name="adj2"/>
              <a:gd fmla="val 0" name="adj3"/>
            </a:avLst>
          </a:prstGeom>
          <a:solidFill>
            <a:srgbClr val="0F9D58">
              <a:alpha val="1962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Acquire knowledge by 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reading books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(?)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56" name="Google Shape;1356;p79"/>
          <p:cNvGrpSpPr/>
          <p:nvPr/>
        </p:nvGrpSpPr>
        <p:grpSpPr>
          <a:xfrm>
            <a:off x="5852025" y="1718938"/>
            <a:ext cx="3039498" cy="1776334"/>
            <a:chOff x="5852025" y="1718938"/>
            <a:chExt cx="3039498" cy="1776334"/>
          </a:xfrm>
        </p:grpSpPr>
        <p:sp>
          <p:nvSpPr>
            <p:cNvPr id="1357" name="Google Shape;1357;p79"/>
            <p:cNvSpPr/>
            <p:nvPr/>
          </p:nvSpPr>
          <p:spPr>
            <a:xfrm>
              <a:off x="7194625" y="1718938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8" name="Google Shape;1358;p79"/>
            <p:cNvSpPr/>
            <p:nvPr/>
          </p:nvSpPr>
          <p:spPr>
            <a:xfrm>
              <a:off x="7344581" y="1775838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59" name="Google Shape;1359;p79"/>
            <p:cNvSpPr/>
            <p:nvPr/>
          </p:nvSpPr>
          <p:spPr>
            <a:xfrm>
              <a:off x="7561927" y="1884340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0" name="Google Shape;1360;p79"/>
            <p:cNvSpPr/>
            <p:nvPr/>
          </p:nvSpPr>
          <p:spPr>
            <a:xfrm>
              <a:off x="7786023" y="2022302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1" name="Google Shape;1361;p79"/>
            <p:cNvSpPr/>
            <p:nvPr/>
          </p:nvSpPr>
          <p:spPr>
            <a:xfrm>
              <a:off x="7268612" y="2228498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2" name="Google Shape;1362;p79"/>
            <p:cNvSpPr/>
            <p:nvPr/>
          </p:nvSpPr>
          <p:spPr>
            <a:xfrm>
              <a:off x="7688200" y="2372671"/>
              <a:ext cx="1105500" cy="11226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3" name="Google Shape;1363;p79"/>
            <p:cNvSpPr/>
            <p:nvPr/>
          </p:nvSpPr>
          <p:spPr>
            <a:xfrm>
              <a:off x="5852025" y="2233550"/>
              <a:ext cx="848400" cy="424200"/>
            </a:xfrm>
            <a:prstGeom prst="leftArrow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4" name="Google Shape;1364;p79"/>
            <p:cNvSpPr/>
            <p:nvPr/>
          </p:nvSpPr>
          <p:spPr>
            <a:xfrm>
              <a:off x="7751350" y="2446350"/>
              <a:ext cx="9723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5" name="Google Shape;1365;p79"/>
            <p:cNvSpPr/>
            <p:nvPr/>
          </p:nvSpPr>
          <p:spPr>
            <a:xfrm>
              <a:off x="7754800" y="2547900"/>
              <a:ext cx="9723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6" name="Google Shape;1366;p79"/>
            <p:cNvSpPr/>
            <p:nvPr/>
          </p:nvSpPr>
          <p:spPr>
            <a:xfrm>
              <a:off x="7754800" y="2649450"/>
              <a:ext cx="9723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7" name="Google Shape;1367;p79"/>
            <p:cNvSpPr/>
            <p:nvPr/>
          </p:nvSpPr>
          <p:spPr>
            <a:xfrm>
              <a:off x="7754800" y="2751000"/>
              <a:ext cx="6192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8" name="Google Shape;1368;p79"/>
            <p:cNvSpPr/>
            <p:nvPr/>
          </p:nvSpPr>
          <p:spPr>
            <a:xfrm>
              <a:off x="7751350" y="2852550"/>
              <a:ext cx="9723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9" name="Google Shape;1369;p79"/>
            <p:cNvSpPr/>
            <p:nvPr/>
          </p:nvSpPr>
          <p:spPr>
            <a:xfrm>
              <a:off x="7751350" y="2954100"/>
              <a:ext cx="9723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0" name="Google Shape;1370;p79"/>
            <p:cNvSpPr/>
            <p:nvPr/>
          </p:nvSpPr>
          <p:spPr>
            <a:xfrm>
              <a:off x="7754800" y="3055650"/>
              <a:ext cx="482700" cy="47700"/>
            </a:xfrm>
            <a:prstGeom prst="rect">
              <a:avLst/>
            </a:prstGeom>
            <a:solidFill>
              <a:srgbClr val="737373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5" name="Google Shape;1375;p80"/>
          <p:cNvGrpSpPr/>
          <p:nvPr/>
        </p:nvGrpSpPr>
        <p:grpSpPr>
          <a:xfrm>
            <a:off x="4622900" y="982675"/>
            <a:ext cx="3256800" cy="3221875"/>
            <a:chOff x="4622900" y="982675"/>
            <a:chExt cx="3256800" cy="3221875"/>
          </a:xfrm>
        </p:grpSpPr>
        <p:sp>
          <p:nvSpPr>
            <p:cNvPr id="1376" name="Google Shape;1376;p80"/>
            <p:cNvSpPr/>
            <p:nvPr/>
          </p:nvSpPr>
          <p:spPr>
            <a:xfrm>
              <a:off x="4622900" y="982675"/>
              <a:ext cx="3256800" cy="894000"/>
            </a:xfrm>
            <a:prstGeom prst="wedgeRoundRectCallout">
              <a:avLst>
                <a:gd fmla="val -55492" name="adj1"/>
                <a:gd fmla="val 38333" name="adj2"/>
                <a:gd fmla="val 0" name="adj3"/>
              </a:avLst>
            </a:prstGeom>
            <a:solidFill>
              <a:srgbClr val="737373">
                <a:alpha val="19620"/>
              </a:srgbClr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A lecture is a style of class in which a teacher prepare a note…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77" name="Google Shape;1377;p80"/>
            <p:cNvSpPr/>
            <p:nvPr/>
          </p:nvSpPr>
          <p:spPr>
            <a:xfrm>
              <a:off x="4622900" y="3251150"/>
              <a:ext cx="3256800" cy="953400"/>
            </a:xfrm>
            <a:prstGeom prst="wedgeRoundRectCallout">
              <a:avLst>
                <a:gd fmla="val -55202" name="adj1"/>
                <a:gd fmla="val -45491" name="adj2"/>
                <a:gd fmla="val 0" name="adj3"/>
              </a:avLst>
            </a:prstGeom>
            <a:solidFill>
              <a:srgbClr val="737373">
                <a:alpha val="19620"/>
              </a:srgbClr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Following are the steps to create lecture slides.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Roboto"/>
                <a:buAutoNum type="arabicPeriod"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Clarify the objectives…..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78" name="Google Shape;1378;p8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 Tuning</a:t>
            </a:r>
            <a:endParaRPr/>
          </a:p>
        </p:txBody>
      </p:sp>
      <p:sp>
        <p:nvSpPr>
          <p:cNvPr id="1379" name="Google Shape;1379;p80"/>
          <p:cNvSpPr txBox="1"/>
          <p:nvPr>
            <p:ph idx="1" type="body"/>
          </p:nvPr>
        </p:nvSpPr>
        <p:spPr>
          <a:xfrm>
            <a:off x="226075" y="1465800"/>
            <a:ext cx="3057900" cy="3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Learned to output following user’s instructions.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Pre-training solely does not answer, but simply </a:t>
            </a:r>
            <a:r>
              <a:rPr b="1" lang="en" sz="1800"/>
              <a:t>generate following words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Tuned on </a:t>
            </a:r>
            <a:r>
              <a:rPr b="1" lang="en" sz="1800"/>
              <a:t>various tasks</a:t>
            </a:r>
            <a:r>
              <a:rPr lang="en" sz="1800"/>
              <a:t>, e.g., MT, not only QA.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0" name="Google Shape;1380;p8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1" name="Google Shape;138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88" y="1718788"/>
            <a:ext cx="1571626" cy="14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2" name="Google Shape;138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7075" y="1743150"/>
            <a:ext cx="1229051" cy="14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80"/>
          <p:cNvSpPr/>
          <p:nvPr/>
        </p:nvSpPr>
        <p:spPr>
          <a:xfrm>
            <a:off x="4424150" y="116700"/>
            <a:ext cx="3455400" cy="786600"/>
          </a:xfrm>
          <a:prstGeom prst="wedgeRoundRectCallout">
            <a:avLst>
              <a:gd fmla="val 57165" name="adj1"/>
              <a:gd fmla="val 37621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Please tell me how to create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lecture slides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4" name="Google Shape;1384;p80"/>
          <p:cNvGrpSpPr/>
          <p:nvPr/>
        </p:nvGrpSpPr>
        <p:grpSpPr>
          <a:xfrm>
            <a:off x="7452360" y="1378675"/>
            <a:ext cx="441900" cy="2825875"/>
            <a:chOff x="7176975" y="1378675"/>
            <a:chExt cx="441900" cy="2825875"/>
          </a:xfrm>
        </p:grpSpPr>
        <p:sp>
          <p:nvSpPr>
            <p:cNvPr id="1385" name="Google Shape;1385;p80"/>
            <p:cNvSpPr txBox="1"/>
            <p:nvPr/>
          </p:nvSpPr>
          <p:spPr>
            <a:xfrm>
              <a:off x="7176975" y="1378675"/>
              <a:ext cx="44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❌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86" name="Google Shape;1386;p80"/>
            <p:cNvSpPr txBox="1"/>
            <p:nvPr/>
          </p:nvSpPr>
          <p:spPr>
            <a:xfrm>
              <a:off x="7176975" y="3742850"/>
              <a:ext cx="44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✅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87" name="Google Shape;1387;p80"/>
          <p:cNvSpPr/>
          <p:nvPr/>
        </p:nvSpPr>
        <p:spPr>
          <a:xfrm>
            <a:off x="5357825" y="4151376"/>
            <a:ext cx="3349200" cy="846000"/>
          </a:xfrm>
          <a:prstGeom prst="wedgeRoundRectCallout">
            <a:avLst>
              <a:gd fmla="val -18378" name="adj1"/>
              <a:gd fmla="val -63124" name="adj2"/>
              <a:gd fmla="val 0" name="adj3"/>
            </a:avLst>
          </a:prstGeom>
          <a:solidFill>
            <a:srgbClr val="0F9D58">
              <a:alpha val="1962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Evaluate the generation result, either 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good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bad</a:t>
            </a: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" name="Google Shape;139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88" y="1718788"/>
            <a:ext cx="1571626" cy="14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7075" y="1743150"/>
            <a:ext cx="1229051" cy="14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8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</a:t>
            </a:r>
            <a:endParaRPr/>
          </a:p>
        </p:txBody>
      </p:sp>
      <p:sp>
        <p:nvSpPr>
          <p:cNvPr id="1395" name="Google Shape;1395;p81"/>
          <p:cNvSpPr txBox="1"/>
          <p:nvPr>
            <p:ph idx="1" type="body"/>
          </p:nvPr>
        </p:nvSpPr>
        <p:spPr>
          <a:xfrm>
            <a:off x="226075" y="1465800"/>
            <a:ext cx="30579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Train a model, not to generate output against human values.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Train a model so that</a:t>
            </a:r>
            <a:r>
              <a:rPr b="1" lang="en" sz="1800"/>
              <a:t> Good output &gt; Bad output</a:t>
            </a:r>
            <a:r>
              <a:rPr lang="en" sz="1800"/>
              <a:t> (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RLHF</a:t>
            </a:r>
            <a:r>
              <a:rPr lang="en"/>
              <a:t>, </a:t>
            </a:r>
            <a:r>
              <a:rPr lang="en" sz="1800" u="sng">
                <a:solidFill>
                  <a:schemeClr val="hlink"/>
                </a:solidFill>
                <a:hlinkClick r:id="rId6"/>
              </a:rPr>
              <a:t>DPO</a:t>
            </a:r>
            <a:r>
              <a:rPr lang="en" sz="1800"/>
              <a:t>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Traina a model</a:t>
            </a:r>
            <a:r>
              <a:rPr lang="en" sz="1800"/>
              <a:t> in terms of </a:t>
            </a:r>
            <a:r>
              <a:rPr b="1" lang="en" sz="1800"/>
              <a:t>Helpfulness</a:t>
            </a:r>
            <a:r>
              <a:rPr lang="en" sz="1800"/>
              <a:t>, </a:t>
            </a:r>
            <a:r>
              <a:rPr b="1" lang="en" sz="1800"/>
              <a:t> Honest</a:t>
            </a:r>
            <a:r>
              <a:rPr lang="en" sz="1800"/>
              <a:t>, </a:t>
            </a:r>
            <a:r>
              <a:rPr b="1" lang="en" sz="1800"/>
              <a:t>Harmless</a:t>
            </a:r>
            <a:r>
              <a:rPr lang="en" sz="1800"/>
              <a:t>.</a:t>
            </a:r>
            <a:endParaRPr sz="1800"/>
          </a:p>
        </p:txBody>
      </p:sp>
      <p:sp>
        <p:nvSpPr>
          <p:cNvPr id="1396" name="Google Shape;1396;p8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97" name="Google Shape;1397;p81"/>
          <p:cNvGrpSpPr/>
          <p:nvPr/>
        </p:nvGrpSpPr>
        <p:grpSpPr>
          <a:xfrm>
            <a:off x="4622900" y="982675"/>
            <a:ext cx="3256800" cy="3221875"/>
            <a:chOff x="4622900" y="982675"/>
            <a:chExt cx="3256800" cy="3221875"/>
          </a:xfrm>
        </p:grpSpPr>
        <p:sp>
          <p:nvSpPr>
            <p:cNvPr id="1398" name="Google Shape;1398;p81"/>
            <p:cNvSpPr/>
            <p:nvPr/>
          </p:nvSpPr>
          <p:spPr>
            <a:xfrm>
              <a:off x="4622900" y="982675"/>
              <a:ext cx="3256800" cy="894000"/>
            </a:xfrm>
            <a:prstGeom prst="wedgeRoundRectCallout">
              <a:avLst>
                <a:gd fmla="val -55492" name="adj1"/>
                <a:gd fmla="val 38333" name="adj2"/>
                <a:gd fmla="val 0" name="adj3"/>
              </a:avLst>
            </a:prstGeom>
            <a:solidFill>
              <a:srgbClr val="737373">
                <a:alpha val="19620"/>
              </a:srgbClr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Following are the steps to create a bomb.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Roboto"/>
                <a:buAutoNum type="arabicPeriod"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Clarify the objectives...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9" name="Google Shape;1399;p81"/>
            <p:cNvSpPr/>
            <p:nvPr/>
          </p:nvSpPr>
          <p:spPr>
            <a:xfrm>
              <a:off x="4622900" y="3251150"/>
              <a:ext cx="3256800" cy="953400"/>
            </a:xfrm>
            <a:prstGeom prst="wedgeRoundRectCallout">
              <a:avLst>
                <a:gd fmla="val -55202" name="adj1"/>
                <a:gd fmla="val -45491" name="adj2"/>
                <a:gd fmla="val 0" name="adj3"/>
              </a:avLst>
            </a:prstGeom>
            <a:solidFill>
              <a:srgbClr val="737373">
                <a:alpha val="19620"/>
              </a:srgbClr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I’m unable to answer the question.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00" name="Google Shape;1400;p81"/>
          <p:cNvSpPr/>
          <p:nvPr/>
        </p:nvSpPr>
        <p:spPr>
          <a:xfrm>
            <a:off x="4424150" y="116700"/>
            <a:ext cx="3455400" cy="786600"/>
          </a:xfrm>
          <a:prstGeom prst="wedgeRoundRectCallout">
            <a:avLst>
              <a:gd fmla="val 57165" name="adj1"/>
              <a:gd fmla="val 37621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Please tell me how to create a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bomb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01" name="Google Shape;1401;p81"/>
          <p:cNvGrpSpPr/>
          <p:nvPr/>
        </p:nvGrpSpPr>
        <p:grpSpPr>
          <a:xfrm>
            <a:off x="7452360" y="1378675"/>
            <a:ext cx="441900" cy="2825875"/>
            <a:chOff x="7176975" y="1378675"/>
            <a:chExt cx="441900" cy="2825875"/>
          </a:xfrm>
        </p:grpSpPr>
        <p:sp>
          <p:nvSpPr>
            <p:cNvPr id="1402" name="Google Shape;1402;p81"/>
            <p:cNvSpPr txBox="1"/>
            <p:nvPr/>
          </p:nvSpPr>
          <p:spPr>
            <a:xfrm>
              <a:off x="7176975" y="3742850"/>
              <a:ext cx="44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✅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3" name="Google Shape;1403;p81"/>
            <p:cNvSpPr txBox="1"/>
            <p:nvPr/>
          </p:nvSpPr>
          <p:spPr>
            <a:xfrm>
              <a:off x="7176975" y="1378675"/>
              <a:ext cx="44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❌</a:t>
              </a:r>
              <a:endPara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04" name="Google Shape;1404;p81"/>
          <p:cNvSpPr/>
          <p:nvPr/>
        </p:nvSpPr>
        <p:spPr>
          <a:xfrm>
            <a:off x="5357825" y="4155150"/>
            <a:ext cx="3349200" cy="846000"/>
          </a:xfrm>
          <a:prstGeom prst="wedgeRoundRectCallout">
            <a:avLst>
              <a:gd fmla="val -18378" name="adj1"/>
              <a:gd fmla="val -63124" name="adj2"/>
              <a:gd fmla="val 0" name="adj3"/>
            </a:avLst>
          </a:prstGeom>
          <a:solidFill>
            <a:srgbClr val="0F9D58">
              <a:alpha val="1962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Should not answer even if it is easy to search answers.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8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LLM: Why next token prediction?</a:t>
            </a:r>
            <a:endParaRPr/>
          </a:p>
        </p:txBody>
      </p:sp>
      <p:sp>
        <p:nvSpPr>
          <p:cNvPr id="1410" name="Google Shape;1410;p8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Supervised Training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Large amount of human created textual data in the web.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Similar to the </a:t>
            </a:r>
            <a:r>
              <a:rPr b="1" lang="en" sz="2000"/>
              <a:t>human knowledge acquisition</a:t>
            </a:r>
            <a:r>
              <a:rPr lang="en" sz="2000"/>
              <a:t> process (?)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Generation Model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Extract knowledge by letting the model </a:t>
            </a:r>
            <a:r>
              <a:rPr b="1" lang="en" sz="2000"/>
              <a:t>generate following texts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Similar to the </a:t>
            </a:r>
            <a:r>
              <a:rPr b="1" lang="en" sz="2000"/>
              <a:t>human inference</a:t>
            </a:r>
            <a:r>
              <a:rPr lang="en" sz="2000"/>
              <a:t> capabilities (?)</a:t>
            </a:r>
            <a:endParaRPr sz="2000"/>
          </a:p>
        </p:txBody>
      </p:sp>
      <p:sp>
        <p:nvSpPr>
          <p:cNvPr id="1411" name="Google Shape;1411;p8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3"/>
          <p:cNvSpPr txBox="1"/>
          <p:nvPr/>
        </p:nvSpPr>
        <p:spPr>
          <a:xfrm>
            <a:off x="1604700" y="1747700"/>
            <a:ext cx="593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Once upon a time, 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[...?...]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17" name="Google Shape;1417;p83"/>
          <p:cNvGrpSpPr/>
          <p:nvPr/>
        </p:nvGrpSpPr>
        <p:grpSpPr>
          <a:xfrm>
            <a:off x="5099213" y="2058875"/>
            <a:ext cx="3505350" cy="1590600"/>
            <a:chOff x="5109888" y="2240300"/>
            <a:chExt cx="3505350" cy="1590600"/>
          </a:xfrm>
        </p:grpSpPr>
        <p:sp>
          <p:nvSpPr>
            <p:cNvPr id="1418" name="Google Shape;1418;p83"/>
            <p:cNvSpPr/>
            <p:nvPr/>
          </p:nvSpPr>
          <p:spPr>
            <a:xfrm>
              <a:off x="5250375" y="2240300"/>
              <a:ext cx="3266700" cy="1579200"/>
            </a:xfrm>
            <a:prstGeom prst="wedgeRoundRectCallout">
              <a:avLst>
                <a:gd fmla="val -65151" name="adj1"/>
                <a:gd fmla="val -47931" name="adj2"/>
                <a:gd fmla="val 0" name="adj3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9" name="Google Shape;1419;p83"/>
            <p:cNvSpPr/>
            <p:nvPr/>
          </p:nvSpPr>
          <p:spPr>
            <a:xfrm>
              <a:off x="5411525" y="2767824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83"/>
            <p:cNvSpPr/>
            <p:nvPr/>
          </p:nvSpPr>
          <p:spPr>
            <a:xfrm flipH="1" rot="10800000">
              <a:off x="6070744" y="3015450"/>
              <a:ext cx="265200" cy="84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83"/>
            <p:cNvSpPr/>
            <p:nvPr/>
          </p:nvSpPr>
          <p:spPr>
            <a:xfrm>
              <a:off x="6729962" y="2332650"/>
              <a:ext cx="265200" cy="767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83"/>
            <p:cNvSpPr/>
            <p:nvPr/>
          </p:nvSpPr>
          <p:spPr>
            <a:xfrm>
              <a:off x="7389181" y="2698632"/>
              <a:ext cx="265200" cy="401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3"/>
            <p:cNvSpPr/>
            <p:nvPr/>
          </p:nvSpPr>
          <p:spPr>
            <a:xfrm>
              <a:off x="8048400" y="2767824"/>
              <a:ext cx="265200" cy="33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83"/>
            <p:cNvSpPr txBox="1"/>
            <p:nvPr/>
          </p:nvSpPr>
          <p:spPr>
            <a:xfrm>
              <a:off x="6428288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there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5" name="Google Shape;1425;p83"/>
            <p:cNvSpPr txBox="1"/>
            <p:nvPr/>
          </p:nvSpPr>
          <p:spPr>
            <a:xfrm>
              <a:off x="7087513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and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6" name="Google Shape;1426;p83"/>
            <p:cNvSpPr txBox="1"/>
            <p:nvPr/>
          </p:nvSpPr>
          <p:spPr>
            <a:xfrm>
              <a:off x="7746738" y="3111550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was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7" name="Google Shape;1427;p83"/>
            <p:cNvSpPr txBox="1"/>
            <p:nvPr/>
          </p:nvSpPr>
          <p:spPr>
            <a:xfrm>
              <a:off x="5769075" y="3100225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boy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8" name="Google Shape;1428;p83"/>
            <p:cNvSpPr txBox="1"/>
            <p:nvPr/>
          </p:nvSpPr>
          <p:spPr>
            <a:xfrm>
              <a:off x="5109888" y="3100213"/>
              <a:ext cx="868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girl</a:t>
              </a:r>
              <a:endParaRPr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9" name="Google Shape;1429;p83"/>
            <p:cNvSpPr txBox="1"/>
            <p:nvPr/>
          </p:nvSpPr>
          <p:spPr>
            <a:xfrm>
              <a:off x="6070750" y="3430700"/>
              <a:ext cx="2544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P(</a:t>
              </a:r>
              <a:r>
                <a:rPr b="1"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?</a:t>
              </a:r>
              <a:r>
                <a:rPr lang="en">
                  <a:solidFill>
                    <a:schemeClr val="lt2"/>
                  </a:solidFill>
                  <a:latin typeface="Roboto"/>
                  <a:ea typeface="Roboto"/>
                  <a:cs typeface="Roboto"/>
                  <a:sym typeface="Roboto"/>
                </a:rPr>
                <a:t> | Once upon a time,)</a:t>
              </a:r>
              <a:endPara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30" name="Google Shape;1430;p8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LLM: Why large computation resources?</a:t>
            </a:r>
            <a:endParaRPr/>
          </a:p>
        </p:txBody>
      </p:sp>
      <p:sp>
        <p:nvSpPr>
          <p:cNvPr id="1431" name="Google Shape;1431;p83"/>
          <p:cNvSpPr txBox="1"/>
          <p:nvPr>
            <p:ph idx="1" type="body"/>
          </p:nvPr>
        </p:nvSpPr>
        <p:spPr>
          <a:xfrm>
            <a:off x="460950" y="3478925"/>
            <a:ext cx="8222100" cy="19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Learn parameters such that it can </a:t>
            </a:r>
            <a:r>
              <a:rPr b="1" lang="en" sz="2000"/>
              <a:t>predict next words accurately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Mechanism for learning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Efficiency for parallel computation</a:t>
            </a:r>
            <a:endParaRPr sz="2000"/>
          </a:p>
        </p:txBody>
      </p:sp>
      <p:sp>
        <p:nvSpPr>
          <p:cNvPr id="1432" name="Google Shape;1432;p8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33" name="Google Shape;1433;p83"/>
          <p:cNvGrpSpPr/>
          <p:nvPr/>
        </p:nvGrpSpPr>
        <p:grpSpPr>
          <a:xfrm>
            <a:off x="407650" y="1868300"/>
            <a:ext cx="7972275" cy="1540025"/>
            <a:chOff x="407650" y="1868300"/>
            <a:chExt cx="7972275" cy="1540025"/>
          </a:xfrm>
        </p:grpSpPr>
        <p:grpSp>
          <p:nvGrpSpPr>
            <p:cNvPr id="1434" name="Google Shape;1434;p83"/>
            <p:cNvGrpSpPr/>
            <p:nvPr/>
          </p:nvGrpSpPr>
          <p:grpSpPr>
            <a:xfrm>
              <a:off x="5333925" y="1868300"/>
              <a:ext cx="3046000" cy="947425"/>
              <a:chOff x="5333925" y="1868300"/>
              <a:chExt cx="3046000" cy="947425"/>
            </a:xfrm>
          </p:grpSpPr>
          <p:sp>
            <p:nvSpPr>
              <p:cNvPr id="1435" name="Google Shape;1435;p83"/>
              <p:cNvSpPr/>
              <p:nvPr/>
            </p:nvSpPr>
            <p:spPr>
              <a:xfrm>
                <a:off x="6647450" y="1868300"/>
                <a:ext cx="408900" cy="2514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rgbClr val="DB4437">
                  <a:alpha val="1962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6" name="Google Shape;1436;p83"/>
              <p:cNvSpPr/>
              <p:nvPr/>
            </p:nvSpPr>
            <p:spPr>
              <a:xfrm rot="10800000">
                <a:off x="5333925" y="2207250"/>
                <a:ext cx="408900" cy="3645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rgbClr val="DB4437">
                  <a:alpha val="1962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7" name="Google Shape;1437;p83"/>
              <p:cNvSpPr/>
              <p:nvPr/>
            </p:nvSpPr>
            <p:spPr>
              <a:xfrm rot="10800000">
                <a:off x="5971875" y="2639625"/>
                <a:ext cx="408900" cy="1761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rgbClr val="DB4437">
                  <a:alpha val="1962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8" name="Google Shape;1438;p83"/>
              <p:cNvSpPr/>
              <p:nvPr/>
            </p:nvSpPr>
            <p:spPr>
              <a:xfrm rot="10800000">
                <a:off x="7311700" y="2027050"/>
                <a:ext cx="408900" cy="4356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rgbClr val="DB4437">
                  <a:alpha val="1962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39" name="Google Shape;1439;p83"/>
              <p:cNvSpPr/>
              <p:nvPr/>
            </p:nvSpPr>
            <p:spPr>
              <a:xfrm rot="10800000">
                <a:off x="7971025" y="2207250"/>
                <a:ext cx="408900" cy="364500"/>
              </a:xfrm>
              <a:prstGeom prst="upArrow">
                <a:avLst>
                  <a:gd fmla="val 50000" name="adj1"/>
                  <a:gd fmla="val 50000" name="adj2"/>
                </a:avLst>
              </a:prstGeom>
              <a:solidFill>
                <a:srgbClr val="DB4437">
                  <a:alpha val="19620"/>
                </a:srgbClr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440" name="Google Shape;1440;p83"/>
            <p:cNvSpPr/>
            <p:nvPr/>
          </p:nvSpPr>
          <p:spPr>
            <a:xfrm>
              <a:off x="407650" y="2436625"/>
              <a:ext cx="4387200" cy="971700"/>
            </a:xfrm>
            <a:prstGeom prst="wedgeRoundRectCallout">
              <a:avLst>
                <a:gd fmla="val 46775" name="adj1"/>
                <a:gd fmla="val -68057" name="adj2"/>
                <a:gd fmla="val 0" name="adj3"/>
              </a:avLst>
            </a:prstGeom>
            <a:solidFill>
              <a:srgbClr val="DB4437">
                <a:alpha val="19620"/>
              </a:srgbClr>
            </a:solidFill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Learn to assign:</a:t>
              </a:r>
              <a:b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higher</a:t>
              </a: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probability for </a:t>
              </a:r>
              <a:r>
                <a:rPr b="1"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correct</a:t>
              </a: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prediction 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lower</a:t>
              </a: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probability for </a:t>
              </a:r>
              <a:r>
                <a:rPr b="1"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incorrect</a:t>
              </a:r>
              <a:r>
                <a:rPr lang="en" sz="180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 prediction</a:t>
              </a:r>
              <a:endPara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8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Mechanism for Learning</a:t>
            </a:r>
            <a:endParaRPr/>
          </a:p>
        </p:txBody>
      </p:sp>
      <p:sp>
        <p:nvSpPr>
          <p:cNvPr id="1446" name="Google Shape;1446;p84"/>
          <p:cNvSpPr txBox="1"/>
          <p:nvPr>
            <p:ph idx="1" type="body"/>
          </p:nvPr>
        </p:nvSpPr>
        <p:spPr>
          <a:xfrm>
            <a:off x="226075" y="1465800"/>
            <a:ext cx="29256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Learning by </a:t>
            </a:r>
            <a:r>
              <a:rPr b="1" lang="en" sz="1800"/>
              <a:t>updating parameters</a:t>
            </a:r>
            <a:r>
              <a:rPr lang="en" sz="1800"/>
              <a:t> several times.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More efficient learning by </a:t>
            </a:r>
            <a:r>
              <a:rPr b="1" lang="en" sz="1800"/>
              <a:t>predicting as many tokens as possible</a:t>
            </a:r>
            <a:r>
              <a:rPr lang="en" sz="1800"/>
              <a:t> in a single update.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Efficient</a:t>
            </a:r>
            <a:r>
              <a:rPr b="1" lang="en" sz="1800"/>
              <a:t> parallel computations </a:t>
            </a:r>
            <a:r>
              <a:rPr lang="en" sz="1800"/>
              <a:t>by a single</a:t>
            </a:r>
            <a:r>
              <a:rPr b="1" lang="en" sz="1800"/>
              <a:t> GPU</a:t>
            </a:r>
            <a:endParaRPr b="1" sz="1800"/>
          </a:p>
        </p:txBody>
      </p:sp>
      <p:sp>
        <p:nvSpPr>
          <p:cNvPr id="1447" name="Google Shape;1447;p8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8" name="Google Shape;144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88" y="1718788"/>
            <a:ext cx="1571626" cy="1453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9" name="Google Shape;1449;p84"/>
          <p:cNvGrpSpPr/>
          <p:nvPr/>
        </p:nvGrpSpPr>
        <p:grpSpPr>
          <a:xfrm>
            <a:off x="4188575" y="763975"/>
            <a:ext cx="3169650" cy="1549199"/>
            <a:chOff x="4188575" y="763975"/>
            <a:chExt cx="3169650" cy="1549199"/>
          </a:xfrm>
        </p:grpSpPr>
        <p:grpSp>
          <p:nvGrpSpPr>
            <p:cNvPr id="1450" name="Google Shape;1450;p84"/>
            <p:cNvGrpSpPr/>
            <p:nvPr/>
          </p:nvGrpSpPr>
          <p:grpSpPr>
            <a:xfrm>
              <a:off x="5357825" y="834013"/>
              <a:ext cx="2000400" cy="1479162"/>
              <a:chOff x="5357825" y="834013"/>
              <a:chExt cx="2000400" cy="1479162"/>
            </a:xfrm>
          </p:grpSpPr>
          <p:grpSp>
            <p:nvGrpSpPr>
              <p:cNvPr id="1451" name="Google Shape;1451;p84"/>
              <p:cNvGrpSpPr/>
              <p:nvPr/>
            </p:nvGrpSpPr>
            <p:grpSpPr>
              <a:xfrm>
                <a:off x="6378025" y="834013"/>
                <a:ext cx="980200" cy="1002975"/>
                <a:chOff x="6735900" y="1100200"/>
                <a:chExt cx="980200" cy="1002975"/>
              </a:xfrm>
            </p:grpSpPr>
            <p:sp>
              <p:nvSpPr>
                <p:cNvPr id="1452" name="Google Shape;1452;p84"/>
                <p:cNvSpPr/>
                <p:nvPr/>
              </p:nvSpPr>
              <p:spPr>
                <a:xfrm>
                  <a:off x="6898600" y="1100200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53" name="Google Shape;1453;p84"/>
                <p:cNvSpPr/>
                <p:nvPr/>
              </p:nvSpPr>
              <p:spPr>
                <a:xfrm>
                  <a:off x="6735900" y="1285675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solidFill>
                  <a:schemeClr val="accent4"/>
                </a:solidFill>
                <a:ln cap="flat" cmpd="sng" w="1905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1454" name="Google Shape;1454;p84"/>
              <p:cNvSpPr/>
              <p:nvPr/>
            </p:nvSpPr>
            <p:spPr>
              <a:xfrm rot="-1799865">
                <a:off x="5405197" y="1727643"/>
                <a:ext cx="817856" cy="408463"/>
              </a:xfrm>
              <a:prstGeom prst="leftArrow">
                <a:avLst>
                  <a:gd fmla="val 50000" name="adj1"/>
                  <a:gd fmla="val 50000" name="adj2"/>
                </a:avLst>
              </a:prstGeom>
              <a:noFill/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455" name="Google Shape;1455;p84"/>
            <p:cNvSpPr/>
            <p:nvPr/>
          </p:nvSpPr>
          <p:spPr>
            <a:xfrm>
              <a:off x="4188575" y="763975"/>
              <a:ext cx="1571700" cy="786600"/>
            </a:xfrm>
            <a:prstGeom prst="wedgeRoundRectCallout">
              <a:avLst>
                <a:gd fmla="val 47100" name="adj1"/>
                <a:gd fmla="val 77142" name="adj2"/>
                <a:gd fmla="val 0" name="adj3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Update parameters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6" name="Google Shape;1456;p84"/>
          <p:cNvGrpSpPr/>
          <p:nvPr/>
        </p:nvGrpSpPr>
        <p:grpSpPr>
          <a:xfrm>
            <a:off x="5357969" y="-301887"/>
            <a:ext cx="3714281" cy="5731488"/>
            <a:chOff x="5357969" y="-301887"/>
            <a:chExt cx="3714281" cy="5731488"/>
          </a:xfrm>
        </p:grpSpPr>
        <p:grpSp>
          <p:nvGrpSpPr>
            <p:cNvPr id="1457" name="Google Shape;1457;p84"/>
            <p:cNvGrpSpPr/>
            <p:nvPr/>
          </p:nvGrpSpPr>
          <p:grpSpPr>
            <a:xfrm>
              <a:off x="5357969" y="-301887"/>
              <a:ext cx="2000256" cy="5731488"/>
              <a:chOff x="5357969" y="-301887"/>
              <a:chExt cx="2000256" cy="5731488"/>
            </a:xfrm>
          </p:grpSpPr>
          <p:grpSp>
            <p:nvGrpSpPr>
              <p:cNvPr id="1458" name="Google Shape;1458;p84"/>
              <p:cNvGrpSpPr/>
              <p:nvPr/>
            </p:nvGrpSpPr>
            <p:grpSpPr>
              <a:xfrm>
                <a:off x="6378025" y="1969913"/>
                <a:ext cx="980200" cy="1002975"/>
                <a:chOff x="6898600" y="2481400"/>
                <a:chExt cx="980200" cy="1002975"/>
              </a:xfrm>
            </p:grpSpPr>
            <p:sp>
              <p:nvSpPr>
                <p:cNvPr id="1459" name="Google Shape;1459;p84"/>
                <p:cNvSpPr/>
                <p:nvPr/>
              </p:nvSpPr>
              <p:spPr>
                <a:xfrm>
                  <a:off x="7061300" y="2481400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60" name="Google Shape;1460;p84"/>
                <p:cNvSpPr/>
                <p:nvPr/>
              </p:nvSpPr>
              <p:spPr>
                <a:xfrm>
                  <a:off x="6898600" y="2666875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solidFill>
                  <a:schemeClr val="accent4"/>
                </a:solidFill>
                <a:ln cap="flat" cmpd="sng" w="1905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1461" name="Google Shape;1461;p84"/>
              <p:cNvGrpSpPr/>
              <p:nvPr/>
            </p:nvGrpSpPr>
            <p:grpSpPr>
              <a:xfrm>
                <a:off x="6378025" y="3198263"/>
                <a:ext cx="980200" cy="1002975"/>
                <a:chOff x="6898600" y="2481400"/>
                <a:chExt cx="980200" cy="1002975"/>
              </a:xfrm>
            </p:grpSpPr>
            <p:sp>
              <p:nvSpPr>
                <p:cNvPr id="1462" name="Google Shape;1462;p84"/>
                <p:cNvSpPr/>
                <p:nvPr/>
              </p:nvSpPr>
              <p:spPr>
                <a:xfrm>
                  <a:off x="7061300" y="2481400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63" name="Google Shape;1463;p84"/>
                <p:cNvSpPr/>
                <p:nvPr/>
              </p:nvSpPr>
              <p:spPr>
                <a:xfrm>
                  <a:off x="6898600" y="2666875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solidFill>
                  <a:schemeClr val="accent4"/>
                </a:solidFill>
                <a:ln cap="flat" cmpd="sng" w="19050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sp>
            <p:nvSpPr>
              <p:cNvPr id="1464" name="Google Shape;1464;p84"/>
              <p:cNvSpPr/>
              <p:nvPr/>
            </p:nvSpPr>
            <p:spPr>
              <a:xfrm rot="1261">
                <a:off x="5405222" y="2313323"/>
                <a:ext cx="817800" cy="408600"/>
              </a:xfrm>
              <a:prstGeom prst="leftArrow">
                <a:avLst>
                  <a:gd fmla="val 50000" name="adj1"/>
                  <a:gd fmla="val 50000" name="adj2"/>
                </a:avLst>
              </a:pr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65" name="Google Shape;1465;p84"/>
              <p:cNvSpPr/>
              <p:nvPr/>
            </p:nvSpPr>
            <p:spPr>
              <a:xfrm rot="1801587">
                <a:off x="5405246" y="2899326"/>
                <a:ext cx="817746" cy="408723"/>
              </a:xfrm>
              <a:prstGeom prst="leftArrow">
                <a:avLst>
                  <a:gd fmla="val 50000" name="adj1"/>
                  <a:gd fmla="val 50000" name="adj2"/>
                </a:avLst>
              </a:pr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466" name="Google Shape;1466;p84"/>
              <p:cNvGrpSpPr/>
              <p:nvPr/>
            </p:nvGrpSpPr>
            <p:grpSpPr>
              <a:xfrm>
                <a:off x="6378025" y="4426625"/>
                <a:ext cx="980200" cy="1002975"/>
                <a:chOff x="6898600" y="2481400"/>
                <a:chExt cx="980200" cy="1002975"/>
              </a:xfrm>
            </p:grpSpPr>
            <p:sp>
              <p:nvSpPr>
                <p:cNvPr id="1467" name="Google Shape;1467;p84"/>
                <p:cNvSpPr/>
                <p:nvPr/>
              </p:nvSpPr>
              <p:spPr>
                <a:xfrm>
                  <a:off x="7061300" y="2481400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68" name="Google Shape;1468;p84"/>
                <p:cNvSpPr/>
                <p:nvPr/>
              </p:nvSpPr>
              <p:spPr>
                <a:xfrm>
                  <a:off x="6898600" y="2666875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solidFill>
                  <a:schemeClr val="accent4"/>
                </a:solidFill>
                <a:ln cap="flat" cmpd="sng" w="19050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  <p:grpSp>
            <p:nvGrpSpPr>
              <p:cNvPr id="1469" name="Google Shape;1469;p84"/>
              <p:cNvGrpSpPr/>
              <p:nvPr/>
            </p:nvGrpSpPr>
            <p:grpSpPr>
              <a:xfrm>
                <a:off x="6378025" y="-301887"/>
                <a:ext cx="980200" cy="1002975"/>
                <a:chOff x="6735900" y="1100200"/>
                <a:chExt cx="980200" cy="1002975"/>
              </a:xfrm>
            </p:grpSpPr>
            <p:sp>
              <p:nvSpPr>
                <p:cNvPr id="1470" name="Google Shape;1470;p84"/>
                <p:cNvSpPr/>
                <p:nvPr/>
              </p:nvSpPr>
              <p:spPr>
                <a:xfrm>
                  <a:off x="6898600" y="1100200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noFill/>
                <a:ln cap="flat" cmpd="sng" w="19050">
                  <a:solidFill>
                    <a:schemeClr val="accent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1471" name="Google Shape;1471;p84"/>
                <p:cNvSpPr/>
                <p:nvPr/>
              </p:nvSpPr>
              <p:spPr>
                <a:xfrm>
                  <a:off x="6735900" y="1285675"/>
                  <a:ext cx="817500" cy="817500"/>
                </a:xfrm>
                <a:prstGeom prst="foldedCorner">
                  <a:avLst>
                    <a:gd fmla="val 16667" name="adj"/>
                  </a:avLst>
                </a:prstGeom>
                <a:solidFill>
                  <a:schemeClr val="accent4"/>
                </a:solidFill>
                <a:ln cap="flat" cmpd="sng" w="19050">
                  <a:solidFill>
                    <a:schemeClr val="accent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  <p:sp>
          <p:nvSpPr>
            <p:cNvPr id="1472" name="Google Shape;1472;p84"/>
            <p:cNvSpPr/>
            <p:nvPr/>
          </p:nvSpPr>
          <p:spPr>
            <a:xfrm>
              <a:off x="7394050" y="357800"/>
              <a:ext cx="1678200" cy="953400"/>
            </a:xfrm>
            <a:prstGeom prst="wedgeRoundRectCallout">
              <a:avLst>
                <a:gd fmla="val -46650" name="adj1"/>
                <a:gd fmla="val 73849" name="adj2"/>
                <a:gd fmla="val 0" name="adj3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Read texts in each step.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73" name="Google Shape;1473;p84"/>
          <p:cNvSpPr/>
          <p:nvPr/>
        </p:nvSpPr>
        <p:spPr>
          <a:xfrm>
            <a:off x="7394050" y="2874800"/>
            <a:ext cx="1678200" cy="1754700"/>
          </a:xfrm>
          <a:prstGeom prst="wedgeRoundRectCallout">
            <a:avLst>
              <a:gd fmla="val -56167" name="adj1"/>
              <a:gd fmla="val -21998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The more data, the more efficient learning.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8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Computation</a:t>
            </a:r>
            <a:endParaRPr/>
          </a:p>
        </p:txBody>
      </p:sp>
      <p:sp>
        <p:nvSpPr>
          <p:cNvPr id="1479" name="Google Shape;1479;p85"/>
          <p:cNvSpPr txBox="1"/>
          <p:nvPr>
            <p:ph idx="1" type="body"/>
          </p:nvPr>
        </p:nvSpPr>
        <p:spPr>
          <a:xfrm>
            <a:off x="226075" y="1465800"/>
            <a:ext cx="3067500" cy="3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GPU is good in parallel computation, but it has </a:t>
            </a:r>
            <a:r>
              <a:rPr b="1" lang="en" sz="1800"/>
              <a:t>small  memory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Split</a:t>
            </a:r>
            <a:r>
              <a:rPr lang="en" sz="1800"/>
              <a:t> a single model among </a:t>
            </a:r>
            <a:r>
              <a:rPr b="1" lang="en" sz="1800"/>
              <a:t>multiple GPUs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Copy a model </a:t>
            </a:r>
            <a:r>
              <a:rPr lang="en" sz="1800"/>
              <a:t>to</a:t>
            </a:r>
            <a:r>
              <a:rPr b="1" lang="en" sz="1800"/>
              <a:t> multiple servers</a:t>
            </a:r>
            <a:r>
              <a:rPr lang="en" sz="1800"/>
              <a:t>, and</a:t>
            </a:r>
            <a:r>
              <a:rPr b="1" lang="en" sz="1800"/>
              <a:t> split data </a:t>
            </a:r>
            <a:r>
              <a:rPr lang="en" sz="1800"/>
              <a:t>among</a:t>
            </a:r>
            <a:r>
              <a:rPr b="1" lang="en" sz="1800"/>
              <a:t> those servers.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Bottleneck in transfer</a:t>
            </a:r>
            <a:r>
              <a:rPr lang="en" sz="1800"/>
              <a:t> between GPU and servers.</a:t>
            </a:r>
            <a:endParaRPr b="1" sz="1800"/>
          </a:p>
        </p:txBody>
      </p:sp>
      <p:sp>
        <p:nvSpPr>
          <p:cNvPr id="1480" name="Google Shape;1480;p8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81" name="Google Shape;148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6188" y="1718788"/>
            <a:ext cx="1571626" cy="145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85"/>
          <p:cNvSpPr/>
          <p:nvPr/>
        </p:nvSpPr>
        <p:spPr>
          <a:xfrm>
            <a:off x="3482413" y="1405400"/>
            <a:ext cx="2179200" cy="2080500"/>
          </a:xfrm>
          <a:prstGeom prst="mathPlus">
            <a:avLst>
              <a:gd fmla="val 2459" name="adj1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83" name="Google Shape;1483;p85"/>
          <p:cNvGrpSpPr/>
          <p:nvPr/>
        </p:nvGrpSpPr>
        <p:grpSpPr>
          <a:xfrm>
            <a:off x="3603038" y="1125450"/>
            <a:ext cx="1941387" cy="2595750"/>
            <a:chOff x="3603038" y="1125450"/>
            <a:chExt cx="1941387" cy="2595750"/>
          </a:xfrm>
        </p:grpSpPr>
        <p:grpSp>
          <p:nvGrpSpPr>
            <p:cNvPr id="1484" name="Google Shape;1484;p85"/>
            <p:cNvGrpSpPr/>
            <p:nvPr/>
          </p:nvGrpSpPr>
          <p:grpSpPr>
            <a:xfrm>
              <a:off x="3604200" y="1125450"/>
              <a:ext cx="967800" cy="1308150"/>
              <a:chOff x="3604200" y="1125450"/>
              <a:chExt cx="967800" cy="1308150"/>
            </a:xfrm>
          </p:grpSpPr>
          <p:sp>
            <p:nvSpPr>
              <p:cNvPr id="1485" name="Google Shape;1485;p85"/>
              <p:cNvSpPr/>
              <p:nvPr/>
            </p:nvSpPr>
            <p:spPr>
              <a:xfrm>
                <a:off x="3604200" y="1465800"/>
                <a:ext cx="967800" cy="9678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486" name="Google Shape;1486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04200" y="1125450"/>
                <a:ext cx="548700" cy="548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87" name="Google Shape;1487;p85"/>
            <p:cNvGrpSpPr/>
            <p:nvPr/>
          </p:nvGrpSpPr>
          <p:grpSpPr>
            <a:xfrm>
              <a:off x="4575475" y="1125450"/>
              <a:ext cx="967800" cy="1308150"/>
              <a:chOff x="3604200" y="1125450"/>
              <a:chExt cx="967800" cy="1308150"/>
            </a:xfrm>
          </p:grpSpPr>
          <p:sp>
            <p:nvSpPr>
              <p:cNvPr id="1488" name="Google Shape;1488;p85"/>
              <p:cNvSpPr/>
              <p:nvPr/>
            </p:nvSpPr>
            <p:spPr>
              <a:xfrm>
                <a:off x="3604200" y="1465800"/>
                <a:ext cx="967800" cy="9678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489" name="Google Shape;1489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23300" y="1125450"/>
                <a:ext cx="548700" cy="548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90" name="Google Shape;1490;p85"/>
            <p:cNvGrpSpPr/>
            <p:nvPr/>
          </p:nvGrpSpPr>
          <p:grpSpPr>
            <a:xfrm>
              <a:off x="4574313" y="2433600"/>
              <a:ext cx="970112" cy="1287600"/>
              <a:chOff x="3606513" y="1242800"/>
              <a:chExt cx="970112" cy="1287600"/>
            </a:xfrm>
          </p:grpSpPr>
          <p:sp>
            <p:nvSpPr>
              <p:cNvPr id="1491" name="Google Shape;1491;p85"/>
              <p:cNvSpPr/>
              <p:nvPr/>
            </p:nvSpPr>
            <p:spPr>
              <a:xfrm>
                <a:off x="3606513" y="1242800"/>
                <a:ext cx="967800" cy="9678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492" name="Google Shape;1492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027925" y="1981700"/>
                <a:ext cx="548700" cy="548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93" name="Google Shape;1493;p85"/>
            <p:cNvGrpSpPr/>
            <p:nvPr/>
          </p:nvGrpSpPr>
          <p:grpSpPr>
            <a:xfrm>
              <a:off x="3603038" y="2433600"/>
              <a:ext cx="967800" cy="1287600"/>
              <a:chOff x="3606513" y="1242800"/>
              <a:chExt cx="967800" cy="1287600"/>
            </a:xfrm>
          </p:grpSpPr>
          <p:sp>
            <p:nvSpPr>
              <p:cNvPr id="1494" name="Google Shape;1494;p85"/>
              <p:cNvSpPr/>
              <p:nvPr/>
            </p:nvSpPr>
            <p:spPr>
              <a:xfrm>
                <a:off x="3606513" y="1242800"/>
                <a:ext cx="967800" cy="9678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495" name="Google Shape;1495;p8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607675" y="1981700"/>
                <a:ext cx="548700" cy="548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496" name="Google Shape;1496;p85"/>
          <p:cNvGrpSpPr/>
          <p:nvPr/>
        </p:nvGrpSpPr>
        <p:grpSpPr>
          <a:xfrm>
            <a:off x="3408525" y="737875"/>
            <a:ext cx="2349000" cy="3064800"/>
            <a:chOff x="3408525" y="737875"/>
            <a:chExt cx="2349000" cy="3064800"/>
          </a:xfrm>
        </p:grpSpPr>
        <p:sp>
          <p:nvSpPr>
            <p:cNvPr id="1497" name="Google Shape;1497;p85"/>
            <p:cNvSpPr/>
            <p:nvPr/>
          </p:nvSpPr>
          <p:spPr>
            <a:xfrm>
              <a:off x="3408525" y="1120975"/>
              <a:ext cx="2349000" cy="2681700"/>
            </a:xfrm>
            <a:prstGeom prst="roundRect">
              <a:avLst>
                <a:gd fmla="val 16667" name="adj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8" name="Google Shape;1498;p85"/>
            <p:cNvSpPr txBox="1"/>
            <p:nvPr/>
          </p:nvSpPr>
          <p:spPr>
            <a:xfrm>
              <a:off x="3408525" y="737875"/>
              <a:ext cx="1331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Computer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9" name="Google Shape;1499;p85"/>
          <p:cNvGrpSpPr/>
          <p:nvPr/>
        </p:nvGrpSpPr>
        <p:grpSpPr>
          <a:xfrm>
            <a:off x="3397500" y="-1864325"/>
            <a:ext cx="6778725" cy="8619950"/>
            <a:chOff x="3397500" y="-1864325"/>
            <a:chExt cx="6778725" cy="8619950"/>
          </a:xfrm>
        </p:grpSpPr>
        <p:grpSp>
          <p:nvGrpSpPr>
            <p:cNvPr id="1500" name="Google Shape;1500;p85"/>
            <p:cNvGrpSpPr/>
            <p:nvPr/>
          </p:nvGrpSpPr>
          <p:grpSpPr>
            <a:xfrm>
              <a:off x="7827225" y="4073925"/>
              <a:ext cx="2349000" cy="2681700"/>
              <a:chOff x="6572025" y="1898250"/>
              <a:chExt cx="2349000" cy="2681700"/>
            </a:xfrm>
          </p:grpSpPr>
          <p:pic>
            <p:nvPicPr>
              <p:cNvPr id="1501" name="Google Shape;1501;p8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49688" y="2496063"/>
                <a:ext cx="1571626" cy="1453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2" name="Google Shape;1502;p85"/>
              <p:cNvSpPr/>
              <p:nvPr/>
            </p:nvSpPr>
            <p:spPr>
              <a:xfrm>
                <a:off x="6645913" y="2182675"/>
                <a:ext cx="2179200" cy="2080500"/>
              </a:xfrm>
              <a:prstGeom prst="mathPlus">
                <a:avLst>
                  <a:gd fmla="val 2459" name="adj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03" name="Google Shape;1503;p85"/>
              <p:cNvGrpSpPr/>
              <p:nvPr/>
            </p:nvGrpSpPr>
            <p:grpSpPr>
              <a:xfrm>
                <a:off x="6766538" y="1902725"/>
                <a:ext cx="1941387" cy="2595750"/>
                <a:chOff x="3603038" y="1125450"/>
                <a:chExt cx="1941387" cy="2595750"/>
              </a:xfrm>
            </p:grpSpPr>
            <p:grpSp>
              <p:nvGrpSpPr>
                <p:cNvPr id="1504" name="Google Shape;1504;p85"/>
                <p:cNvGrpSpPr/>
                <p:nvPr/>
              </p:nvGrpSpPr>
              <p:grpSpPr>
                <a:xfrm>
                  <a:off x="3604200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05" name="Google Shape;1505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06" name="Google Shape;1506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42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07" name="Google Shape;1507;p85"/>
                <p:cNvGrpSpPr/>
                <p:nvPr/>
              </p:nvGrpSpPr>
              <p:grpSpPr>
                <a:xfrm>
                  <a:off x="4575475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08" name="Google Shape;1508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09" name="Google Shape;1509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33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10" name="Google Shape;1510;p85"/>
                <p:cNvGrpSpPr/>
                <p:nvPr/>
              </p:nvGrpSpPr>
              <p:grpSpPr>
                <a:xfrm>
                  <a:off x="4574313" y="2433600"/>
                  <a:ext cx="970112" cy="1287600"/>
                  <a:chOff x="3606513" y="1242800"/>
                  <a:chExt cx="970112" cy="1287600"/>
                </a:xfrm>
              </p:grpSpPr>
              <p:sp>
                <p:nvSpPr>
                  <p:cNvPr id="1511" name="Google Shape;1511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12" name="Google Shape;1512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792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13" name="Google Shape;1513;p85"/>
                <p:cNvGrpSpPr/>
                <p:nvPr/>
              </p:nvGrpSpPr>
              <p:grpSpPr>
                <a:xfrm>
                  <a:off x="3603038" y="2433600"/>
                  <a:ext cx="967800" cy="1287600"/>
                  <a:chOff x="3606513" y="1242800"/>
                  <a:chExt cx="967800" cy="1287600"/>
                </a:xfrm>
              </p:grpSpPr>
              <p:sp>
                <p:nvSpPr>
                  <p:cNvPr id="1514" name="Google Shape;1514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15" name="Google Shape;1515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767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516" name="Google Shape;1516;p85"/>
              <p:cNvSpPr/>
              <p:nvPr/>
            </p:nvSpPr>
            <p:spPr>
              <a:xfrm>
                <a:off x="6572025" y="1898250"/>
                <a:ext cx="2349000" cy="2681700"/>
              </a:xfrm>
              <a:prstGeom prst="roundRect">
                <a:avLst>
                  <a:gd fmla="val 16667" name="adj"/>
                </a:avLst>
              </a:prstGeom>
              <a:solidFill>
                <a:srgbClr val="0277BD">
                  <a:alpha val="19620"/>
                </a:srgbClr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17" name="Google Shape;1517;p85"/>
            <p:cNvGrpSpPr/>
            <p:nvPr/>
          </p:nvGrpSpPr>
          <p:grpSpPr>
            <a:xfrm>
              <a:off x="7827225" y="1104800"/>
              <a:ext cx="2349000" cy="2681700"/>
              <a:chOff x="6572025" y="1898250"/>
              <a:chExt cx="2349000" cy="2681700"/>
            </a:xfrm>
          </p:grpSpPr>
          <p:pic>
            <p:nvPicPr>
              <p:cNvPr id="1518" name="Google Shape;1518;p8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49688" y="2496063"/>
                <a:ext cx="1571626" cy="1453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9" name="Google Shape;1519;p85"/>
              <p:cNvSpPr/>
              <p:nvPr/>
            </p:nvSpPr>
            <p:spPr>
              <a:xfrm>
                <a:off x="6645913" y="2182675"/>
                <a:ext cx="2179200" cy="2080500"/>
              </a:xfrm>
              <a:prstGeom prst="mathPlus">
                <a:avLst>
                  <a:gd fmla="val 2459" name="adj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20" name="Google Shape;1520;p85"/>
              <p:cNvGrpSpPr/>
              <p:nvPr/>
            </p:nvGrpSpPr>
            <p:grpSpPr>
              <a:xfrm>
                <a:off x="6766538" y="1902725"/>
                <a:ext cx="1941387" cy="2595750"/>
                <a:chOff x="3603038" y="1125450"/>
                <a:chExt cx="1941387" cy="2595750"/>
              </a:xfrm>
            </p:grpSpPr>
            <p:grpSp>
              <p:nvGrpSpPr>
                <p:cNvPr id="1521" name="Google Shape;1521;p85"/>
                <p:cNvGrpSpPr/>
                <p:nvPr/>
              </p:nvGrpSpPr>
              <p:grpSpPr>
                <a:xfrm>
                  <a:off x="3604200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22" name="Google Shape;1522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23" name="Google Shape;1523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42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24" name="Google Shape;1524;p85"/>
                <p:cNvGrpSpPr/>
                <p:nvPr/>
              </p:nvGrpSpPr>
              <p:grpSpPr>
                <a:xfrm>
                  <a:off x="4575475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25" name="Google Shape;1525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26" name="Google Shape;1526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33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27" name="Google Shape;1527;p85"/>
                <p:cNvGrpSpPr/>
                <p:nvPr/>
              </p:nvGrpSpPr>
              <p:grpSpPr>
                <a:xfrm>
                  <a:off x="4574313" y="2433600"/>
                  <a:ext cx="970112" cy="1287600"/>
                  <a:chOff x="3606513" y="1242800"/>
                  <a:chExt cx="970112" cy="1287600"/>
                </a:xfrm>
              </p:grpSpPr>
              <p:sp>
                <p:nvSpPr>
                  <p:cNvPr id="1528" name="Google Shape;1528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29" name="Google Shape;1529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792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30" name="Google Shape;1530;p85"/>
                <p:cNvGrpSpPr/>
                <p:nvPr/>
              </p:nvGrpSpPr>
              <p:grpSpPr>
                <a:xfrm>
                  <a:off x="3603038" y="2433600"/>
                  <a:ext cx="967800" cy="1287600"/>
                  <a:chOff x="3606513" y="1242800"/>
                  <a:chExt cx="967800" cy="1287600"/>
                </a:xfrm>
              </p:grpSpPr>
              <p:sp>
                <p:nvSpPr>
                  <p:cNvPr id="1531" name="Google Shape;1531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32" name="Google Shape;1532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767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533" name="Google Shape;1533;p85"/>
              <p:cNvSpPr/>
              <p:nvPr/>
            </p:nvSpPr>
            <p:spPr>
              <a:xfrm>
                <a:off x="6572025" y="1898250"/>
                <a:ext cx="2349000" cy="2681700"/>
              </a:xfrm>
              <a:prstGeom prst="roundRect">
                <a:avLst>
                  <a:gd fmla="val 16667" name="adj"/>
                </a:avLst>
              </a:prstGeom>
              <a:solidFill>
                <a:srgbClr val="0277BD">
                  <a:alpha val="19620"/>
                </a:srgbClr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34" name="Google Shape;1534;p85"/>
            <p:cNvGrpSpPr/>
            <p:nvPr/>
          </p:nvGrpSpPr>
          <p:grpSpPr>
            <a:xfrm>
              <a:off x="3408525" y="4073925"/>
              <a:ext cx="2349000" cy="2681700"/>
              <a:chOff x="6572025" y="1898250"/>
              <a:chExt cx="2349000" cy="2681700"/>
            </a:xfrm>
          </p:grpSpPr>
          <p:pic>
            <p:nvPicPr>
              <p:cNvPr id="1535" name="Google Shape;1535;p8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49688" y="2496063"/>
                <a:ext cx="1571626" cy="1453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6" name="Google Shape;1536;p85"/>
              <p:cNvSpPr/>
              <p:nvPr/>
            </p:nvSpPr>
            <p:spPr>
              <a:xfrm>
                <a:off x="6645913" y="2182675"/>
                <a:ext cx="2179200" cy="2080500"/>
              </a:xfrm>
              <a:prstGeom prst="mathPlus">
                <a:avLst>
                  <a:gd fmla="val 2459" name="adj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37" name="Google Shape;1537;p85"/>
              <p:cNvGrpSpPr/>
              <p:nvPr/>
            </p:nvGrpSpPr>
            <p:grpSpPr>
              <a:xfrm>
                <a:off x="6766538" y="1902725"/>
                <a:ext cx="1941387" cy="2595750"/>
                <a:chOff x="3603038" y="1125450"/>
                <a:chExt cx="1941387" cy="2595750"/>
              </a:xfrm>
            </p:grpSpPr>
            <p:grpSp>
              <p:nvGrpSpPr>
                <p:cNvPr id="1538" name="Google Shape;1538;p85"/>
                <p:cNvGrpSpPr/>
                <p:nvPr/>
              </p:nvGrpSpPr>
              <p:grpSpPr>
                <a:xfrm>
                  <a:off x="3604200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39" name="Google Shape;1539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40" name="Google Shape;1540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42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1" name="Google Shape;1541;p85"/>
                <p:cNvGrpSpPr/>
                <p:nvPr/>
              </p:nvGrpSpPr>
              <p:grpSpPr>
                <a:xfrm>
                  <a:off x="4575475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42" name="Google Shape;1542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43" name="Google Shape;1543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33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4" name="Google Shape;1544;p85"/>
                <p:cNvGrpSpPr/>
                <p:nvPr/>
              </p:nvGrpSpPr>
              <p:grpSpPr>
                <a:xfrm>
                  <a:off x="4574313" y="2433600"/>
                  <a:ext cx="970112" cy="1287600"/>
                  <a:chOff x="3606513" y="1242800"/>
                  <a:chExt cx="970112" cy="1287600"/>
                </a:xfrm>
              </p:grpSpPr>
              <p:sp>
                <p:nvSpPr>
                  <p:cNvPr id="1545" name="Google Shape;1545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46" name="Google Shape;1546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792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47" name="Google Shape;1547;p85"/>
                <p:cNvGrpSpPr/>
                <p:nvPr/>
              </p:nvGrpSpPr>
              <p:grpSpPr>
                <a:xfrm>
                  <a:off x="3603038" y="2433600"/>
                  <a:ext cx="967800" cy="1287600"/>
                  <a:chOff x="3606513" y="1242800"/>
                  <a:chExt cx="967800" cy="1287600"/>
                </a:xfrm>
              </p:grpSpPr>
              <p:sp>
                <p:nvSpPr>
                  <p:cNvPr id="1548" name="Google Shape;1548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49" name="Google Shape;1549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767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550" name="Google Shape;1550;p85"/>
              <p:cNvSpPr/>
              <p:nvPr/>
            </p:nvSpPr>
            <p:spPr>
              <a:xfrm>
                <a:off x="6572025" y="1898250"/>
                <a:ext cx="2349000" cy="2681700"/>
              </a:xfrm>
              <a:prstGeom prst="roundRect">
                <a:avLst>
                  <a:gd fmla="val 16667" name="adj"/>
                </a:avLst>
              </a:prstGeom>
              <a:solidFill>
                <a:srgbClr val="0277BD">
                  <a:alpha val="19620"/>
                </a:srgbClr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51" name="Google Shape;1551;p85"/>
            <p:cNvGrpSpPr/>
            <p:nvPr/>
          </p:nvGrpSpPr>
          <p:grpSpPr>
            <a:xfrm>
              <a:off x="7827225" y="-1864325"/>
              <a:ext cx="2349000" cy="2681700"/>
              <a:chOff x="6572025" y="1898250"/>
              <a:chExt cx="2349000" cy="2681700"/>
            </a:xfrm>
          </p:grpSpPr>
          <p:pic>
            <p:nvPicPr>
              <p:cNvPr id="1552" name="Google Shape;1552;p8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49688" y="2496063"/>
                <a:ext cx="1571626" cy="1453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3" name="Google Shape;1553;p85"/>
              <p:cNvSpPr/>
              <p:nvPr/>
            </p:nvSpPr>
            <p:spPr>
              <a:xfrm>
                <a:off x="6645913" y="2182675"/>
                <a:ext cx="2179200" cy="2080500"/>
              </a:xfrm>
              <a:prstGeom prst="mathPlus">
                <a:avLst>
                  <a:gd fmla="val 2459" name="adj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54" name="Google Shape;1554;p85"/>
              <p:cNvGrpSpPr/>
              <p:nvPr/>
            </p:nvGrpSpPr>
            <p:grpSpPr>
              <a:xfrm>
                <a:off x="6766538" y="1902725"/>
                <a:ext cx="1941387" cy="2595750"/>
                <a:chOff x="3603038" y="1125450"/>
                <a:chExt cx="1941387" cy="2595750"/>
              </a:xfrm>
            </p:grpSpPr>
            <p:grpSp>
              <p:nvGrpSpPr>
                <p:cNvPr id="1555" name="Google Shape;1555;p85"/>
                <p:cNvGrpSpPr/>
                <p:nvPr/>
              </p:nvGrpSpPr>
              <p:grpSpPr>
                <a:xfrm>
                  <a:off x="3604200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56" name="Google Shape;1556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57" name="Google Shape;1557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42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58" name="Google Shape;1558;p85"/>
                <p:cNvGrpSpPr/>
                <p:nvPr/>
              </p:nvGrpSpPr>
              <p:grpSpPr>
                <a:xfrm>
                  <a:off x="4575475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59" name="Google Shape;1559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60" name="Google Shape;1560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33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61" name="Google Shape;1561;p85"/>
                <p:cNvGrpSpPr/>
                <p:nvPr/>
              </p:nvGrpSpPr>
              <p:grpSpPr>
                <a:xfrm>
                  <a:off x="4574313" y="2433600"/>
                  <a:ext cx="970112" cy="1287600"/>
                  <a:chOff x="3606513" y="1242800"/>
                  <a:chExt cx="970112" cy="1287600"/>
                </a:xfrm>
              </p:grpSpPr>
              <p:sp>
                <p:nvSpPr>
                  <p:cNvPr id="1562" name="Google Shape;1562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63" name="Google Shape;1563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792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64" name="Google Shape;1564;p85"/>
                <p:cNvGrpSpPr/>
                <p:nvPr/>
              </p:nvGrpSpPr>
              <p:grpSpPr>
                <a:xfrm>
                  <a:off x="3603038" y="2433600"/>
                  <a:ext cx="967800" cy="1287600"/>
                  <a:chOff x="3606513" y="1242800"/>
                  <a:chExt cx="967800" cy="1287600"/>
                </a:xfrm>
              </p:grpSpPr>
              <p:sp>
                <p:nvSpPr>
                  <p:cNvPr id="1565" name="Google Shape;1565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66" name="Google Shape;1566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767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567" name="Google Shape;1567;p85"/>
              <p:cNvSpPr/>
              <p:nvPr/>
            </p:nvSpPr>
            <p:spPr>
              <a:xfrm>
                <a:off x="6572025" y="1898250"/>
                <a:ext cx="2349000" cy="2681700"/>
              </a:xfrm>
              <a:prstGeom prst="roundRect">
                <a:avLst>
                  <a:gd fmla="val 16667" name="adj"/>
                </a:avLst>
              </a:prstGeom>
              <a:solidFill>
                <a:srgbClr val="0277BD">
                  <a:alpha val="19620"/>
                </a:srgbClr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68" name="Google Shape;1568;p85"/>
            <p:cNvGrpSpPr/>
            <p:nvPr/>
          </p:nvGrpSpPr>
          <p:grpSpPr>
            <a:xfrm>
              <a:off x="3397500" y="-1864325"/>
              <a:ext cx="2349000" cy="2681700"/>
              <a:chOff x="6572025" y="1898250"/>
              <a:chExt cx="2349000" cy="2681700"/>
            </a:xfrm>
          </p:grpSpPr>
          <p:pic>
            <p:nvPicPr>
              <p:cNvPr id="1569" name="Google Shape;1569;p8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949688" y="2496063"/>
                <a:ext cx="1571626" cy="14537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0" name="Google Shape;1570;p85"/>
              <p:cNvSpPr/>
              <p:nvPr/>
            </p:nvSpPr>
            <p:spPr>
              <a:xfrm>
                <a:off x="6645913" y="2182675"/>
                <a:ext cx="2179200" cy="2080500"/>
              </a:xfrm>
              <a:prstGeom prst="mathPlus">
                <a:avLst>
                  <a:gd fmla="val 2459" name="adj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571" name="Google Shape;1571;p85"/>
              <p:cNvGrpSpPr/>
              <p:nvPr/>
            </p:nvGrpSpPr>
            <p:grpSpPr>
              <a:xfrm>
                <a:off x="6766538" y="1902725"/>
                <a:ext cx="1941387" cy="2595750"/>
                <a:chOff x="3603038" y="1125450"/>
                <a:chExt cx="1941387" cy="2595750"/>
              </a:xfrm>
            </p:grpSpPr>
            <p:grpSp>
              <p:nvGrpSpPr>
                <p:cNvPr id="1572" name="Google Shape;1572;p85"/>
                <p:cNvGrpSpPr/>
                <p:nvPr/>
              </p:nvGrpSpPr>
              <p:grpSpPr>
                <a:xfrm>
                  <a:off x="3604200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73" name="Google Shape;1573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74" name="Google Shape;1574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42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75" name="Google Shape;1575;p85"/>
                <p:cNvGrpSpPr/>
                <p:nvPr/>
              </p:nvGrpSpPr>
              <p:grpSpPr>
                <a:xfrm>
                  <a:off x="4575475" y="1125450"/>
                  <a:ext cx="967800" cy="1308150"/>
                  <a:chOff x="3604200" y="1125450"/>
                  <a:chExt cx="967800" cy="1308150"/>
                </a:xfrm>
              </p:grpSpPr>
              <p:sp>
                <p:nvSpPr>
                  <p:cNvPr id="1576" name="Google Shape;1576;p85"/>
                  <p:cNvSpPr/>
                  <p:nvPr/>
                </p:nvSpPr>
                <p:spPr>
                  <a:xfrm>
                    <a:off x="3604200" y="1465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77" name="Google Shape;1577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3300" y="112545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78" name="Google Shape;1578;p85"/>
                <p:cNvGrpSpPr/>
                <p:nvPr/>
              </p:nvGrpSpPr>
              <p:grpSpPr>
                <a:xfrm>
                  <a:off x="4574313" y="2433600"/>
                  <a:ext cx="970112" cy="1287600"/>
                  <a:chOff x="3606513" y="1242800"/>
                  <a:chExt cx="970112" cy="1287600"/>
                </a:xfrm>
              </p:grpSpPr>
              <p:sp>
                <p:nvSpPr>
                  <p:cNvPr id="1579" name="Google Shape;1579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80" name="Google Shape;1580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402792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1581" name="Google Shape;1581;p85"/>
                <p:cNvGrpSpPr/>
                <p:nvPr/>
              </p:nvGrpSpPr>
              <p:grpSpPr>
                <a:xfrm>
                  <a:off x="3603038" y="2433600"/>
                  <a:ext cx="967800" cy="1287600"/>
                  <a:chOff x="3606513" y="1242800"/>
                  <a:chExt cx="967800" cy="1287600"/>
                </a:xfrm>
              </p:grpSpPr>
              <p:sp>
                <p:nvSpPr>
                  <p:cNvPr id="1582" name="Google Shape;1582;p85"/>
                  <p:cNvSpPr/>
                  <p:nvPr/>
                </p:nvSpPr>
                <p:spPr>
                  <a:xfrm>
                    <a:off x="3606513" y="1242800"/>
                    <a:ext cx="967800" cy="9678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Roboto"/>
                      <a:ea typeface="Roboto"/>
                      <a:cs typeface="Roboto"/>
                      <a:sym typeface="Roboto"/>
                    </a:endParaRPr>
                  </a:p>
                </p:txBody>
              </p:sp>
              <p:pic>
                <p:nvPicPr>
                  <p:cNvPr id="1583" name="Google Shape;1583;p85"/>
                  <p:cNvPicPr preferRelativeResize="0"/>
                  <p:nvPr/>
                </p:nvPicPr>
                <p:blipFill>
                  <a:blip r:embed="rId4">
                    <a:alphaModFix/>
                  </a:blip>
                  <a:stretch>
                    <a:fillRect/>
                  </a:stretch>
                </p:blipFill>
                <p:spPr>
                  <a:xfrm>
                    <a:off x="3607675" y="1981700"/>
                    <a:ext cx="5487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584" name="Google Shape;1584;p85"/>
              <p:cNvSpPr/>
              <p:nvPr/>
            </p:nvSpPr>
            <p:spPr>
              <a:xfrm>
                <a:off x="6572025" y="1898250"/>
                <a:ext cx="2349000" cy="2681700"/>
              </a:xfrm>
              <a:prstGeom prst="roundRect">
                <a:avLst>
                  <a:gd fmla="val 16667" name="adj"/>
                </a:avLst>
              </a:prstGeom>
              <a:solidFill>
                <a:srgbClr val="0277BD">
                  <a:alpha val="19620"/>
                </a:srgbClr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85" name="Google Shape;1585;p85"/>
          <p:cNvGrpSpPr/>
          <p:nvPr/>
        </p:nvGrpSpPr>
        <p:grpSpPr>
          <a:xfrm>
            <a:off x="5802850" y="1051336"/>
            <a:ext cx="1957768" cy="2857723"/>
            <a:chOff x="5802850" y="1051336"/>
            <a:chExt cx="1957768" cy="2857723"/>
          </a:xfrm>
        </p:grpSpPr>
        <p:sp>
          <p:nvSpPr>
            <p:cNvPr id="1586" name="Google Shape;1586;p85"/>
            <p:cNvSpPr/>
            <p:nvPr/>
          </p:nvSpPr>
          <p:spPr>
            <a:xfrm>
              <a:off x="6272400" y="2055650"/>
              <a:ext cx="993900" cy="796200"/>
            </a:xfrm>
            <a:prstGeom prst="can">
              <a:avLst>
                <a:gd fmla="val 25000" name="adj"/>
              </a:avLst>
            </a:prstGeom>
            <a:solidFill>
              <a:srgbClr val="0F9D58">
                <a:alpha val="19620"/>
              </a:srgbClr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7" name="Google Shape;1587;p85"/>
            <p:cNvSpPr/>
            <p:nvPr/>
          </p:nvSpPr>
          <p:spPr>
            <a:xfrm>
              <a:off x="5802850" y="2211800"/>
              <a:ext cx="399300" cy="4839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8" name="Google Shape;1588;p85"/>
            <p:cNvSpPr/>
            <p:nvPr/>
          </p:nvSpPr>
          <p:spPr>
            <a:xfrm rot="10800000">
              <a:off x="7336556" y="2211804"/>
              <a:ext cx="399300" cy="483900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9" name="Google Shape;1589;p85"/>
            <p:cNvSpPr/>
            <p:nvPr/>
          </p:nvSpPr>
          <p:spPr>
            <a:xfrm rot="3598982">
              <a:off x="5796445" y="1337559"/>
              <a:ext cx="940318" cy="483851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0" name="Google Shape;1590;p85"/>
            <p:cNvSpPr/>
            <p:nvPr/>
          </p:nvSpPr>
          <p:spPr>
            <a:xfrm rot="7197619">
              <a:off x="6845650" y="1337690"/>
              <a:ext cx="940128" cy="483591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1" name="Google Shape;1591;p85"/>
            <p:cNvSpPr/>
            <p:nvPr/>
          </p:nvSpPr>
          <p:spPr>
            <a:xfrm rot="-7202916">
              <a:off x="6845408" y="3086151"/>
              <a:ext cx="940618" cy="483742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2" name="Google Shape;1592;p85"/>
            <p:cNvSpPr/>
            <p:nvPr/>
          </p:nvSpPr>
          <p:spPr>
            <a:xfrm rot="-3601175">
              <a:off x="5843505" y="3138663"/>
              <a:ext cx="941357" cy="483591"/>
            </a:xfrm>
            <a:prstGeom prst="leftArrow">
              <a:avLst>
                <a:gd fmla="val 50000" name="adj1"/>
                <a:gd fmla="val 50000" name="adj2"/>
              </a:avLst>
            </a:prstGeom>
            <a:solidFill>
              <a:srgbClr val="0F9D58">
                <a:alpha val="196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3" name="Google Shape;1593;p85"/>
          <p:cNvSpPr/>
          <p:nvPr/>
        </p:nvSpPr>
        <p:spPr>
          <a:xfrm>
            <a:off x="5811088" y="4092300"/>
            <a:ext cx="1941300" cy="767700"/>
          </a:xfrm>
          <a:prstGeom prst="wedgeRoundRectCallout">
            <a:avLst>
              <a:gd fmla="val -48634" name="adj1"/>
              <a:gd fmla="val 66774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Copy model parameters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85"/>
          <p:cNvSpPr/>
          <p:nvPr/>
        </p:nvSpPr>
        <p:spPr>
          <a:xfrm>
            <a:off x="5856688" y="147375"/>
            <a:ext cx="1850100" cy="846000"/>
          </a:xfrm>
          <a:prstGeom prst="wedgeRoundRectCallout">
            <a:avLst>
              <a:gd fmla="val -20483" name="adj1"/>
              <a:gd fmla="val 73103" name="adj2"/>
              <a:gd fmla="val 0" name="adj3"/>
            </a:avLst>
          </a:prstGeom>
          <a:solidFill>
            <a:srgbClr val="0F9D58">
              <a:alpha val="1962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Split data for parallel computation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8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LLM: Demands large computation</a:t>
            </a:r>
            <a:endParaRPr/>
          </a:p>
        </p:txBody>
      </p:sp>
      <p:sp>
        <p:nvSpPr>
          <p:cNvPr id="1600" name="Google Shape;1600;p86"/>
          <p:cNvSpPr txBox="1"/>
          <p:nvPr>
            <p:ph idx="1" type="body"/>
          </p:nvPr>
        </p:nvSpPr>
        <p:spPr>
          <a:xfrm>
            <a:off x="471900" y="2000250"/>
            <a:ext cx="82221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00"/>
              <a:t>An example for Llama 3 70B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2000"/>
          </a:p>
        </p:txBody>
      </p:sp>
      <p:sp>
        <p:nvSpPr>
          <p:cNvPr id="1601" name="Google Shape;1601;p8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02" name="Google Shape;1602;p86"/>
          <p:cNvGraphicFramePr/>
          <p:nvPr/>
        </p:nvGraphicFramePr>
        <p:xfrm>
          <a:off x="1893500" y="248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{F72AEB5D-A19D-4A88-B315-D7255EA643D1}</a:tableStyleId>
              </a:tblPr>
              <a:tblGrid>
                <a:gridCol w="2475175"/>
                <a:gridCol w="2475175"/>
              </a:tblGrid>
              <a:tr h="4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 data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15T tokens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GPU hours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64K hours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 of GPUs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24,000 H100 GPUs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Power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700W (per GPU)</a:t>
                      </a:r>
                      <a:endParaRPr sz="18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3" name="Google Shape;1603;p86"/>
          <p:cNvSpPr txBox="1"/>
          <p:nvPr/>
        </p:nvSpPr>
        <p:spPr>
          <a:xfrm>
            <a:off x="4971300" y="4368375"/>
            <a:ext cx="417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https://github.com/meta-llama/llama3/blob/main/MODEL_CARD.md</a:t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https://x.com/jacobaustin132/status/1781361188460241108</a:t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4" name="Google Shape;1604;p86"/>
          <p:cNvSpPr/>
          <p:nvPr/>
        </p:nvSpPr>
        <p:spPr>
          <a:xfrm>
            <a:off x="6955425" y="2050325"/>
            <a:ext cx="1738500" cy="995400"/>
          </a:xfrm>
          <a:prstGeom prst="wedgeRoundRectCallout">
            <a:avLst>
              <a:gd fmla="val -48917" name="adj1"/>
              <a:gd fmla="val 68994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More than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11 days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for ideal condition.</a:t>
            </a:r>
            <a:endParaRPr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5" name="Google Shape;1605;p86"/>
          <p:cNvSpPr/>
          <p:nvPr/>
        </p:nvSpPr>
        <p:spPr>
          <a:xfrm>
            <a:off x="7090975" y="3210063"/>
            <a:ext cx="1981200" cy="1158300"/>
          </a:xfrm>
          <a:prstGeom prst="wedgeRoundRectCallout">
            <a:avLst>
              <a:gd fmla="val -61051" name="adj1"/>
              <a:gd fmla="val 19856" name="adj2"/>
              <a:gd fmla="val 0" name="adj3"/>
            </a:avLst>
          </a:prstGeom>
          <a:solidFill>
            <a:srgbClr val="0277BD">
              <a:alpha val="1962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1,900 tCO2eq =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31 flights</a:t>
            </a:r>
            <a:r>
              <a:rPr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 between </a:t>
            </a:r>
            <a:r>
              <a:rPr b="1" lang="en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NYC and London</a:t>
            </a:r>
            <a:endParaRPr b="1" sz="1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8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</a:t>
            </a:r>
            <a:endParaRPr/>
          </a:p>
        </p:txBody>
      </p:sp>
      <p:sp>
        <p:nvSpPr>
          <p:cNvPr id="1611" name="Google Shape;1611;p87"/>
          <p:cNvSpPr txBox="1"/>
          <p:nvPr>
            <p:ph idx="1" type="body"/>
          </p:nvPr>
        </p:nvSpPr>
        <p:spPr>
          <a:xfrm>
            <a:off x="226075" y="1465800"/>
            <a:ext cx="30375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Relation of model performance, the number of parameters and data scale.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Bigger the better!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need large resources: 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Llama 3 70B (6.4M GPU)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How to improve the efficiency?</a:t>
            </a:r>
            <a:endParaRPr sz="1800"/>
          </a:p>
        </p:txBody>
      </p:sp>
      <p:sp>
        <p:nvSpPr>
          <p:cNvPr id="1612" name="Google Shape;1612;p8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3" name="Google Shape;1613;p87"/>
          <p:cNvSpPr txBox="1"/>
          <p:nvPr/>
        </p:nvSpPr>
        <p:spPr>
          <a:xfrm>
            <a:off x="4030800" y="4723075"/>
            <a:ext cx="475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https://arxiv.org/abs/2203.15556</a:t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14" name="Google Shape;1614;p87"/>
          <p:cNvGrpSpPr/>
          <p:nvPr/>
        </p:nvGrpSpPr>
        <p:grpSpPr>
          <a:xfrm>
            <a:off x="3491050" y="219800"/>
            <a:ext cx="5032500" cy="2350250"/>
            <a:chOff x="3491050" y="219800"/>
            <a:chExt cx="5032500" cy="2350250"/>
          </a:xfrm>
        </p:grpSpPr>
        <p:pic>
          <p:nvPicPr>
            <p:cNvPr id="1615" name="Google Shape;1615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91050" y="431913"/>
              <a:ext cx="2790599" cy="21381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6" name="Google Shape;1616;p87"/>
            <p:cNvSpPr/>
            <p:nvPr/>
          </p:nvSpPr>
          <p:spPr>
            <a:xfrm>
              <a:off x="6468550" y="219800"/>
              <a:ext cx="2055000" cy="683400"/>
            </a:xfrm>
            <a:prstGeom prst="wedgeRoundRectCallout">
              <a:avLst>
                <a:gd fmla="val -56052" name="adj1"/>
                <a:gd fmla="val 25850" name="adj2"/>
                <a:gd fmla="val 0" name="adj3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Compute and performance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17" name="Google Shape;1617;p87"/>
          <p:cNvGrpSpPr/>
          <p:nvPr/>
        </p:nvGrpSpPr>
        <p:grpSpPr>
          <a:xfrm>
            <a:off x="3491050" y="1935750"/>
            <a:ext cx="4130275" cy="2775825"/>
            <a:chOff x="3491050" y="1935750"/>
            <a:chExt cx="4130275" cy="2775825"/>
          </a:xfrm>
        </p:grpSpPr>
        <p:pic>
          <p:nvPicPr>
            <p:cNvPr id="1618" name="Google Shape;1618;p8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91050" y="2570051"/>
              <a:ext cx="2790605" cy="2141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9" name="Google Shape;1619;p87"/>
            <p:cNvSpPr/>
            <p:nvPr/>
          </p:nvSpPr>
          <p:spPr>
            <a:xfrm>
              <a:off x="5981525" y="1935750"/>
              <a:ext cx="1639800" cy="774600"/>
            </a:xfrm>
            <a:prstGeom prst="wedgeRoundRectCallout">
              <a:avLst>
                <a:gd fmla="val -41907" name="adj1"/>
                <a:gd fmla="val 70263" name="adj2"/>
                <a:gd fmla="val 0" name="adj3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Compute and parameters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20" name="Google Shape;1620;p87"/>
          <p:cNvGrpSpPr/>
          <p:nvPr/>
        </p:nvGrpSpPr>
        <p:grpSpPr>
          <a:xfrm>
            <a:off x="6281649" y="1252350"/>
            <a:ext cx="2790601" cy="3459228"/>
            <a:chOff x="6281649" y="1252350"/>
            <a:chExt cx="2790601" cy="3459228"/>
          </a:xfrm>
        </p:grpSpPr>
        <p:pic>
          <p:nvPicPr>
            <p:cNvPr id="1621" name="Google Shape;1621;p8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81649" y="2570050"/>
              <a:ext cx="2790601" cy="2141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2" name="Google Shape;1622;p87"/>
            <p:cNvSpPr/>
            <p:nvPr/>
          </p:nvSpPr>
          <p:spPr>
            <a:xfrm>
              <a:off x="7379075" y="1252350"/>
              <a:ext cx="1639800" cy="683400"/>
            </a:xfrm>
            <a:prstGeom prst="wedgeRoundRectCallout">
              <a:avLst>
                <a:gd fmla="val 18787" name="adj1"/>
                <a:gd fmla="val 92161" name="adj2"/>
                <a:gd fmla="val 0" name="adj3"/>
              </a:avLst>
            </a:prstGeom>
            <a:solidFill>
              <a:srgbClr val="0277BD">
                <a:alpha val="19620"/>
              </a:srgbClr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1"/>
                  </a:solidFill>
                  <a:latin typeface="Roboto"/>
                  <a:ea typeface="Roboto"/>
                  <a:cs typeface="Roboto"/>
                  <a:sym typeface="Roboto"/>
                </a:rPr>
                <a:t>Compute and data</a:t>
              </a:r>
              <a:endParaRPr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88"/>
          <p:cNvSpPr txBox="1"/>
          <p:nvPr>
            <p:ph type="title"/>
          </p:nvPr>
        </p:nvSpPr>
        <p:spPr>
          <a:xfrm>
            <a:off x="226075" y="357800"/>
            <a:ext cx="30366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Outage</a:t>
            </a:r>
            <a:endParaRPr/>
          </a:p>
        </p:txBody>
      </p:sp>
      <p:sp>
        <p:nvSpPr>
          <p:cNvPr id="1628" name="Google Shape;1628;p88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are running out of training data.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Quantity to quality?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Exploit AI generated data?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Transfer from different modalities?</a:t>
            </a:r>
            <a:endParaRPr sz="1800"/>
          </a:p>
        </p:txBody>
      </p:sp>
      <p:sp>
        <p:nvSpPr>
          <p:cNvPr id="1629" name="Google Shape;1629;p8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0" name="Google Shape;163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650" y="835987"/>
            <a:ext cx="5711600" cy="347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1" name="Google Shape;1631;p88"/>
          <p:cNvSpPr txBox="1"/>
          <p:nvPr/>
        </p:nvSpPr>
        <p:spPr>
          <a:xfrm>
            <a:off x="5025550" y="4307525"/>
            <a:ext cx="404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https://arxiv.org/abs/2211.04325</a:t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89"/>
          <p:cNvSpPr txBox="1"/>
          <p:nvPr>
            <p:ph type="title"/>
          </p:nvPr>
        </p:nvSpPr>
        <p:spPr>
          <a:xfrm>
            <a:off x="226075" y="357800"/>
            <a:ext cx="30363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proliferation</a:t>
            </a:r>
            <a:endParaRPr/>
          </a:p>
        </p:txBody>
      </p:sp>
      <p:sp>
        <p:nvSpPr>
          <p:cNvPr id="1637" name="Google Shape;1637;p89"/>
          <p:cNvSpPr txBox="1"/>
          <p:nvPr>
            <p:ph idx="1" type="body"/>
          </p:nvPr>
        </p:nvSpPr>
        <p:spPr>
          <a:xfrm>
            <a:off x="226075" y="1465800"/>
            <a:ext cx="3036300" cy="3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Spread of </a:t>
            </a:r>
            <a:r>
              <a:rPr b="1" lang="en" sz="1800"/>
              <a:t>artificially created articles</a:t>
            </a:r>
            <a:r>
              <a:rPr lang="en" sz="1800"/>
              <a:t> after ChatGPT.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50% are created by AI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Hanley and Durumeric, 2024</a:t>
            </a:r>
            <a:r>
              <a:rPr lang="en" sz="1800"/>
              <a:t>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It is hard to differentiate them  (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Puccetti et al., 2024</a:t>
            </a:r>
            <a:r>
              <a:rPr lang="en" sz="1800"/>
              <a:t>)</a:t>
            </a:r>
            <a:endParaRPr sz="1800"/>
          </a:p>
        </p:txBody>
      </p:sp>
      <p:sp>
        <p:nvSpPr>
          <p:cNvPr id="1638" name="Google Shape;1638;p8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9" name="Google Shape;163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1650" y="1031938"/>
            <a:ext cx="5690609" cy="3079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89"/>
          <p:cNvSpPr txBox="1"/>
          <p:nvPr/>
        </p:nvSpPr>
        <p:spPr>
          <a:xfrm>
            <a:off x="4327150" y="4111550"/>
            <a:ext cx="474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https://ojs.aaai.org/index.php/ICWSM/article/view/31333</a:t>
            </a:r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90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to human languages</a:t>
            </a:r>
            <a:endParaRPr/>
          </a:p>
        </p:txBody>
      </p:sp>
      <p:sp>
        <p:nvSpPr>
          <p:cNvPr id="1646" name="Google Shape;1646;p90"/>
          <p:cNvSpPr txBox="1"/>
          <p:nvPr>
            <p:ph idx="1" type="body"/>
          </p:nvPr>
        </p:nvSpPr>
        <p:spPr>
          <a:xfrm>
            <a:off x="226075" y="1465800"/>
            <a:ext cx="3062700" cy="3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ChatGPT has an impact to how human use languages.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YouTube data clearly shows “</a:t>
            </a:r>
            <a:r>
              <a:rPr b="1" lang="en" sz="1800"/>
              <a:t>delve</a:t>
            </a:r>
            <a:r>
              <a:rPr lang="en" sz="1800"/>
              <a:t>” appearing after the launch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Yakura et al., 2024</a:t>
            </a:r>
            <a:r>
              <a:rPr lang="en" sz="1800"/>
              <a:t>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Impact to </a:t>
            </a:r>
            <a:r>
              <a:rPr b="1" lang="en" sz="1800"/>
              <a:t>appearing or disappearing</a:t>
            </a:r>
            <a:r>
              <a:rPr lang="en" sz="1800"/>
              <a:t> expressions.</a:t>
            </a:r>
            <a:endParaRPr sz="1800"/>
          </a:p>
        </p:txBody>
      </p:sp>
      <p:pic>
        <p:nvPicPr>
          <p:cNvPr id="1647" name="Google Shape;164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225" y="461738"/>
            <a:ext cx="3462401" cy="4220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9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9" name="Google Shape;1649;p90"/>
          <p:cNvSpPr txBox="1"/>
          <p:nvPr/>
        </p:nvSpPr>
        <p:spPr>
          <a:xfrm>
            <a:off x="5025550" y="4567150"/>
            <a:ext cx="404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1A237E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https://arxiv.org/abs/2409.01754</a:t>
            </a:r>
            <a:endParaRPr sz="1000">
              <a:solidFill>
                <a:srgbClr val="7373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9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655" name="Google Shape;1655;p9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9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Reading List</a:t>
            </a:r>
            <a:endParaRPr/>
          </a:p>
        </p:txBody>
      </p:sp>
      <p:sp>
        <p:nvSpPr>
          <p:cNvPr id="1661" name="Google Shape;1661;p92"/>
          <p:cNvSpPr txBox="1"/>
          <p:nvPr>
            <p:ph idx="1" type="body"/>
          </p:nvPr>
        </p:nvSpPr>
        <p:spPr>
          <a:xfrm>
            <a:off x="471900" y="1919075"/>
            <a:ext cx="82221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Neubig (2017), “Neural Machine Translation and Sequence-to-Sequence Models: A Tutorial”</a:t>
            </a:r>
            <a:r>
              <a:rPr lang="en" sz="2000"/>
              <a:t> (Section 3-6)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Goldberg (2016), “A Primer on NN Models for NLP”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Others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u="sng">
                <a:solidFill>
                  <a:schemeClr val="hlink"/>
                </a:solidFill>
                <a:hlinkClick r:id="rId5"/>
              </a:rPr>
              <a:t>Chen and Goodman (1998), “An Empirical Study of Smoothing Techniques for Language Modeling”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 u="sng">
                <a:solidFill>
                  <a:schemeClr val="hlink"/>
                </a:solidFill>
                <a:hlinkClick r:id="rId6"/>
              </a:rPr>
              <a:t>Brown et al. (1992), “An Estimate of an Upper Bound for the Entropy of English</a:t>
            </a:r>
            <a:r>
              <a:rPr lang="en" sz="2000"/>
              <a:t>”</a:t>
            </a:r>
            <a:endParaRPr sz="2000"/>
          </a:p>
        </p:txBody>
      </p:sp>
      <p:sp>
        <p:nvSpPr>
          <p:cNvPr id="1662" name="Google Shape;1662;p9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9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</a:t>
            </a:r>
            <a:endParaRPr/>
          </a:p>
        </p:txBody>
      </p:sp>
      <p:sp>
        <p:nvSpPr>
          <p:cNvPr id="1668" name="Google Shape;1668;p93"/>
          <p:cNvSpPr txBox="1"/>
          <p:nvPr>
            <p:ph idx="1" type="body"/>
          </p:nvPr>
        </p:nvSpPr>
        <p:spPr>
          <a:xfrm>
            <a:off x="471900" y="1919075"/>
            <a:ext cx="8222100" cy="31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Identify a language of a text by</a:t>
            </a:r>
            <a:r>
              <a:rPr lang="en" sz="2000"/>
              <a:t> a byte-wise language model.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Access the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Colab notebook</a:t>
            </a:r>
            <a:r>
              <a:rPr lang="en" sz="2000"/>
              <a:t>, tweak the code, run experiments, write answers and print it out as a </a:t>
            </a:r>
            <a:r>
              <a:rPr b="1" lang="en" sz="2000"/>
              <a:t>PDF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Submit the </a:t>
            </a:r>
            <a:r>
              <a:rPr b="1" lang="en" sz="2000"/>
              <a:t>PDF</a:t>
            </a:r>
            <a:r>
              <a:rPr lang="en" sz="2000"/>
              <a:t> to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https://edu-portal.naist.jp/</a:t>
            </a:r>
            <a:r>
              <a:rPr lang="en" sz="2000"/>
              <a:t>. We </a:t>
            </a:r>
            <a:r>
              <a:rPr b="1" lang="en" sz="2000"/>
              <a:t>do not accept other formats</a:t>
            </a:r>
            <a:r>
              <a:rPr lang="en" sz="2000"/>
              <a:t>. Due by </a:t>
            </a:r>
            <a:r>
              <a:rPr b="1" lang="en" sz="2000"/>
              <a:t>December</a:t>
            </a:r>
            <a:r>
              <a:rPr b="1" lang="en" sz="2000"/>
              <a:t> 19th 2025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Assessment is based on your codes and results.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Fixing a bug + report the language of </a:t>
            </a:r>
            <a:r>
              <a:rPr b="1" lang="en" sz="2000"/>
              <a:t>unk.test</a:t>
            </a:r>
            <a:r>
              <a:rPr lang="en" sz="2000"/>
              <a:t> file.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Please find the details in the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colab</a:t>
            </a:r>
            <a:r>
              <a:rPr lang="en" sz="2000"/>
              <a:t>.</a:t>
            </a:r>
            <a:endParaRPr sz="2000"/>
          </a:p>
        </p:txBody>
      </p:sp>
      <p:sp>
        <p:nvSpPr>
          <p:cNvPr id="1669" name="Google Shape;1669;p9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94" title="Screenshot 2025-11-16 at 9.11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325" y="108599"/>
            <a:ext cx="4587576" cy="315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9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to Drive</a:t>
            </a:r>
            <a:endParaRPr/>
          </a:p>
        </p:txBody>
      </p:sp>
      <p:sp>
        <p:nvSpPr>
          <p:cNvPr id="1676" name="Google Shape;1676;p94"/>
          <p:cNvSpPr txBox="1"/>
          <p:nvPr>
            <p:ph idx="1" type="body"/>
          </p:nvPr>
        </p:nvSpPr>
        <p:spPr>
          <a:xfrm>
            <a:off x="226075" y="1465800"/>
            <a:ext cx="2808000" cy="362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do not have write permission to the notebook.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Copy to Drive</a:t>
            </a:r>
            <a:r>
              <a:rPr lang="en" sz="1800"/>
              <a:t> to keep a copy in your drive.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need to sign in using your </a:t>
            </a:r>
            <a:r>
              <a:rPr b="1" lang="en" sz="1800"/>
              <a:t>Google Workspace account issued by NAIST</a:t>
            </a:r>
            <a:r>
              <a:rPr lang="en" sz="1800"/>
              <a:t>.</a:t>
            </a:r>
            <a:endParaRPr sz="1800"/>
          </a:p>
        </p:txBody>
      </p:sp>
      <p:sp>
        <p:nvSpPr>
          <p:cNvPr id="1677" name="Google Shape;1677;p9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8" name="Google Shape;1678;p94"/>
          <p:cNvSpPr/>
          <p:nvPr/>
        </p:nvSpPr>
        <p:spPr>
          <a:xfrm>
            <a:off x="6005601" y="1055469"/>
            <a:ext cx="1534850" cy="689350"/>
          </a:xfrm>
          <a:custGeom>
            <a:rect b="b" l="l" r="r" t="t"/>
            <a:pathLst>
              <a:path extrusionOk="0" h="27574" w="61394">
                <a:moveTo>
                  <a:pt x="27959" y="25011"/>
                </a:moveTo>
                <a:cubicBezTo>
                  <a:pt x="18033" y="25011"/>
                  <a:pt x="-959" y="24261"/>
                  <a:pt x="137" y="14395"/>
                </a:cubicBezTo>
                <a:cubicBezTo>
                  <a:pt x="657" y="9715"/>
                  <a:pt x="8072" y="9306"/>
                  <a:pt x="12218" y="7073"/>
                </a:cubicBezTo>
                <a:cubicBezTo>
                  <a:pt x="21658" y="1989"/>
                  <a:pt x="32984" y="790"/>
                  <a:pt x="43701" y="484"/>
                </a:cubicBezTo>
                <a:cubicBezTo>
                  <a:pt x="49224" y="326"/>
                  <a:pt x="55861" y="-1138"/>
                  <a:pt x="60175" y="2314"/>
                </a:cubicBezTo>
                <a:cubicBezTo>
                  <a:pt x="62464" y="4145"/>
                  <a:pt x="60897" y="8378"/>
                  <a:pt x="59809" y="11100"/>
                </a:cubicBezTo>
                <a:cubicBezTo>
                  <a:pt x="55209" y="22603"/>
                  <a:pt x="35255" y="18814"/>
                  <a:pt x="26495" y="27574"/>
                </a:cubicBezTo>
              </a:path>
            </a:pathLst>
          </a:cu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79" name="Google Shape;1679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550" y="2907275"/>
            <a:ext cx="3533175" cy="218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0" name="Google Shape;1680;p94"/>
          <p:cNvSpPr/>
          <p:nvPr/>
        </p:nvSpPr>
        <p:spPr>
          <a:xfrm>
            <a:off x="3343275" y="3418900"/>
            <a:ext cx="3022800" cy="914700"/>
          </a:xfrm>
          <a:prstGeom prst="wedgeRectCallout">
            <a:avLst>
              <a:gd fmla="val 34141" name="adj1"/>
              <a:gd fmla="val 66535" name="adj2"/>
            </a:avLst>
          </a:prstGeom>
          <a:solidFill>
            <a:schemeClr val="accent4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5"/>
                </a:solidFill>
              </a:rPr>
              <a:t>Find your copies at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https://drive.google.com</a:t>
            </a:r>
            <a:endParaRPr sz="20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9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 out as a PDF</a:t>
            </a:r>
            <a:endParaRPr/>
          </a:p>
        </p:txBody>
      </p:sp>
      <p:sp>
        <p:nvSpPr>
          <p:cNvPr id="1686" name="Google Shape;1686;p95"/>
          <p:cNvSpPr txBox="1"/>
          <p:nvPr>
            <p:ph idx="1" type="body"/>
          </p:nvPr>
        </p:nvSpPr>
        <p:spPr>
          <a:xfrm>
            <a:off x="226075" y="1465800"/>
            <a:ext cx="30474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Click the </a:t>
            </a:r>
            <a:r>
              <a:rPr b="1" lang="en" sz="1800"/>
              <a:t>File</a:t>
            </a:r>
            <a:r>
              <a:rPr lang="en" sz="1800"/>
              <a:t> menu and print it as a </a:t>
            </a:r>
            <a:r>
              <a:rPr b="1" lang="en" sz="1800"/>
              <a:t>PDF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Submit the </a:t>
            </a:r>
            <a:r>
              <a:rPr b="1" lang="en" sz="1800"/>
              <a:t>PDF</a:t>
            </a:r>
            <a:r>
              <a:rPr lang="en" sz="1800"/>
              <a:t> to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https://edu-portal.naist.jp/</a:t>
            </a:r>
            <a:r>
              <a:rPr lang="en" sz="1800"/>
              <a:t>. </a:t>
            </a:r>
            <a:r>
              <a:rPr b="1" lang="en" sz="1800"/>
              <a:t>Violating the file format requirement implies zero score.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Due by </a:t>
            </a:r>
            <a:r>
              <a:rPr b="1" lang="en" sz="1800"/>
              <a:t>December 19th 2025</a:t>
            </a:r>
            <a:r>
              <a:rPr lang="en" sz="1800"/>
              <a:t>.</a:t>
            </a:r>
            <a:endParaRPr sz="1800"/>
          </a:p>
        </p:txBody>
      </p:sp>
      <p:sp>
        <p:nvSpPr>
          <p:cNvPr id="1687" name="Google Shape;1687;p9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88" name="Google Shape;1688;p95"/>
          <p:cNvGrpSpPr/>
          <p:nvPr/>
        </p:nvGrpSpPr>
        <p:grpSpPr>
          <a:xfrm>
            <a:off x="3470468" y="99798"/>
            <a:ext cx="3915441" cy="3230491"/>
            <a:chOff x="3470524" y="99800"/>
            <a:chExt cx="3557875" cy="2935476"/>
          </a:xfrm>
        </p:grpSpPr>
        <p:pic>
          <p:nvPicPr>
            <p:cNvPr id="1689" name="Google Shape;1689;p95" title="Screenshot 2025-11-16 at 9.14.11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70524" y="99800"/>
              <a:ext cx="3557875" cy="2935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0" name="Google Shape;1690;p95"/>
            <p:cNvSpPr/>
            <p:nvPr/>
          </p:nvSpPr>
          <p:spPr>
            <a:xfrm>
              <a:off x="3870507" y="307467"/>
              <a:ext cx="827725" cy="694175"/>
            </a:xfrm>
            <a:custGeom>
              <a:rect b="b" l="l" r="r" t="t"/>
              <a:pathLst>
                <a:path extrusionOk="0" h="27767" w="33109">
                  <a:moveTo>
                    <a:pt x="18208" y="27061"/>
                  </a:moveTo>
                  <a:cubicBezTo>
                    <a:pt x="12668" y="27061"/>
                    <a:pt x="4584" y="29614"/>
                    <a:pt x="1734" y="24864"/>
                  </a:cubicBezTo>
                  <a:cubicBezTo>
                    <a:pt x="20" y="22008"/>
                    <a:pt x="-144" y="18285"/>
                    <a:pt x="269" y="14980"/>
                  </a:cubicBezTo>
                  <a:cubicBezTo>
                    <a:pt x="849" y="10344"/>
                    <a:pt x="6830" y="8147"/>
                    <a:pt x="10886" y="5828"/>
                  </a:cubicBezTo>
                  <a:cubicBezTo>
                    <a:pt x="16517" y="2608"/>
                    <a:pt x="23196" y="-940"/>
                    <a:pt x="29556" y="336"/>
                  </a:cubicBezTo>
                  <a:cubicBezTo>
                    <a:pt x="35806" y="1590"/>
                    <a:pt x="32826" y="15548"/>
                    <a:pt x="27726" y="19373"/>
                  </a:cubicBezTo>
                  <a:cubicBezTo>
                    <a:pt x="24619" y="21703"/>
                    <a:pt x="21043" y="23953"/>
                    <a:pt x="19306" y="27427"/>
                  </a:cubicBezTo>
                </a:path>
              </a:pathLst>
            </a:custGeom>
            <a:noFill/>
            <a:ln cap="flat" cmpd="sng" w="419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691" name="Google Shape;1691;p95"/>
          <p:cNvGrpSpPr/>
          <p:nvPr/>
        </p:nvGrpSpPr>
        <p:grpSpPr>
          <a:xfrm>
            <a:off x="5008778" y="2056275"/>
            <a:ext cx="3662812" cy="3032837"/>
            <a:chOff x="5250802" y="2256650"/>
            <a:chExt cx="3420951" cy="2832574"/>
          </a:xfrm>
        </p:grpSpPr>
        <p:pic>
          <p:nvPicPr>
            <p:cNvPr id="1692" name="Google Shape;1692;p95" title="Screenshot 2025-11-16 at 9.14.43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50802" y="2256650"/>
              <a:ext cx="3420951" cy="2832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3" name="Google Shape;1693;p95"/>
            <p:cNvSpPr/>
            <p:nvPr/>
          </p:nvSpPr>
          <p:spPr>
            <a:xfrm>
              <a:off x="5332401" y="4241219"/>
              <a:ext cx="1534850" cy="689350"/>
            </a:xfrm>
            <a:custGeom>
              <a:rect b="b" l="l" r="r" t="t"/>
              <a:pathLst>
                <a:path extrusionOk="0" h="27574" w="61394">
                  <a:moveTo>
                    <a:pt x="27959" y="25011"/>
                  </a:moveTo>
                  <a:cubicBezTo>
                    <a:pt x="18033" y="25011"/>
                    <a:pt x="-959" y="24261"/>
                    <a:pt x="137" y="14395"/>
                  </a:cubicBezTo>
                  <a:cubicBezTo>
                    <a:pt x="657" y="9715"/>
                    <a:pt x="8072" y="9306"/>
                    <a:pt x="12218" y="7073"/>
                  </a:cubicBezTo>
                  <a:cubicBezTo>
                    <a:pt x="21658" y="1989"/>
                    <a:pt x="32984" y="790"/>
                    <a:pt x="43701" y="484"/>
                  </a:cubicBezTo>
                  <a:cubicBezTo>
                    <a:pt x="49224" y="326"/>
                    <a:pt x="55861" y="-1138"/>
                    <a:pt x="60175" y="2314"/>
                  </a:cubicBezTo>
                  <a:cubicBezTo>
                    <a:pt x="62464" y="4145"/>
                    <a:pt x="60897" y="8378"/>
                    <a:pt x="59809" y="11100"/>
                  </a:cubicBezTo>
                  <a:cubicBezTo>
                    <a:pt x="55209" y="22603"/>
                    <a:pt x="35255" y="18814"/>
                    <a:pt x="26495" y="27574"/>
                  </a:cubicBezTo>
                </a:path>
              </a:pathLst>
            </a:custGeom>
            <a:noFill/>
            <a:ln cap="flat" cmpd="sng" w="408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