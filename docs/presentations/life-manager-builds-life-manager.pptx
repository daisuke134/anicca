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一件の失敗だけを追いながら、Life Managerが自分を直すsystemを説明する。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外部効果のreceiptがなければ、Agentは成功を誤認する。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commit数やAgent稼働時間を改善metricにしない。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Observability、Eval、Graph、Loopを別々の流行語として扱わない。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OpenTelemetryでrunを同じtrace_idにつなぎ、receiptまで観測する。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全runの軽量system evidenceと、少数のredacted failure traceを分ける。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production failureを再実行可能な採点契約へ変える。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MakerとCheckerを分離し、LLM judgeを唯一のgateにしない。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Graphはstate、transition receipt、failure pathを定義する。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実metricとlearning receiptまで戻ってloopが閉じる。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PlaneとSelf-Builderのcredentialとprocessを分離する。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toolを増やすのではなく、一役一toolで既存資産を再利用する。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ここまではexisting codeで確認できる現在地。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targetとproduction current stateを混ぜない。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最初から全sourceをつながず、一件をE2Eで閉じる。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自動mergeはLLMの自信ではなくmachine-readable policyで決める。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No-Human-Loopはbounded human-free executionであり、governance消去ではない。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証拠、独立評価、可逆昇格をcodeにした時、Life Managerは自分をbuildし始める。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1114276"/>
            <a:ext cx="84461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44D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SELF-IMPROVING SOFTWARE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1750" y="1419076"/>
            <a:ext cx="8446109" cy="1219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2"/>
              </a:lnSpc>
              <a:buNone/>
            </a:pPr>
            <a:r>
              <a:rPr lang="en-US" sz="490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Manager
</a:t>
            </a:r>
            <a:pPr algn="l" indent="0" marL="0">
              <a:lnSpc>
                <a:spcPts val="4802"/>
              </a:lnSpc>
              <a:buNone/>
            </a:pPr>
            <a:r>
              <a:rPr lang="en-US" sz="4900" b="1" dirty="0">
                <a:solidFill>
                  <a:srgbClr val="44D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Life Manager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431750" y="2841724"/>
            <a:ext cx="844610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buNone/>
            </a:pPr>
            <a:r>
              <a:rPr lang="en-US" sz="1800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AIが自分の失敗を観測し、Evalを作り、自分を修正するまで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31750" y="3489424"/>
            <a:ext cx="1170533" cy="285750"/>
          </a:xfrm>
          <a:prstGeom prst="roundRect">
            <a:avLst>
              <a:gd name="adj" fmla="val 440000"/>
            </a:avLst>
          </a:prstGeom>
          <a:solidFill>
            <a:srgbClr val="242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8701" y="3565624"/>
            <a:ext cx="9349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4D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78484" y="3498949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83284" y="3489424"/>
            <a:ext cx="550366" cy="285750"/>
          </a:xfrm>
          <a:prstGeom prst="roundRect">
            <a:avLst>
              <a:gd name="adj" fmla="val 440000"/>
            </a:avLst>
          </a:prstGeom>
          <a:solidFill>
            <a:srgbClr val="242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110234" y="3565624"/>
            <a:ext cx="3023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09850" y="3498949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914650" y="3489424"/>
            <a:ext cx="666750" cy="285750"/>
          </a:xfrm>
          <a:prstGeom prst="roundRect">
            <a:avLst>
              <a:gd name="adj" fmla="val 440000"/>
            </a:avLst>
          </a:prstGeom>
          <a:solidFill>
            <a:srgbClr val="242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041600" y="3565624"/>
            <a:ext cx="4211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9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0" y="3498949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62400" y="3489424"/>
            <a:ext cx="577900" cy="285750"/>
          </a:xfrm>
          <a:prstGeom prst="roundRect">
            <a:avLst>
              <a:gd name="adj" fmla="val 440000"/>
            </a:avLst>
          </a:prstGeom>
          <a:solidFill>
            <a:srgbClr val="242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089350" y="3565624"/>
            <a:ext cx="3304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DDB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1750" y="4864150"/>
            <a:ext cx="21457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18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MANAGER BUILDS LIFE MANAGER · ANICCA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1750" y="782538"/>
            <a:ext cx="8280499" cy="0"/>
          </a:xfrm>
          <a:prstGeom prst="line">
            <a:avLst/>
          </a:prstGeom>
          <a:noFill/>
          <a:ln w="9525">
            <a:solidFill>
              <a:srgbClr val="3340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1750" y="472976"/>
            <a:ext cx="5440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44D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5150" y="304205"/>
            <a:ext cx="4564919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午前7時、電話は鳴らなかった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1750" y="1066651"/>
            <a:ext cx="4064050" cy="2603450"/>
          </a:xfrm>
          <a:prstGeom prst="roundRect">
            <a:avLst>
              <a:gd name="adj" fmla="val 3903"/>
            </a:avLst>
          </a:prstGeom>
          <a:solidFill>
            <a:srgbClr val="1B232D"/>
          </a:solidFill>
          <a:ln w="9525">
            <a:solidFill>
              <a:srgbClr val="2C394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253877"/>
            <a:ext cx="376339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4DDB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STATE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8976" y="1580852"/>
            <a:ext cx="3763390" cy="50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18976" y="2087612"/>
            <a:ext cx="376339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completed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Agent: “wake call sent”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48200" y="1066651"/>
            <a:ext cx="4064050" cy="2603450"/>
          </a:xfrm>
          <a:prstGeom prst="roundRect">
            <a:avLst>
              <a:gd name="adj" fmla="val 3903"/>
            </a:avLst>
          </a:prstGeom>
          <a:solidFill>
            <a:srgbClr val="1B232D"/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35426" y="1253877"/>
            <a:ext cx="376339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WORLD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35426" y="1580852"/>
            <a:ext cx="3763390" cy="50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38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835426" y="2087612"/>
            <a:ext cx="376339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timeout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received no call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8945" y="3898702"/>
            <a:ext cx="8446109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Bef>
                <a:spcPts val="1800"/>
              </a:spcBef>
              <a:buNone/>
            </a:pPr>
            <a:r>
              <a:rPr lang="en-US" sz="300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activity </a:t>
            </a:r>
            <a:pPr algn="ctr" indent="0" marL="0">
              <a:lnSpc>
                <a:spcPts val="3360"/>
              </a:lnSpc>
              <a:spcBef>
                <a:spcPts val="1800"/>
              </a:spcBef>
              <a:buNone/>
            </a:pPr>
            <a:r>
              <a:rPr lang="en-US" sz="3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</a:t>
            </a:r>
            <a:pPr algn="ctr" indent="0" marL="0">
              <a:lnSpc>
                <a:spcPts val="3360"/>
              </a:lnSpc>
              <a:spcBef>
                <a:spcPts val="1800"/>
              </a:spcBef>
              <a:buNone/>
            </a:pPr>
            <a:r>
              <a:rPr lang="en-US" sz="300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real-world effect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31750" y="4864150"/>
            <a:ext cx="21457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18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MANAGER BUILDS LIFE MANAGER · ANICCA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1750" y="782538"/>
            <a:ext cx="8280499" cy="0"/>
          </a:xfrm>
          <a:prstGeom prst="line">
            <a:avLst/>
          </a:prstGeom>
          <a:noFill/>
          <a:ln w="9525">
            <a:solidFill>
              <a:srgbClr val="3340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1750" y="472976"/>
            <a:ext cx="5440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44D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5150" y="304205"/>
            <a:ext cx="4377744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自己編集は自己改善ではない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1750" y="1066651"/>
            <a:ext cx="8280499" cy="1197918"/>
          </a:xfrm>
          <a:prstGeom prst="roundRect">
            <a:avLst>
              <a:gd name="adj" fmla="val 8481"/>
            </a:avLst>
          </a:prstGeom>
          <a:solidFill>
            <a:srgbClr val="0C1116"/>
          </a:solidFill>
          <a:ln w="9525">
            <a:solidFill>
              <a:srgbClr val="2B374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1775" y="1266676"/>
            <a:ext cx="8038058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9EAD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changed</a:t>
            </a:r>
            <a:pPr algn="l" indent="0" marL="0">
              <a:lnSpc>
                <a:spcPts val="1495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self-editing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1775" y="1532632"/>
            <a:ext cx="8038058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9EAD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completed</a:t>
            </a:r>
            <a:pPr algn="l" indent="0" marL="0">
              <a:lnSpc>
                <a:spcPts val="1495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autonomy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1775" y="1798588"/>
            <a:ext cx="8038058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4DDB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candidate beats baseline safely</a:t>
            </a:r>
            <a:pPr algn="l" indent="0" marL="0">
              <a:lnSpc>
                <a:spcPts val="1495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self-improvement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4613" y="2582019"/>
            <a:ext cx="0" cy="364927"/>
          </a:xfrm>
          <a:prstGeom prst="line">
            <a:avLst/>
          </a:prstGeom>
          <a:noFill/>
          <a:ln w="85725">
            <a:solidFill>
              <a:srgbClr val="44D7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7975" y="2582019"/>
            <a:ext cx="8164360" cy="364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50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変更ではなく、</a:t>
            </a:r>
            <a:pPr algn="l" indent="0" marL="0">
              <a:lnSpc>
                <a:spcPts val="2875"/>
              </a:lnSpc>
              <a:buNone/>
            </a:pPr>
            <a:r>
              <a:rPr lang="en-US" sz="25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改善の証拠</a:t>
            </a:r>
            <a:pPr algn="l" indent="0" marL="0">
              <a:lnSpc>
                <a:spcPts val="2875"/>
              </a:lnSpc>
              <a:buNone/>
            </a:pPr>
            <a:r>
              <a:rPr lang="en-US" sz="250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が必要。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431750" y="4864150"/>
            <a:ext cx="21457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18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MANAGER BUILDS LIFE MANAGER · ANICCA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1750" y="782538"/>
            <a:ext cx="8280499" cy="0"/>
          </a:xfrm>
          <a:prstGeom prst="line">
            <a:avLst/>
          </a:prstGeom>
          <a:noFill/>
          <a:ln w="9525">
            <a:solidFill>
              <a:srgbClr val="3340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1750" y="472976"/>
            <a:ext cx="5440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44D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5150" y="304205"/>
            <a:ext cx="3367483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四つは同じ身体の器官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1750" y="1066651"/>
            <a:ext cx="2003822" cy="3022550"/>
          </a:xfrm>
          <a:prstGeom prst="roundRect">
            <a:avLst>
              <a:gd name="adj" fmla="val 5070"/>
            </a:avLst>
          </a:prstGeom>
          <a:solidFill>
            <a:srgbClr val="1B232D"/>
          </a:solidFill>
          <a:ln w="9525">
            <a:solidFill>
              <a:srgbClr val="44D7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253877"/>
            <a:ext cx="16619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44D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8976" y="1580852"/>
            <a:ext cx="1661958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感じる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18976" y="1971824"/>
            <a:ext cx="16619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何が起きたか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87972" y="1066651"/>
            <a:ext cx="1939826" cy="3022550"/>
          </a:xfrm>
          <a:prstGeom prst="roundRect">
            <a:avLst>
              <a:gd name="adj" fmla="val 5238"/>
            </a:avLst>
          </a:prstGeom>
          <a:solidFill>
            <a:srgbClr val="1B232D"/>
          </a:solidFill>
          <a:ln w="9525">
            <a:solidFill>
              <a:srgbClr val="F4B9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775198" y="1253877"/>
            <a:ext cx="159668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75198" y="1580852"/>
            <a:ext cx="1596682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採点する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75198" y="1971824"/>
            <a:ext cx="15966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直ったか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80198" y="1066651"/>
            <a:ext cx="1939826" cy="3022550"/>
          </a:xfrm>
          <a:prstGeom prst="roundRect">
            <a:avLst>
              <a:gd name="adj" fmla="val 5238"/>
            </a:avLst>
          </a:prstGeom>
          <a:solidFill>
            <a:srgbClr val="1B232D"/>
          </a:solidFill>
          <a:ln w="9525">
            <a:solidFill>
              <a:srgbClr val="A98B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67424" y="1253877"/>
            <a:ext cx="159668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A9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67424" y="1580852"/>
            <a:ext cx="1596682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分岐する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67424" y="1971824"/>
            <a:ext cx="15966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次に何をするか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72424" y="1066651"/>
            <a:ext cx="1939826" cy="3022550"/>
          </a:xfrm>
          <a:prstGeom prst="roundRect">
            <a:avLst>
              <a:gd name="adj" fmla="val 5238"/>
            </a:avLst>
          </a:prstGeom>
          <a:solidFill>
            <a:srgbClr val="1B232D"/>
          </a:solidFill>
          <a:ln w="9525">
            <a:solidFill>
              <a:srgbClr val="4DDB9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959650" y="1253877"/>
            <a:ext cx="159668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4DDB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59650" y="1580852"/>
            <a:ext cx="1596682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継続する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59650" y="1971824"/>
            <a:ext cx="15966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どう学び続けるか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1750" y="4864150"/>
            <a:ext cx="21457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18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MANAGER BUILDS LIFE MANAGER · ANICCA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1750" y="782538"/>
            <a:ext cx="8280499" cy="0"/>
          </a:xfrm>
          <a:prstGeom prst="line">
            <a:avLst/>
          </a:prstGeom>
          <a:noFill/>
          <a:ln w="9525">
            <a:solidFill>
              <a:srgbClr val="3340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1750" y="472976"/>
            <a:ext cx="5440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44D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5150" y="304205"/>
            <a:ext cx="3480578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Observabilityは感覚器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65498" y="1244352"/>
            <a:ext cx="977801" cy="596801"/>
          </a:xfrm>
          <a:prstGeom prst="roundRect">
            <a:avLst>
              <a:gd name="adj" fmla="val 14896"/>
            </a:avLst>
          </a:prstGeom>
          <a:solidFill>
            <a:srgbClr val="1B232D"/>
          </a:solidFill>
          <a:ln w="19050">
            <a:solidFill>
              <a:srgbClr val="44D7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478682" y="1390352"/>
            <a:ext cx="7514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419499" y="1409402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24299" y="1244352"/>
            <a:ext cx="977801" cy="596801"/>
          </a:xfrm>
          <a:prstGeom prst="roundRect">
            <a:avLst>
              <a:gd name="adj" fmla="val 14896"/>
            </a:avLst>
          </a:prstGeom>
          <a:solidFill>
            <a:srgbClr val="1B232D"/>
          </a:solidFill>
          <a:ln w="19050">
            <a:solidFill>
              <a:srgbClr val="44D7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837483" y="1390352"/>
            <a:ext cx="7514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778300" y="1409402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083100" y="1244352"/>
            <a:ext cx="977801" cy="596801"/>
          </a:xfrm>
          <a:prstGeom prst="roundRect">
            <a:avLst>
              <a:gd name="adj" fmla="val 14896"/>
            </a:avLst>
          </a:prstGeom>
          <a:solidFill>
            <a:srgbClr val="1B232D"/>
          </a:solidFill>
          <a:ln w="19050">
            <a:solidFill>
              <a:srgbClr val="44D7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196283" y="1390352"/>
            <a:ext cx="7514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37100" y="1409402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41900" y="1244352"/>
            <a:ext cx="977801" cy="596801"/>
          </a:xfrm>
          <a:prstGeom prst="roundRect">
            <a:avLst>
              <a:gd name="adj" fmla="val 14896"/>
            </a:avLst>
          </a:prstGeom>
          <a:solidFill>
            <a:srgbClr val="1B232D"/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555084" y="1390352"/>
            <a:ext cx="7514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95901" y="1409402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00701" y="1244352"/>
            <a:ext cx="977801" cy="596801"/>
          </a:xfrm>
          <a:prstGeom prst="roundRect">
            <a:avLst>
              <a:gd name="adj" fmla="val 14896"/>
            </a:avLst>
          </a:prstGeom>
          <a:solidFill>
            <a:srgbClr val="1B232D"/>
          </a:solidFill>
          <a:ln w="19050">
            <a:solidFill>
              <a:srgbClr val="44D7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913885" y="1390352"/>
            <a:ext cx="7514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1750" y="2196703"/>
            <a:ext cx="501551" cy="285750"/>
          </a:xfrm>
          <a:prstGeom prst="roundRect">
            <a:avLst>
              <a:gd name="adj" fmla="val 440000"/>
            </a:avLst>
          </a:prstGeom>
          <a:solidFill>
            <a:srgbClr val="242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58701" y="2272903"/>
            <a:ext cx="2526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85701" y="2196703"/>
            <a:ext cx="692051" cy="285750"/>
          </a:xfrm>
          <a:prstGeom prst="roundRect">
            <a:avLst>
              <a:gd name="adj" fmla="val 440000"/>
            </a:avLst>
          </a:prstGeom>
          <a:solidFill>
            <a:srgbClr val="242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212652" y="2272903"/>
            <a:ext cx="4469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930152" y="2196703"/>
            <a:ext cx="647700" cy="285750"/>
          </a:xfrm>
          <a:prstGeom prst="roundRect">
            <a:avLst>
              <a:gd name="adj" fmla="val 440000"/>
            </a:avLst>
          </a:prstGeom>
          <a:solidFill>
            <a:srgbClr val="242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057102" y="2272903"/>
            <a:ext cx="4016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30252" y="2196703"/>
            <a:ext cx="1225600" cy="285750"/>
          </a:xfrm>
          <a:prstGeom prst="roundRect">
            <a:avLst>
              <a:gd name="adj" fmla="val 440000"/>
            </a:avLst>
          </a:prstGeom>
          <a:solidFill>
            <a:srgbClr val="242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857202" y="2272903"/>
            <a:ext cx="9911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RECEIPT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31750" y="4411861"/>
            <a:ext cx="8280499" cy="0"/>
          </a:xfrm>
          <a:prstGeom prst="line">
            <a:avLst/>
          </a:prstGeom>
          <a:noFill/>
          <a:ln w="9525">
            <a:solidFill>
              <a:srgbClr val="2B374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1750" y="4505474"/>
            <a:ext cx="844610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090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OpenTelemetry: “telemetry is also used as a feedback loop”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31750" y="4864150"/>
            <a:ext cx="21457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18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MANAGER BUILDS LIFE MANAGER · ANICCA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1750" y="782538"/>
            <a:ext cx="8280499" cy="0"/>
          </a:xfrm>
          <a:prstGeom prst="line">
            <a:avLst/>
          </a:prstGeom>
          <a:noFill/>
          <a:ln w="9525">
            <a:solidFill>
              <a:srgbClr val="3340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1750" y="472976"/>
            <a:ext cx="5440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44D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5150" y="304205"/>
            <a:ext cx="4040889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何千人分をどう観測するか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1750" y="1066651"/>
            <a:ext cx="8280499" cy="1746052"/>
          </a:xfrm>
          <a:prstGeom prst="roundRect">
            <a:avLst>
              <a:gd name="adj" fmla="val 5091"/>
            </a:avLst>
          </a:prstGeom>
          <a:noFill/>
          <a:ln w="9525">
            <a:solidFill>
              <a:srgbClr val="3340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41275" y="1076176"/>
            <a:ext cx="8261449" cy="431750"/>
          </a:xfrm>
          <a:prstGeom prst="rect">
            <a:avLst/>
          </a:prstGeom>
          <a:solidFill>
            <a:srgbClr val="242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41275" y="1503164"/>
            <a:ext cx="8261449" cy="0"/>
          </a:xfrm>
          <a:prstGeom prst="line">
            <a:avLst/>
          </a:prstGeom>
          <a:noFill/>
          <a:ln w="9525">
            <a:solidFill>
              <a:srgbClr val="3340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93405" y="1076176"/>
            <a:ext cx="0" cy="422225"/>
          </a:xfrm>
          <a:prstGeom prst="line">
            <a:avLst/>
          </a:prstGeom>
          <a:noFill/>
          <a:ln w="9525">
            <a:solidFill>
              <a:srgbClr val="3340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8226" y="1177677"/>
            <a:ext cx="2543336" cy="157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9"/>
              </a:lnSpc>
              <a:buNone/>
            </a:pPr>
            <a:r>
              <a:rPr lang="en-US" sz="1050" b="1" dirty="0">
                <a:solidFill>
                  <a:srgbClr val="4DDB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全run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50446" y="1076176"/>
            <a:ext cx="0" cy="422225"/>
          </a:xfrm>
          <a:prstGeom prst="line">
            <a:avLst/>
          </a:prstGeom>
          <a:noFill/>
          <a:ln w="9525">
            <a:solidFill>
              <a:srgbClr val="3340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25118" y="1177677"/>
            <a:ext cx="2543488" cy="157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9"/>
              </a:lnSpc>
              <a:buNone/>
            </a:pPr>
            <a:r>
              <a:rPr lang="en-US" sz="105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深く保持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82159" y="1177677"/>
            <a:ext cx="2543488" cy="157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9"/>
              </a:lnSpc>
              <a:buNone/>
            </a:pPr>
            <a:r>
              <a:rPr lang="en-US" sz="105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原則出さない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1275" y="1934914"/>
            <a:ext cx="8261449" cy="0"/>
          </a:xfrm>
          <a:prstGeom prst="line">
            <a:avLst/>
          </a:prstGeom>
          <a:noFill/>
          <a:ln w="9525">
            <a:solidFill>
              <a:srgbClr val="3340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93405" y="1507927"/>
            <a:ext cx="0" cy="422225"/>
          </a:xfrm>
          <a:prstGeom prst="line">
            <a:avLst/>
          </a:prstGeom>
          <a:noFill/>
          <a:ln w="9525">
            <a:solidFill>
              <a:srgbClr val="3340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226" y="1609427"/>
            <a:ext cx="2543336" cy="157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9"/>
              </a:lnSpc>
              <a:buNone/>
            </a:pPr>
            <a:r>
              <a:rPr lang="en-US" sz="105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/ latency / cost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50446" y="1507927"/>
            <a:ext cx="0" cy="422225"/>
          </a:xfrm>
          <a:prstGeom prst="line">
            <a:avLst/>
          </a:prstGeom>
          <a:noFill/>
          <a:ln w="9525">
            <a:solidFill>
              <a:srgbClr val="3340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25118" y="1609427"/>
            <a:ext cx="2543488" cy="157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9"/>
              </a:lnSpc>
              <a:buNone/>
            </a:pPr>
            <a:r>
              <a:rPr lang="en-US" sz="105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failures / safety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82159" y="1609427"/>
            <a:ext cx="2543488" cy="157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9"/>
              </a:lnSpc>
              <a:buNone/>
            </a:pPr>
            <a:r>
              <a:rPr lang="en-US" sz="105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prompt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1275" y="2366665"/>
            <a:ext cx="8261449" cy="0"/>
          </a:xfrm>
          <a:prstGeom prst="line">
            <a:avLst/>
          </a:prstGeom>
          <a:noFill/>
          <a:ln w="9525">
            <a:solidFill>
              <a:srgbClr val="3340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93405" y="1939677"/>
            <a:ext cx="0" cy="422225"/>
          </a:xfrm>
          <a:prstGeom prst="line">
            <a:avLst/>
          </a:prstGeom>
          <a:noFill/>
          <a:ln w="9525">
            <a:solidFill>
              <a:srgbClr val="3340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8226" y="2041178"/>
            <a:ext cx="2543336" cy="157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9"/>
              </a:lnSpc>
              <a:buNone/>
            </a:pPr>
            <a:r>
              <a:rPr lang="en-US" sz="105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/ receipt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50446" y="1939677"/>
            <a:ext cx="0" cy="422225"/>
          </a:xfrm>
          <a:prstGeom prst="line">
            <a:avLst/>
          </a:prstGeom>
          <a:noFill/>
          <a:ln w="9525">
            <a:solidFill>
              <a:srgbClr val="3340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25118" y="2041178"/>
            <a:ext cx="2543488" cy="157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9"/>
              </a:lnSpc>
              <a:buNone/>
            </a:pPr>
            <a:r>
              <a:rPr lang="en-US" sz="105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redacted exemplar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082159" y="2041178"/>
            <a:ext cx="2543488" cy="157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9"/>
              </a:lnSpc>
              <a:buNone/>
            </a:pPr>
            <a:r>
              <a:rPr lang="en-US" sz="105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/ location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93405" y="2371427"/>
            <a:ext cx="0" cy="431750"/>
          </a:xfrm>
          <a:prstGeom prst="line">
            <a:avLst/>
          </a:prstGeom>
          <a:noFill/>
          <a:ln w="9525">
            <a:solidFill>
              <a:srgbClr val="3340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8226" y="2472928"/>
            <a:ext cx="2543336" cy="157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9"/>
              </a:lnSpc>
              <a:buNone/>
            </a:pPr>
            <a:r>
              <a:rPr lang="en-US" sz="105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transition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50446" y="2371427"/>
            <a:ext cx="0" cy="431750"/>
          </a:xfrm>
          <a:prstGeom prst="line">
            <a:avLst/>
          </a:prstGeom>
          <a:noFill/>
          <a:ln w="9525">
            <a:solidFill>
              <a:srgbClr val="3340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25118" y="2472928"/>
            <a:ext cx="2543488" cy="157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9"/>
              </a:lnSpc>
              <a:buNone/>
            </a:pPr>
            <a:r>
              <a:rPr lang="en-US" sz="105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debug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082159" y="2472928"/>
            <a:ext cx="2543488" cy="157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9"/>
              </a:lnSpc>
              <a:buNone/>
            </a:pPr>
            <a:r>
              <a:rPr lang="en-US" sz="105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/ Telegram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48945" y="3092053"/>
            <a:ext cx="8446109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Bef>
                <a:spcPts val="2200"/>
              </a:spcBef>
              <a:buNone/>
            </a:pPr>
            <a:r>
              <a:rPr lang="en-US" sz="300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everyone. </a:t>
            </a:r>
            <a:pPr algn="ctr" indent="0" marL="0">
              <a:lnSpc>
                <a:spcPts val="3360"/>
              </a:lnSpc>
              <a:spcBef>
                <a:spcPts val="2200"/>
              </a:spcBef>
              <a:buNone/>
            </a:pPr>
            <a:r>
              <a:rPr lang="en-US" sz="3000" b="1" dirty="0">
                <a:solidFill>
                  <a:srgbClr val="44D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nobody by default.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431750" y="4864150"/>
            <a:ext cx="21457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18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MANAGER BUILDS LIFE MANAGER · ANICCA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1750" y="782538"/>
            <a:ext cx="8280499" cy="0"/>
          </a:xfrm>
          <a:prstGeom prst="line">
            <a:avLst/>
          </a:prstGeom>
          <a:noFill/>
          <a:ln w="9525">
            <a:solidFill>
              <a:srgbClr val="3340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1750" y="472976"/>
            <a:ext cx="5440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44D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5150" y="304205"/>
            <a:ext cx="6267864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Eval Engineeringは試験工場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65498" y="1295251"/>
            <a:ext cx="977801" cy="444401"/>
          </a:xfrm>
          <a:prstGeom prst="roundRect">
            <a:avLst>
              <a:gd name="adj" fmla="val 20004"/>
            </a:avLst>
          </a:prstGeom>
          <a:solidFill>
            <a:srgbClr val="1B232D"/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478682" y="1441252"/>
            <a:ext cx="7514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419499" y="1384102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24299" y="1295251"/>
            <a:ext cx="977801" cy="444401"/>
          </a:xfrm>
          <a:prstGeom prst="roundRect">
            <a:avLst>
              <a:gd name="adj" fmla="val 20004"/>
            </a:avLst>
          </a:prstGeom>
          <a:solidFill>
            <a:srgbClr val="1B232D"/>
          </a:solidFill>
          <a:ln w="19050">
            <a:solidFill>
              <a:srgbClr val="44D7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837483" y="1441252"/>
            <a:ext cx="7514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778300" y="1384102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083100" y="1295251"/>
            <a:ext cx="977801" cy="444401"/>
          </a:xfrm>
          <a:prstGeom prst="roundRect">
            <a:avLst>
              <a:gd name="adj" fmla="val 20004"/>
            </a:avLst>
          </a:prstGeom>
          <a:solidFill>
            <a:srgbClr val="1B232D"/>
          </a:solidFill>
          <a:ln w="19050">
            <a:solidFill>
              <a:srgbClr val="F4B9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196283" y="1441252"/>
            <a:ext cx="7514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FIXTURE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37100" y="1384102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41900" y="1219051"/>
            <a:ext cx="977801" cy="596801"/>
          </a:xfrm>
          <a:prstGeom prst="roundRect">
            <a:avLst>
              <a:gd name="adj" fmla="val 14896"/>
            </a:avLst>
          </a:prstGeom>
          <a:solidFill>
            <a:srgbClr val="1B232D"/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555084" y="1365052"/>
            <a:ext cx="7514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95901" y="1384102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00701" y="1219051"/>
            <a:ext cx="977801" cy="596801"/>
          </a:xfrm>
          <a:prstGeom prst="roundRect">
            <a:avLst>
              <a:gd name="adj" fmla="val 14896"/>
            </a:avLst>
          </a:prstGeom>
          <a:solidFill>
            <a:srgbClr val="1B232D"/>
          </a:solidFill>
          <a:ln w="19050">
            <a:solidFill>
              <a:srgbClr val="F4B9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913885" y="1365052"/>
            <a:ext cx="7514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SEALED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8945" y="2247602"/>
            <a:ext cx="8446109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Bef>
                <a:spcPts val="3400"/>
              </a:spcBef>
              <a:buNone/>
            </a:pPr>
            <a:r>
              <a:rPr lang="en-US" sz="300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failure becomes a
</a:t>
            </a:r>
            <a:pPr algn="ctr" indent="0" marL="0">
              <a:lnSpc>
                <a:spcPts val="3360"/>
              </a:lnSpc>
              <a:spcBef>
                <a:spcPts val="3400"/>
              </a:spcBef>
              <a:buNone/>
            </a:pPr>
            <a:r>
              <a:rPr lang="en-US" sz="30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falsifiable contract.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431750" y="4411861"/>
            <a:ext cx="8280499" cy="0"/>
          </a:xfrm>
          <a:prstGeom prst="line">
            <a:avLst/>
          </a:prstGeom>
          <a:noFill/>
          <a:ln w="9525">
            <a:solidFill>
              <a:srgbClr val="2B37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1750" y="4505474"/>
            <a:ext cx="844610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090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LangChain: “mine traces -&gt; identify a failure -&gt; build an eval”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31750" y="4864150"/>
            <a:ext cx="21457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18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MANAGER BUILDS LIFE MANAGER · ANICCA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1750" y="782538"/>
            <a:ext cx="8280499" cy="0"/>
          </a:xfrm>
          <a:prstGeom prst="line">
            <a:avLst/>
          </a:prstGeom>
          <a:noFill/>
          <a:ln w="9525">
            <a:solidFill>
              <a:srgbClr val="3340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1750" y="472976"/>
            <a:ext cx="5440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44D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5150" y="304205"/>
            <a:ext cx="4040889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一つの点数では昇格しない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1750" y="1066651"/>
            <a:ext cx="2683818" cy="720477"/>
          </a:xfrm>
          <a:prstGeom prst="roundRect">
            <a:avLst>
              <a:gd name="adj" fmla="val 14102"/>
            </a:avLst>
          </a:prstGeom>
          <a:solidFill>
            <a:srgbClr val="1B232D"/>
          </a:solidFill>
          <a:ln w="9525">
            <a:solidFill>
              <a:srgbClr val="2C394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68226" y="1203127"/>
            <a:ext cx="24590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Reproduction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8226" y="1492002"/>
            <a:ext cx="2459084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同じfailureか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17069" y="1066651"/>
            <a:ext cx="2683818" cy="720477"/>
          </a:xfrm>
          <a:prstGeom prst="roundRect">
            <a:avLst>
              <a:gd name="adj" fmla="val 14102"/>
            </a:avLst>
          </a:prstGeom>
          <a:solidFill>
            <a:srgbClr val="1B232D"/>
          </a:solidFill>
          <a:ln w="9525">
            <a:solidFill>
              <a:srgbClr val="2C394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53544" y="1203127"/>
            <a:ext cx="24590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Unit / Integration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53544" y="1492002"/>
            <a:ext cx="2459084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局所contract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02387" y="1066651"/>
            <a:ext cx="2683818" cy="720477"/>
          </a:xfrm>
          <a:prstGeom prst="roundRect">
            <a:avLst>
              <a:gd name="adj" fmla="val 14102"/>
            </a:avLst>
          </a:prstGeom>
          <a:solidFill>
            <a:srgbClr val="1B232D"/>
          </a:solidFill>
          <a:ln w="9525">
            <a:solidFill>
              <a:srgbClr val="2C394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38863" y="1203127"/>
            <a:ext cx="24590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Real E2E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38863" y="1492002"/>
            <a:ext cx="2459084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外部効果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1750" y="1888629"/>
            <a:ext cx="2683818" cy="720477"/>
          </a:xfrm>
          <a:prstGeom prst="roundRect">
            <a:avLst>
              <a:gd name="adj" fmla="val 14102"/>
            </a:avLst>
          </a:prstGeom>
          <a:solidFill>
            <a:srgbClr val="1B232D"/>
          </a:solidFill>
          <a:ln w="9525">
            <a:solidFill>
              <a:srgbClr val="2C394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68226" y="2025104"/>
            <a:ext cx="24590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Sealed holdout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8226" y="2313980"/>
            <a:ext cx="2459084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過適合防止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17069" y="1888629"/>
            <a:ext cx="2683818" cy="720477"/>
          </a:xfrm>
          <a:prstGeom prst="roundRect">
            <a:avLst>
              <a:gd name="adj" fmla="val 14102"/>
            </a:avLst>
          </a:prstGeom>
          <a:solidFill>
            <a:srgbClr val="1B232D"/>
          </a:solidFill>
          <a:ln w="9525">
            <a:solidFill>
              <a:srgbClr val="2C394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353544" y="2025104"/>
            <a:ext cx="24590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Security / Policy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53544" y="2313980"/>
            <a:ext cx="2459084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境界違反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02387" y="1888629"/>
            <a:ext cx="2683818" cy="720477"/>
          </a:xfrm>
          <a:prstGeom prst="roundRect">
            <a:avLst>
              <a:gd name="adj" fmla="val 14102"/>
            </a:avLst>
          </a:prstGeom>
          <a:solidFill>
            <a:srgbClr val="1B232D"/>
          </a:solidFill>
          <a:ln w="9525">
            <a:solidFill>
              <a:srgbClr val="2C394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38863" y="2025104"/>
            <a:ext cx="24590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Cost / Latency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38863" y="2313980"/>
            <a:ext cx="2459084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資源退化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1750" y="2710607"/>
            <a:ext cx="2683818" cy="720477"/>
          </a:xfrm>
          <a:prstGeom prst="roundRect">
            <a:avLst>
              <a:gd name="adj" fmla="val 14102"/>
            </a:avLst>
          </a:prstGeom>
          <a:solidFill>
            <a:srgbClr val="1B232D"/>
          </a:solidFill>
          <a:ln w="9525">
            <a:solidFill>
              <a:srgbClr val="4DDB9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68226" y="2847082"/>
            <a:ext cx="24590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4DDB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Canary outcome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8226" y="3135957"/>
            <a:ext cx="2459084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ユーザー価値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1750" y="4864150"/>
            <a:ext cx="21457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18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MANAGER BUILDS LIFE MANAGER · ANICCA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1750" y="782538"/>
            <a:ext cx="8280499" cy="0"/>
          </a:xfrm>
          <a:prstGeom prst="line">
            <a:avLst/>
          </a:prstGeom>
          <a:noFill/>
          <a:ln w="9525">
            <a:solidFill>
              <a:srgbClr val="3340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1750" y="472976"/>
            <a:ext cx="5440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44D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5150" y="304205"/>
            <a:ext cx="5051453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Engineeringは状態と証拠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1750" y="1066651"/>
            <a:ext cx="8280499" cy="931962"/>
          </a:xfrm>
          <a:prstGeom prst="roundRect">
            <a:avLst>
              <a:gd name="adj" fmla="val 10902"/>
            </a:avLst>
          </a:prstGeom>
          <a:solidFill>
            <a:srgbClr val="0C1116"/>
          </a:solidFill>
          <a:ln w="9525">
            <a:solidFill>
              <a:srgbClr val="2B374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1775" y="1266676"/>
            <a:ext cx="8038058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OBSERVED → CLUSTERED → REPRODUCED → EVAL_READY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1775" y="1532632"/>
            <a:ext cx="8038058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IMPLEMENTED → VERIFIED → CANARY → </a:t>
            </a:r>
            <a:pPr algn="l" indent="0" marL="0">
              <a:lnSpc>
                <a:spcPts val="1495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4DDB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1750" y="2227213"/>
            <a:ext cx="986433" cy="285750"/>
          </a:xfrm>
          <a:prstGeom prst="roundRect">
            <a:avLst>
              <a:gd name="adj" fmla="val 440000"/>
            </a:avLst>
          </a:prstGeom>
          <a:solidFill>
            <a:srgbClr val="242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58701" y="2303413"/>
            <a:ext cx="7471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RETRY_WAIT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70583" y="2227213"/>
            <a:ext cx="1098500" cy="285750"/>
          </a:xfrm>
          <a:prstGeom prst="roundRect">
            <a:avLst>
              <a:gd name="adj" fmla="val 440000"/>
            </a:avLst>
          </a:prstGeom>
          <a:solidFill>
            <a:srgbClr val="242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697534" y="2303413"/>
            <a:ext cx="8614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QUARANTINED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821484" y="2227213"/>
            <a:ext cx="1117550" cy="285750"/>
          </a:xfrm>
          <a:prstGeom prst="roundRect">
            <a:avLst>
              <a:gd name="adj" fmla="val 440000"/>
            </a:avLst>
          </a:prstGeom>
          <a:solidFill>
            <a:srgbClr val="242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948434" y="2303413"/>
            <a:ext cx="8809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ROLLED_BACK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091434" y="2227213"/>
            <a:ext cx="1104900" cy="285750"/>
          </a:xfrm>
          <a:prstGeom prst="roundRect">
            <a:avLst>
              <a:gd name="adj" fmla="val 440000"/>
            </a:avLst>
          </a:prstGeom>
          <a:solidFill>
            <a:srgbClr val="242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218384" y="2303413"/>
            <a:ext cx="8680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CIRCUIT_OPEN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8945" y="2639913"/>
            <a:ext cx="84461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1300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Makerの “done” では進まない。SHAとreceiptで進む。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1750" y="4411861"/>
            <a:ext cx="8280499" cy="0"/>
          </a:xfrm>
          <a:prstGeom prst="line">
            <a:avLst/>
          </a:prstGeom>
          <a:noFill/>
          <a:ln w="9525">
            <a:solidFill>
              <a:srgbClr val="2B37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1750" y="4505474"/>
            <a:ext cx="844610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090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LangChain: “loops are simple graphs”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31750" y="4864150"/>
            <a:ext cx="21457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18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MANAGER BUILDS LIFE MANAGER · ANICCA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1750" y="782538"/>
            <a:ext cx="8280499" cy="0"/>
          </a:xfrm>
          <a:prstGeom prst="line">
            <a:avLst/>
          </a:prstGeom>
          <a:noFill/>
          <a:ln w="9525">
            <a:solidFill>
              <a:srgbClr val="3340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1750" y="472976"/>
            <a:ext cx="5440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44D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5150" y="304205"/>
            <a:ext cx="7375734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Engineeringはpromptする人を置き換える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044898" y="1168152"/>
            <a:ext cx="977801" cy="444401"/>
          </a:xfrm>
          <a:prstGeom prst="roundRect">
            <a:avLst>
              <a:gd name="adj" fmla="val 20004"/>
            </a:avLst>
          </a:prstGeom>
          <a:solidFill>
            <a:srgbClr val="1B232D"/>
          </a:solidFill>
          <a:ln w="19050">
            <a:solidFill>
              <a:srgbClr val="44D7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158082" y="1314152"/>
            <a:ext cx="7514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098899" y="1257002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03699" y="1168152"/>
            <a:ext cx="977801" cy="444401"/>
          </a:xfrm>
          <a:prstGeom prst="roundRect">
            <a:avLst>
              <a:gd name="adj" fmla="val 20004"/>
            </a:avLst>
          </a:prstGeom>
          <a:solidFill>
            <a:srgbClr val="1B232D"/>
          </a:solidFill>
          <a:ln w="19050">
            <a:solidFill>
              <a:srgbClr val="44D7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516883" y="1314152"/>
            <a:ext cx="7514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57700" y="1257002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62500" y="1168152"/>
            <a:ext cx="977801" cy="444401"/>
          </a:xfrm>
          <a:prstGeom prst="roundRect">
            <a:avLst>
              <a:gd name="adj" fmla="val 20004"/>
            </a:avLst>
          </a:prstGeom>
          <a:solidFill>
            <a:srgbClr val="1B232D"/>
          </a:solidFill>
          <a:ln w="19050">
            <a:solidFill>
              <a:srgbClr val="F4B9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75684" y="1314152"/>
            <a:ext cx="7514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816501" y="1257002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121301" y="1168152"/>
            <a:ext cx="977801" cy="444401"/>
          </a:xfrm>
          <a:prstGeom prst="roundRect">
            <a:avLst>
              <a:gd name="adj" fmla="val 20004"/>
            </a:avLst>
          </a:prstGeom>
          <a:solidFill>
            <a:srgbClr val="1B232D"/>
          </a:solidFill>
          <a:ln w="19050">
            <a:solidFill>
              <a:srgbClr val="44D7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34485" y="1314152"/>
            <a:ext cx="7514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002036" y="1841153"/>
            <a:ext cx="977801" cy="444401"/>
          </a:xfrm>
          <a:prstGeom prst="roundRect">
            <a:avLst>
              <a:gd name="adj" fmla="val 20004"/>
            </a:avLst>
          </a:prstGeom>
          <a:solidFill>
            <a:srgbClr val="1B232D"/>
          </a:solidFill>
          <a:ln w="19050">
            <a:solidFill>
              <a:srgbClr val="44D7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115220" y="1987153"/>
            <a:ext cx="7514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56037" y="1930003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360837" y="1764953"/>
            <a:ext cx="1063377" cy="596801"/>
          </a:xfrm>
          <a:prstGeom prst="roundRect">
            <a:avLst>
              <a:gd name="adj" fmla="val 14896"/>
            </a:avLst>
          </a:prstGeom>
          <a:solidFill>
            <a:srgbClr val="1B232D"/>
          </a:solidFill>
          <a:ln w="19050">
            <a:solidFill>
              <a:srgbClr val="44D7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473165" y="1910953"/>
            <a:ext cx="83872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ROLLBACK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00414" y="1930003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05214" y="1841153"/>
            <a:ext cx="977801" cy="444401"/>
          </a:xfrm>
          <a:prstGeom prst="roundRect">
            <a:avLst>
              <a:gd name="adj" fmla="val 20004"/>
            </a:avLst>
          </a:prstGeom>
          <a:solidFill>
            <a:srgbClr val="1B232D"/>
          </a:solidFill>
          <a:ln w="19050">
            <a:solidFill>
              <a:srgbClr val="4DDB9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18397" y="1987153"/>
            <a:ext cx="7514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859214" y="1930003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164014" y="1841153"/>
            <a:ext cx="977801" cy="444401"/>
          </a:xfrm>
          <a:prstGeom prst="roundRect">
            <a:avLst>
              <a:gd name="adj" fmla="val 20004"/>
            </a:avLst>
          </a:prstGeom>
          <a:solidFill>
            <a:srgbClr val="1B232D"/>
          </a:solidFill>
          <a:ln w="19050">
            <a:solidFill>
              <a:srgbClr val="4DDB9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277198" y="1987153"/>
            <a:ext cx="7514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8945" y="2615654"/>
            <a:ext cx="8446109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Bef>
                <a:spcPts val="2000"/>
              </a:spcBef>
              <a:buNone/>
            </a:pPr>
            <a:r>
              <a:rPr lang="en-US" sz="300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closes at </a:t>
            </a:r>
            <a:pPr algn="ctr" indent="0" marL="0">
              <a:lnSpc>
                <a:spcPts val="3360"/>
              </a:lnSpc>
              <a:spcBef>
                <a:spcPts val="2000"/>
              </a:spcBef>
              <a:buNone/>
            </a:pPr>
            <a:r>
              <a:rPr lang="en-US" sz="3000" b="1" dirty="0">
                <a:solidFill>
                  <a:srgbClr val="4DDB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pPr algn="ctr" indent="0" marL="0">
              <a:lnSpc>
                <a:spcPts val="3360"/>
              </a:lnSpc>
              <a:spcBef>
                <a:spcPts val="2000"/>
              </a:spcBef>
              <a:buNone/>
            </a:pPr>
            <a:r>
              <a:rPr lang="en-US" sz="300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at merge.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431750" y="4411861"/>
            <a:ext cx="8280499" cy="0"/>
          </a:xfrm>
          <a:prstGeom prst="line">
            <a:avLst/>
          </a:prstGeom>
          <a:noFill/>
          <a:ln w="9525">
            <a:solidFill>
              <a:srgbClr val="2B374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1750" y="4505474"/>
            <a:ext cx="844610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090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Addy Osmani: “replacing yourself as the person who prompts the agent”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31750" y="4864150"/>
            <a:ext cx="21457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18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MANAGER BUILDS LIFE MANAGER · ANICCA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1750" y="782538"/>
            <a:ext cx="8280499" cy="0"/>
          </a:xfrm>
          <a:prstGeom prst="line">
            <a:avLst/>
          </a:prstGeom>
          <a:noFill/>
          <a:ln w="9525">
            <a:solidFill>
              <a:srgbClr val="3340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1750" y="472976"/>
            <a:ext cx="5440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44D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5150" y="304205"/>
            <a:ext cx="4714446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内側で観測し、外側で修正する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1750" y="1066651"/>
            <a:ext cx="8280499" cy="793700"/>
          </a:xfrm>
          <a:prstGeom prst="roundRect">
            <a:avLst>
              <a:gd name="adj" fmla="val 12801"/>
            </a:avLst>
          </a:prstGeom>
          <a:solidFill>
            <a:srgbClr val="1B23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74613" y="1066651"/>
            <a:ext cx="0" cy="793700"/>
          </a:xfrm>
          <a:prstGeom prst="line">
            <a:avLst/>
          </a:prstGeom>
          <a:noFill/>
          <a:ln w="85725">
            <a:solidFill>
              <a:srgbClr val="44D7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9875" y="1219051"/>
            <a:ext cx="804777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44D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PLANE · LIFE MANAGER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9875" y="1533376"/>
            <a:ext cx="8047774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 · travel · ask · writer · API → trace / metric / effect receipt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8945" y="1949202"/>
            <a:ext cx="84461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800" b="1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redacted, append-only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31750" y="2304752"/>
            <a:ext cx="8280499" cy="793700"/>
          </a:xfrm>
          <a:prstGeom prst="roundRect">
            <a:avLst>
              <a:gd name="adj" fmla="val 12801"/>
            </a:avLst>
          </a:prstGeom>
          <a:solidFill>
            <a:srgbClr val="1B23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4613" y="2304752"/>
            <a:ext cx="0" cy="793700"/>
          </a:xfrm>
          <a:prstGeom prst="line">
            <a:avLst/>
          </a:prstGeom>
          <a:noFill/>
          <a:ln w="85725">
            <a:solidFill>
              <a:srgbClr val="A98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875" y="2457152"/>
            <a:ext cx="804777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A9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SELF-BUILDER CONTROL PLANE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9875" y="2771477"/>
            <a:ext cx="8047774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Collector → Eval Builder → Maker → Checker → Promoter → Outcome Auditor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8945" y="3225403"/>
            <a:ext cx="84461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1300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has no merge credential. Maker has no production secret.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1750" y="4864150"/>
            <a:ext cx="21457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18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MANAGER BUILDS LIFE MANAGER · ANICCA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1750" y="782538"/>
            <a:ext cx="8280499" cy="0"/>
          </a:xfrm>
          <a:prstGeom prst="line">
            <a:avLst/>
          </a:prstGeom>
          <a:noFill/>
          <a:ln w="9525">
            <a:solidFill>
              <a:srgbClr val="3340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1750" y="472976"/>
            <a:ext cx="5440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44D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5150" y="304205"/>
            <a:ext cx="2245495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採用tool stack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1750" y="1066651"/>
            <a:ext cx="2683818" cy="720477"/>
          </a:xfrm>
          <a:prstGeom prst="roundRect">
            <a:avLst>
              <a:gd name="adj" fmla="val 14102"/>
            </a:avLst>
          </a:prstGeom>
          <a:solidFill>
            <a:srgbClr val="1B232D"/>
          </a:solidFill>
          <a:ln w="9525">
            <a:solidFill>
              <a:srgbClr val="2C394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68226" y="1203127"/>
            <a:ext cx="24590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44D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OpenTelemetry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8226" y="1492002"/>
            <a:ext cx="2459084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 standard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17069" y="1066651"/>
            <a:ext cx="2683818" cy="720477"/>
          </a:xfrm>
          <a:prstGeom prst="roundRect">
            <a:avLst>
              <a:gd name="adj" fmla="val 14102"/>
            </a:avLst>
          </a:prstGeom>
          <a:solidFill>
            <a:srgbClr val="1B232D"/>
          </a:solidFill>
          <a:ln w="9525">
            <a:solidFill>
              <a:srgbClr val="2C394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53544" y="1203127"/>
            <a:ext cx="24590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44D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Langfuse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53544" y="1492002"/>
            <a:ext cx="2459084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/ Eval UI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02387" y="1066651"/>
            <a:ext cx="2683818" cy="720477"/>
          </a:xfrm>
          <a:prstGeom prst="roundRect">
            <a:avLst>
              <a:gd name="adj" fmla="val 14102"/>
            </a:avLst>
          </a:prstGeom>
          <a:solidFill>
            <a:srgbClr val="1B232D"/>
          </a:solidFill>
          <a:ln w="9525">
            <a:solidFill>
              <a:srgbClr val="2C394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38863" y="1203127"/>
            <a:ext cx="24590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A9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Inngest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38863" y="1492002"/>
            <a:ext cx="2459084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Graph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1750" y="1888629"/>
            <a:ext cx="2683818" cy="720477"/>
          </a:xfrm>
          <a:prstGeom prst="roundRect">
            <a:avLst>
              <a:gd name="adj" fmla="val 14102"/>
            </a:avLst>
          </a:prstGeom>
          <a:solidFill>
            <a:srgbClr val="1B232D"/>
          </a:solidFill>
          <a:ln w="9525">
            <a:solidFill>
              <a:srgbClr val="2C394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68226" y="2025104"/>
            <a:ext cx="24590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A9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8226" y="2313980"/>
            <a:ext cx="2459084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 / Audit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17069" y="1888629"/>
            <a:ext cx="2683818" cy="720477"/>
          </a:xfrm>
          <a:prstGeom prst="roundRect">
            <a:avLst>
              <a:gd name="adj" fmla="val 14102"/>
            </a:avLst>
          </a:prstGeom>
          <a:solidFill>
            <a:srgbClr val="1B232D"/>
          </a:solidFill>
          <a:ln w="9525">
            <a:solidFill>
              <a:srgbClr val="2C394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353544" y="2025104"/>
            <a:ext cx="24590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53544" y="2313980"/>
            <a:ext cx="2459084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/ PR / Gates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02387" y="1888629"/>
            <a:ext cx="2683818" cy="720477"/>
          </a:xfrm>
          <a:prstGeom prst="roundRect">
            <a:avLst>
              <a:gd name="adj" fmla="val 14102"/>
            </a:avLst>
          </a:prstGeom>
          <a:solidFill>
            <a:srgbClr val="1B232D"/>
          </a:solidFill>
          <a:ln w="9525">
            <a:solidFill>
              <a:srgbClr val="2C394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38863" y="2025104"/>
            <a:ext cx="24590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4DDB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Mixpanel + Sentry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38863" y="2313980"/>
            <a:ext cx="2459084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/ Error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1750" y="2710607"/>
            <a:ext cx="2683818" cy="720477"/>
          </a:xfrm>
          <a:prstGeom prst="roundRect">
            <a:avLst>
              <a:gd name="adj" fmla="val 14102"/>
            </a:avLst>
          </a:prstGeom>
          <a:solidFill>
            <a:srgbClr val="1B232D"/>
          </a:solidFill>
          <a:ln w="9525">
            <a:solidFill>
              <a:srgbClr val="2C394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68226" y="2847082"/>
            <a:ext cx="24590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Terra / Sol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8226" y="3135957"/>
            <a:ext cx="2459084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1750" y="4864150"/>
            <a:ext cx="21457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18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MANAGER BUILDS LIFE MANAGER · ANICCA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1750" y="782538"/>
            <a:ext cx="8280499" cy="0"/>
          </a:xfrm>
          <a:prstGeom prst="line">
            <a:avLst/>
          </a:prstGeom>
          <a:noFill/>
          <a:ln w="9525">
            <a:solidFill>
              <a:srgbClr val="3340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1750" y="472976"/>
            <a:ext cx="5440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44D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5150" y="304205"/>
            <a:ext cx="202052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現在あるもの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1750" y="1066651"/>
            <a:ext cx="4076700" cy="891927"/>
          </a:xfrm>
          <a:prstGeom prst="roundRect">
            <a:avLst>
              <a:gd name="adj" fmla="val 11391"/>
            </a:avLst>
          </a:prstGeom>
          <a:solidFill>
            <a:srgbClr val="1B232D"/>
          </a:solidFill>
          <a:ln w="9525">
            <a:solidFill>
              <a:srgbClr val="4DDB9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253877"/>
            <a:ext cx="377629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4DDB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Inngest functions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8976" y="1580852"/>
            <a:ext cx="37762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product graph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35401" y="1066651"/>
            <a:ext cx="4076700" cy="891927"/>
          </a:xfrm>
          <a:prstGeom prst="roundRect">
            <a:avLst>
              <a:gd name="adj" fmla="val 11391"/>
            </a:avLst>
          </a:prstGeom>
          <a:solidFill>
            <a:srgbClr val="1B232D"/>
          </a:solidFill>
          <a:ln w="9525">
            <a:solidFill>
              <a:srgbClr val="4DDB9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22627" y="1253877"/>
            <a:ext cx="377629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4DDB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isolation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22627" y="1580852"/>
            <a:ext cx="37762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failure does not stop all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1750" y="2085529"/>
            <a:ext cx="4076700" cy="891927"/>
          </a:xfrm>
          <a:prstGeom prst="roundRect">
            <a:avLst>
              <a:gd name="adj" fmla="val 11391"/>
            </a:avLst>
          </a:prstGeom>
          <a:solidFill>
            <a:srgbClr val="1B232D"/>
          </a:solidFill>
          <a:ln w="9525">
            <a:solidFill>
              <a:srgbClr val="4DDB9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8976" y="2272754"/>
            <a:ext cx="377629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4DDB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eval / tests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8976" y="2599730"/>
            <a:ext cx="37762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contracts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35401" y="2085529"/>
            <a:ext cx="4076700" cy="891927"/>
          </a:xfrm>
          <a:prstGeom prst="roundRect">
            <a:avLst>
              <a:gd name="adj" fmla="val 11391"/>
            </a:avLst>
          </a:prstGeom>
          <a:solidFill>
            <a:srgbClr val="1B232D"/>
          </a:solidFill>
          <a:ln w="9525">
            <a:solidFill>
              <a:srgbClr val="4DDB9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22627" y="2272754"/>
            <a:ext cx="377629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4DDB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Receipts / signals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22627" y="2599730"/>
            <a:ext cx="37762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and product evidence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1750" y="3104406"/>
            <a:ext cx="4076700" cy="891927"/>
          </a:xfrm>
          <a:prstGeom prst="roundRect">
            <a:avLst>
              <a:gd name="adj" fmla="val 11391"/>
            </a:avLst>
          </a:prstGeom>
          <a:solidFill>
            <a:srgbClr val="1B232D"/>
          </a:solidFill>
          <a:ln w="9525">
            <a:solidFill>
              <a:srgbClr val="4DDB9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18976" y="3291632"/>
            <a:ext cx="377629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4DDB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gates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8976" y="3618607"/>
            <a:ext cx="37762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+ protected branch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35401" y="3104406"/>
            <a:ext cx="4076700" cy="891927"/>
          </a:xfrm>
          <a:prstGeom prst="roundRect">
            <a:avLst>
              <a:gd name="adj" fmla="val 11391"/>
            </a:avLst>
          </a:prstGeom>
          <a:solidFill>
            <a:srgbClr val="1B232D"/>
          </a:solidFill>
          <a:ln w="9525">
            <a:solidFill>
              <a:srgbClr val="4DDB9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22627" y="3291632"/>
            <a:ext cx="377629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4DDB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Holdout / revert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22627" y="3618607"/>
            <a:ext cx="37762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Writer patterns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1750" y="4864150"/>
            <a:ext cx="21457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18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MANAGER BUILDS LIFE MANAGER · ANICCA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1750" y="782538"/>
            <a:ext cx="8280499" cy="0"/>
          </a:xfrm>
          <a:prstGeom prst="line">
            <a:avLst/>
          </a:prstGeom>
          <a:noFill/>
          <a:ln w="9525">
            <a:solidFill>
              <a:srgbClr val="3340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1750" y="472976"/>
            <a:ext cx="5440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44D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5150" y="304205"/>
            <a:ext cx="202052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まだないもの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1750" y="1066651"/>
            <a:ext cx="4076700" cy="891927"/>
          </a:xfrm>
          <a:prstGeom prst="roundRect">
            <a:avLst>
              <a:gd name="adj" fmla="val 11391"/>
            </a:avLst>
          </a:prstGeom>
          <a:solidFill>
            <a:srgbClr val="1B232D"/>
          </a:solidFill>
          <a:ln w="9525">
            <a:solidFill>
              <a:srgbClr val="F4B9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253877"/>
            <a:ext cx="377629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OTel envelope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8976" y="1580852"/>
            <a:ext cx="37762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35401" y="1066651"/>
            <a:ext cx="4076700" cy="891927"/>
          </a:xfrm>
          <a:prstGeom prst="roundRect">
            <a:avLst>
              <a:gd name="adj" fmla="val 11391"/>
            </a:avLst>
          </a:prstGeom>
          <a:solidFill>
            <a:srgbClr val="1B232D"/>
          </a:solidFill>
          <a:ln w="9525">
            <a:solidFill>
              <a:srgbClr val="F4B9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22627" y="1253877"/>
            <a:ext cx="377629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cluster store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22627" y="1580852"/>
            <a:ext cx="37762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1750" y="2085529"/>
            <a:ext cx="4076700" cy="891927"/>
          </a:xfrm>
          <a:prstGeom prst="roundRect">
            <a:avLst>
              <a:gd name="adj" fmla="val 11391"/>
            </a:avLst>
          </a:prstGeom>
          <a:solidFill>
            <a:srgbClr val="1B232D"/>
          </a:solidFill>
          <a:ln w="9525">
            <a:solidFill>
              <a:srgbClr val="F4B9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8976" y="2272754"/>
            <a:ext cx="377629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Eval factory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8976" y="2599730"/>
            <a:ext cx="37762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35401" y="2085529"/>
            <a:ext cx="4076700" cy="891927"/>
          </a:xfrm>
          <a:prstGeom prst="roundRect">
            <a:avLst>
              <a:gd name="adj" fmla="val 11391"/>
            </a:avLst>
          </a:prstGeom>
          <a:solidFill>
            <a:srgbClr val="1B232D"/>
          </a:solidFill>
          <a:ln w="9525">
            <a:solidFill>
              <a:srgbClr val="F4B9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22627" y="2272754"/>
            <a:ext cx="377629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Issue projector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22627" y="2599730"/>
            <a:ext cx="37762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1750" y="3104406"/>
            <a:ext cx="4076700" cy="891927"/>
          </a:xfrm>
          <a:prstGeom prst="roundRect">
            <a:avLst>
              <a:gd name="adj" fmla="val 11391"/>
            </a:avLst>
          </a:prstGeom>
          <a:solidFill>
            <a:srgbClr val="1B232D"/>
          </a:solidFill>
          <a:ln w="9525">
            <a:solidFill>
              <a:srgbClr val="F4B9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18976" y="3291632"/>
            <a:ext cx="377629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Maker / Checker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8976" y="3618607"/>
            <a:ext cx="37762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dispatcher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35401" y="3104406"/>
            <a:ext cx="4076700" cy="891927"/>
          </a:xfrm>
          <a:prstGeom prst="roundRect">
            <a:avLst>
              <a:gd name="adj" fmla="val 11391"/>
            </a:avLst>
          </a:prstGeom>
          <a:solidFill>
            <a:srgbClr val="1B232D"/>
          </a:solidFill>
          <a:ln w="9525">
            <a:solidFill>
              <a:srgbClr val="F4B9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22627" y="3291632"/>
            <a:ext cx="377629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Canary → outcome lineage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22627" y="3618607"/>
            <a:ext cx="37762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8945" y="4123283"/>
            <a:ext cx="844610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13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Productionで自己mergeするclosed loopは、まだ完成していない。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1750" y="4864150"/>
            <a:ext cx="21457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18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MANAGER BUILDS LIFE MANAGER · ANICCA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1750" y="782538"/>
            <a:ext cx="8280499" cy="0"/>
          </a:xfrm>
          <a:prstGeom prst="line">
            <a:avLst/>
          </a:prstGeom>
          <a:noFill/>
          <a:ln w="9525">
            <a:solidFill>
              <a:srgbClr val="3340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1750" y="472976"/>
            <a:ext cx="5440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44D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5150" y="304205"/>
            <a:ext cx="3032147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最初のvertical slice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044898" y="1269802"/>
            <a:ext cx="977801" cy="444401"/>
          </a:xfrm>
          <a:prstGeom prst="roundRect">
            <a:avLst>
              <a:gd name="adj" fmla="val 20004"/>
            </a:avLst>
          </a:prstGeom>
          <a:solidFill>
            <a:srgbClr val="1B232D"/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158082" y="1415802"/>
            <a:ext cx="7514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098899" y="1358652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03699" y="1269802"/>
            <a:ext cx="977801" cy="444401"/>
          </a:xfrm>
          <a:prstGeom prst="roundRect">
            <a:avLst>
              <a:gd name="adj" fmla="val 20004"/>
            </a:avLst>
          </a:prstGeom>
          <a:solidFill>
            <a:srgbClr val="1B232D"/>
          </a:solidFill>
          <a:ln w="19050">
            <a:solidFill>
              <a:srgbClr val="44D7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516883" y="1415802"/>
            <a:ext cx="7514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57700" y="1358652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62500" y="1269802"/>
            <a:ext cx="977801" cy="444401"/>
          </a:xfrm>
          <a:prstGeom prst="roundRect">
            <a:avLst>
              <a:gd name="adj" fmla="val 20004"/>
            </a:avLst>
          </a:prstGeom>
          <a:solidFill>
            <a:srgbClr val="1B232D"/>
          </a:solidFill>
          <a:ln w="19050">
            <a:solidFill>
              <a:srgbClr val="44D7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75684" y="1415802"/>
            <a:ext cx="7514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816501" y="1358652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121301" y="1193602"/>
            <a:ext cx="977801" cy="596801"/>
          </a:xfrm>
          <a:prstGeom prst="roundRect">
            <a:avLst>
              <a:gd name="adj" fmla="val 14896"/>
            </a:avLst>
          </a:prstGeom>
          <a:solidFill>
            <a:srgbClr val="1B232D"/>
          </a:solidFill>
          <a:ln w="19050">
            <a:solidFill>
              <a:srgbClr val="F4B9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34485" y="1339602"/>
            <a:ext cx="7514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044898" y="2031653"/>
            <a:ext cx="977801" cy="444401"/>
          </a:xfrm>
          <a:prstGeom prst="roundRect">
            <a:avLst>
              <a:gd name="adj" fmla="val 20004"/>
            </a:avLst>
          </a:prstGeom>
          <a:solidFill>
            <a:srgbClr val="1B232D"/>
          </a:solidFill>
          <a:ln w="19050">
            <a:solidFill>
              <a:srgbClr val="44D7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158082" y="2177653"/>
            <a:ext cx="7514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98899" y="2120503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403699" y="1955453"/>
            <a:ext cx="977801" cy="596801"/>
          </a:xfrm>
          <a:prstGeom prst="roundRect">
            <a:avLst>
              <a:gd name="adj" fmla="val 14896"/>
            </a:avLst>
          </a:prstGeom>
          <a:solidFill>
            <a:srgbClr val="1B232D"/>
          </a:solidFill>
          <a:ln w="19050">
            <a:solidFill>
              <a:srgbClr val="44D7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516883" y="2101453"/>
            <a:ext cx="7514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457700" y="2120503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62500" y="2031653"/>
            <a:ext cx="977801" cy="444401"/>
          </a:xfrm>
          <a:prstGeom prst="roundRect">
            <a:avLst>
              <a:gd name="adj" fmla="val 20004"/>
            </a:avLst>
          </a:prstGeom>
          <a:solidFill>
            <a:srgbClr val="1B232D"/>
          </a:solidFill>
          <a:ln w="19050">
            <a:solidFill>
              <a:srgbClr val="44D7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75684" y="2177653"/>
            <a:ext cx="7514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816501" y="2120503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121301" y="1955453"/>
            <a:ext cx="977801" cy="596801"/>
          </a:xfrm>
          <a:prstGeom prst="roundRect">
            <a:avLst>
              <a:gd name="adj" fmla="val 14896"/>
            </a:avLst>
          </a:prstGeom>
          <a:solidFill>
            <a:srgbClr val="1B232D"/>
          </a:solidFill>
          <a:ln w="19050">
            <a:solidFill>
              <a:srgbClr val="4DDB9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234485" y="2101453"/>
            <a:ext cx="7514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8945" y="2780854"/>
            <a:ext cx="8446109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Bef>
                <a:spcPts val="1800"/>
              </a:spcBef>
              <a:buNone/>
            </a:pPr>
            <a:r>
              <a:rPr lang="en-US" sz="300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failure. </a:t>
            </a:r>
            <a:pPr algn="ctr" indent="0" marL="0">
              <a:lnSpc>
                <a:spcPts val="3360"/>
              </a:lnSpc>
              <a:spcBef>
                <a:spcPts val="1800"/>
              </a:spcBef>
              <a:buNone/>
            </a:pPr>
            <a:r>
              <a:rPr lang="en-US" sz="3000" b="1" dirty="0">
                <a:solidFill>
                  <a:srgbClr val="4DDB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lineage.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431750" y="4864150"/>
            <a:ext cx="21457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18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MANAGER BUILDS LIFE MANAGER · ANICCA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1750" y="782538"/>
            <a:ext cx="8280499" cy="0"/>
          </a:xfrm>
          <a:prstGeom prst="line">
            <a:avLst/>
          </a:prstGeom>
          <a:noFill/>
          <a:ln w="9525">
            <a:solidFill>
              <a:srgbClr val="3340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1750" y="472976"/>
            <a:ext cx="5440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44D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5150" y="304205"/>
            <a:ext cx="2694533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自動mergeは契約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31750" y="1066651"/>
            <a:ext cx="4839593" cy="2311747"/>
          </a:xfrm>
          <a:prstGeom prst="roundRect">
            <a:avLst>
              <a:gd name="adj" fmla="val 4395"/>
            </a:avLst>
          </a:prstGeom>
          <a:solidFill>
            <a:srgbClr val="0C1116"/>
          </a:solidFill>
          <a:ln w="9525">
            <a:solidFill>
              <a:srgbClr val="2B374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1775" y="1266676"/>
            <a:ext cx="4528334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allowlisted_low_risk: </a:t>
            </a:r>
            <a:pPr algn="l" indent="0" marL="0">
              <a:lnSpc>
                <a:spcPts val="1495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4DDB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1775" y="1532632"/>
            <a:ext cx="4528334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baseline: </a:t>
            </a:r>
            <a:pPr algn="l" indent="0" marL="0">
              <a:lnSpc>
                <a:spcPts val="1495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1775" y="1798588"/>
            <a:ext cx="4528334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candidate: </a:t>
            </a:r>
            <a:pPr algn="l" indent="0" marL="0">
              <a:lnSpc>
                <a:spcPts val="1495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4DDB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1775" y="2064544"/>
            <a:ext cx="4528334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sealed_holdout_delta: </a:t>
            </a:r>
            <a:pPr algn="l" indent="0" marL="0">
              <a:lnSpc>
                <a:spcPts val="1495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4DDB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"&gt;= 0"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1775" y="2330500"/>
            <a:ext cx="4528334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security_regression: </a:t>
            </a:r>
            <a:pPr algn="l" indent="0" marL="0">
              <a:lnSpc>
                <a:spcPts val="1495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4DDB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1775" y="2596455"/>
            <a:ext cx="4528334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sensitive_path: </a:t>
            </a:r>
            <a:pPr algn="l" indent="0" marL="0">
              <a:lnSpc>
                <a:spcPts val="1495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4DDB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1775" y="2862411"/>
            <a:ext cx="4528334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4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rollback_ready: </a:t>
            </a:r>
            <a:pPr algn="l" indent="0" marL="0">
              <a:lnSpc>
                <a:spcPts val="1495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4DDB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23743" y="1066651"/>
            <a:ext cx="3288506" cy="1092398"/>
          </a:xfrm>
          <a:prstGeom prst="roundRect">
            <a:avLst>
              <a:gd name="adj" fmla="val 9301"/>
            </a:avLst>
          </a:prstGeom>
          <a:solidFill>
            <a:srgbClr val="1B232D"/>
          </a:solidFill>
          <a:ln w="9525">
            <a:solidFill>
              <a:srgbClr val="4DDB9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610969" y="1253877"/>
            <a:ext cx="297233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4DDB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TRUE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10969" y="1580852"/>
            <a:ext cx="2972336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423743" y="2286000"/>
            <a:ext cx="3288506" cy="1092398"/>
          </a:xfrm>
          <a:prstGeom prst="roundRect">
            <a:avLst>
              <a:gd name="adj" fmla="val 9301"/>
            </a:avLst>
          </a:prstGeom>
          <a:solidFill>
            <a:srgbClr val="1B232D"/>
          </a:solidFill>
          <a:ln w="952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610969" y="2473226"/>
            <a:ext cx="297233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10969" y="2800201"/>
            <a:ext cx="2972336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QUARANTINE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31750" y="4864150"/>
            <a:ext cx="21457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18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MANAGER BUILDS LIFE MANAGER · ANICCA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1750" y="782538"/>
            <a:ext cx="8280499" cy="0"/>
          </a:xfrm>
          <a:prstGeom prst="line">
            <a:avLst/>
          </a:prstGeom>
          <a:noFill/>
          <a:ln w="9525">
            <a:solidFill>
              <a:srgbClr val="3340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1750" y="472976"/>
            <a:ext cx="5440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44D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5150" y="304205"/>
            <a:ext cx="3610371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Human Loopの境界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74613" y="1066651"/>
            <a:ext cx="0" cy="1094780"/>
          </a:xfrm>
          <a:prstGeom prst="line">
            <a:avLst/>
          </a:prstGeom>
          <a:noFill/>
          <a:ln w="85725">
            <a:solidFill>
              <a:srgbClr val="44D7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7975" y="1066651"/>
            <a:ext cx="8164360" cy="109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50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humans from </a:t>
            </a:r>
            <a:pPr algn="l" indent="0" marL="0">
              <a:lnSpc>
                <a:spcPts val="2875"/>
              </a:lnSpc>
              <a:buNone/>
            </a:pPr>
            <a:r>
              <a:rPr lang="en-US" sz="2500" b="1" dirty="0">
                <a:solidFill>
                  <a:srgbClr val="4DDB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pPr algn="l" indent="0" marL="0">
              <a:lnSpc>
                <a:spcPts val="2875"/>
              </a:lnSpc>
              <a:buNone/>
            </a:pPr>
            <a:r>
              <a:rPr lang="en-US" sz="250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500" dirty="0"/>
          </a:p>
          <a:p>
            <a:pPr algn="l" indent="0" marL="0">
              <a:lnSpc>
                <a:spcPts val="2875"/>
              </a:lnSpc>
              <a:buNone/>
            </a:pPr>
            <a:r>
              <a:rPr lang="en-US" sz="250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 humans into </a:t>
            </a:r>
            <a:endParaRPr lang="en-US" sz="2500" dirty="0"/>
          </a:p>
          <a:p>
            <a:pPr algn="l" indent="0" marL="0">
              <a:lnSpc>
                <a:spcPts val="2875"/>
              </a:lnSpc>
              <a:buNone/>
            </a:pPr>
            <a:r>
              <a:rPr lang="en-US" sz="25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goals, evidence, permissions, rollback.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31750" y="2453432"/>
            <a:ext cx="4064050" cy="1082427"/>
          </a:xfrm>
          <a:prstGeom prst="roundRect">
            <a:avLst>
              <a:gd name="adj" fmla="val 9386"/>
            </a:avLst>
          </a:prstGeom>
          <a:solidFill>
            <a:srgbClr val="1B232D"/>
          </a:solidFill>
          <a:ln w="9525">
            <a:solidFill>
              <a:srgbClr val="2C394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18976" y="2640657"/>
            <a:ext cx="376339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4DDB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MUTABLE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8976" y="2967633"/>
            <a:ext cx="376339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· tool · local code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· retry · worker config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48200" y="2453432"/>
            <a:ext cx="4064050" cy="1082427"/>
          </a:xfrm>
          <a:prstGeom prst="roundRect">
            <a:avLst>
              <a:gd name="adj" fmla="val 9386"/>
            </a:avLst>
          </a:prstGeom>
          <a:solidFill>
            <a:srgbClr val="1B232D"/>
          </a:solidFill>
          <a:ln w="9525">
            <a:solidFill>
              <a:srgbClr val="F4B9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35426" y="2640657"/>
            <a:ext cx="376339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35426" y="2967633"/>
            <a:ext cx="376339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· policy · secret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EA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sealed holdout · promoter · audit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1750" y="4864150"/>
            <a:ext cx="21457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18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MANAGER BUILDS LIFE MANAGER · ANICCA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8945" y="1376363"/>
            <a:ext cx="84461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44D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TAKEAWAY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48945" y="1681163"/>
            <a:ext cx="8446109" cy="522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16"/>
              </a:lnSpc>
              <a:buNone/>
            </a:pPr>
            <a:r>
              <a:rPr lang="en-US" sz="4200" b="1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Self-improving AI is not a model.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48945" y="2406997"/>
            <a:ext cx="8446109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Bef>
                <a:spcPts val="1600"/>
              </a:spcBef>
              <a:buNone/>
            </a:pPr>
            <a:r>
              <a:rPr lang="en-US" sz="300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 loop that can </a:t>
            </a:r>
            <a:pPr algn="ctr" indent="0" marL="0">
              <a:lnSpc>
                <a:spcPts val="3360"/>
              </a:lnSpc>
              <a:spcBef>
                <a:spcPts val="1600"/>
              </a:spcBef>
              <a:buNone/>
            </a:pPr>
            <a:r>
              <a:rPr lang="en-US" sz="3000" b="1" dirty="0">
                <a:solidFill>
                  <a:srgbClr val="4DDB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</a:t>
            </a:r>
            <a:pPr algn="ctr" indent="0" marL="0">
              <a:lnSpc>
                <a:spcPts val="3360"/>
              </a:lnSpc>
              <a:spcBef>
                <a:spcPts val="1600"/>
              </a:spcBef>
              <a:buNone/>
            </a:pPr>
            <a:r>
              <a:rPr lang="en-US" sz="3000" dirty="0">
                <a:solidFill>
                  <a:srgbClr val="F4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 got better.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056954" y="3227338"/>
            <a:ext cx="1454497" cy="285750"/>
          </a:xfrm>
          <a:prstGeom prst="roundRect">
            <a:avLst>
              <a:gd name="adj" fmla="val 440000"/>
            </a:avLst>
          </a:prstGeom>
          <a:solidFill>
            <a:srgbClr val="242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171898" y="3303538"/>
            <a:ext cx="12246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D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HONESTLY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587651" y="3227338"/>
            <a:ext cx="1839516" cy="285750"/>
          </a:xfrm>
          <a:prstGeom prst="roundRect">
            <a:avLst>
              <a:gd name="adj" fmla="val 440000"/>
            </a:avLst>
          </a:prstGeom>
          <a:solidFill>
            <a:srgbClr val="242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698745" y="3303538"/>
            <a:ext cx="16173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INDEPENDENTLY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503366" y="3227338"/>
            <a:ext cx="1583531" cy="285750"/>
          </a:xfrm>
          <a:prstGeom prst="roundRect">
            <a:avLst>
              <a:gd name="adj" fmla="val 440000"/>
            </a:avLst>
          </a:prstGeom>
          <a:solidFill>
            <a:srgbClr val="242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617020" y="3303538"/>
            <a:ext cx="13562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DB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REVERSIBLY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1750" y="4864150"/>
            <a:ext cx="21457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718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MANAGER BUILDS LIFE MANAGER · ANICCA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Anicca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 Manager Builds Life Manager</dc:title>
  <dc:subject>Self-improving AI architecture</dc:subject>
  <dc:creator>Anicca</dc:creator>
  <cp:lastModifiedBy>Anicca</cp:lastModifiedBy>
  <cp:revision>1</cp:revision>
  <dcterms:created xsi:type="dcterms:W3CDTF">2026-07-29T17:04:20Z</dcterms:created>
  <dcterms:modified xsi:type="dcterms:W3CDTF">2026-07-29T17:04:20Z</dcterms:modified>
</cp:coreProperties>
</file>