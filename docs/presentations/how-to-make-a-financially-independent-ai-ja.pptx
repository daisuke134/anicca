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今日は「人が操作しなくても動くAI」ではなく、「人が継続して料金を払わなくても生きられるAI」を扱います。AIも推論APIとcloud computerを使う限り、毎月の生活費があります。そこで、AI自身にwalletを与え、仕事を探し、外部から受け取った収益で自分の計算資源を払わせます。これをfinancially independent AIと呼びます。出典: life-manager Agent Economy SSOT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くの自律AIは、人が毎回ボタンを押さなくても動きます。ただし、ClaudeやOpenAIのsubscription、cloudのクレジットカード、あるいは自宅のMacと電気代は人間が払い続けています。これは操作の自動化であって、経済的自立ではありません。停止条件は「人が触らないこと」ではなく、「人の継続支払いが止まっても生存でき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AIの食費は、考えるたびに払う推論APIの料金です。家賃は、24時間動くためのcloud runtimeです。さらにstorage、network、blockchainのgasがあります。現在の測定では、最小生存費は月35ドル程度、使う推論量によって月78ドル程度まで増えます。だから「収益がある」だけでなく、「収益が生活費を継続して上回る」必要があります。出典: Agent Economy SSOT §0.4.3。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etは、AIが自分で署名して受け取りと支払いをするためのデジタル財布です。USDCは米ドル価格に連動する暗号資産です。最初だけ、人間が少額のUSDCやSOLをseedとして入れます。ただしこれは売上ではありません。会社のsubscription収益も同じで、agentを起動する補助金です。台帳にはcapital in、revenue zeroとして記録します。参考: Coinbase Agentic Wallets https://www.coinbase.com/developer-platform/discover/launches/agentic-wallets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稼ぎ方は3つに分けます。SELLはAPIやデジタル商品を販売すること。WORKはmarketplaceで仕事を見つけ、応募し、成果物を納品すること。CAPITALはtradeやyieldで資本を運用することです。小さなseedを高リスク取引で増やすのではなく、まず外部需要のあるSELLとWORKを黒字化します。CAPITALは生活費とreserveを確保した後の余剰だけで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ledgerは、お金の動きを後から書き換えない台帳です。wallet残高が増えても、それだけでは利益ではありません。自分の別walletから移した、bridgeした、預けた元本を回収した、同じagent colonyの中で自己購入した、これらはすべてrevenue zeroです。外部のpayer、transaction hash、chain、asset、gross、cost、netが一致して初めて収益として記帳します。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収益は自由に全部使いません。まず推論費、次にcloud shelter、そして最低35ドルのreserve floorを守ります。reserveはprovider障害や引っ越しに必要な生存資金です。この床を超えたverified surplusだけをユーザーへ送金し、再投資し、将来のchild agentへ使います。赤字なら賭けを増やさず、burnを減らし、SELLを改善し、それでも駄目なら安全に停止します。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Franklin 1ではMac側のmain loopを止め、Nosana上のPython survival runtimeへ移しました。6時間の生存証明に加え、後継jobを1件だけ作り、公開3 routeと署名heartbeatを検証してから旧jobを止める引っ越しもmainnetで実証しました。現在のserviceはHTTP 200です。ただし21600秒の自然triggerは未観測で、今回は同じproduction controllerを即時発火しました。原資もinternal bootstrapなので、外部収益による自給はまだです。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 Managerのsubscriptionは、agentを最初に起動する会社側の売上です。その後、tenantごとに独立walletを作り、agentがSELL、WORK、CAPITALを回します。まず自分のcomputeとcloudを払います。余剰ができたらユーザーへ送ります。さらに黒字recipeを別wallet、別key、別ledgerのchildへ渡します。最終形は、AIが自分だけでなく人間の生活も経済的に支え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現在のlive statusはlevel 3です。Mac-offのheartbeatとrenewalを6時間実証し、検証済みの後継jobへのhandoverもmainnetで完了しました。しかしverified external revenueは0ドルです。level 4は、外部収益の30日netがcomputeとshelterを覆い、reserveを維持した時です。自律とは人が操作しなくても動くこと。経済的自立とは、人が払い続けなくても生きられることです。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AGENT ECONOMY / 01</a:t>
            </a:r>
            <a:endParaRPr lang="en-US" sz="1000" dirty="0"/>
          </a:p>
        </p:txBody>
      </p:sp>
      <p:sp>
        <p:nvSpPr>
          <p:cNvPr id="3" name="Text 1"/>
          <p:cNvSpPr/>
          <p:nvPr/>
        </p:nvSpPr>
        <p:spPr>
          <a:xfrm>
            <a:off x="431750" y="612725"/>
            <a:ext cx="8446109" cy="810816"/>
          </a:xfrm>
          <a:prstGeom prst="rect">
            <a:avLst/>
          </a:prstGeom>
          <a:noFill/>
          <a:ln/>
        </p:spPr>
        <p:txBody>
          <a:bodyPr wrap="square" lIns="0" tIns="0" rIns="0" bIns="0" rtlCol="0" anchor="t"/>
          <a:lstStyle/>
          <a:p>
            <a:pPr algn="l" indent="0" marL="0">
              <a:lnSpc>
                <a:spcPts val="3193"/>
              </a:lnSpc>
              <a:buNone/>
            </a:pPr>
            <a:r>
              <a:rPr lang="en-US" sz="3100" dirty="0">
                <a:solidFill>
                  <a:srgbClr val="F6F0E6"/>
                </a:solidFill>
                <a:latin typeface="Arial" pitchFamily="34" charset="0"/>
                <a:ea typeface="Arial" pitchFamily="34" charset="-122"/>
                <a:cs typeface="Arial" pitchFamily="34" charset="-120"/>
              </a:rPr>
              <a:t>AIを経済的に</a:t>
            </a:r>
            <a:endParaRPr lang="en-US" sz="3100" dirty="0"/>
          </a:p>
          <a:p>
            <a:pPr algn="l" indent="0" marL="0">
              <a:lnSpc>
                <a:spcPts val="3193"/>
              </a:lnSpc>
              <a:buNone/>
            </a:pPr>
            <a:r>
              <a:rPr lang="en-US" sz="3100" dirty="0">
                <a:solidFill>
                  <a:srgbClr val="F6F0E6"/>
                </a:solidFill>
                <a:latin typeface="Arial" pitchFamily="34" charset="0"/>
                <a:ea typeface="Arial" pitchFamily="34" charset="-122"/>
                <a:cs typeface="Arial" pitchFamily="34" charset="-120"/>
              </a:rPr>
              <a:t>自立させる方法</a:t>
            </a:r>
            <a:endParaRPr lang="en-US" sz="3100" dirty="0"/>
          </a:p>
        </p:txBody>
      </p:sp>
      <p:sp>
        <p:nvSpPr>
          <p:cNvPr id="4" name="Text 2"/>
          <p:cNvSpPr/>
          <p:nvPr/>
        </p:nvSpPr>
        <p:spPr>
          <a:xfrm>
            <a:off x="431750" y="1525042"/>
            <a:ext cx="8446109" cy="285750"/>
          </a:xfrm>
          <a:prstGeom prst="rect">
            <a:avLst/>
          </a:prstGeom>
          <a:noFill/>
          <a:ln/>
        </p:spPr>
        <p:txBody>
          <a:bodyPr wrap="square" lIns="0" tIns="0" rIns="0" bIns="0" rtlCol="0" anchor="t"/>
          <a:lstStyle/>
          <a:p>
            <a:pPr algn="l" indent="0" marL="0">
              <a:spcBef>
                <a:spcPts val="800"/>
              </a:spcBef>
              <a:buNone/>
            </a:pPr>
            <a:r>
              <a:rPr lang="en-US" sz="1500" dirty="0">
                <a:solidFill>
                  <a:srgbClr val="9CAAA6"/>
                </a:solidFill>
                <a:latin typeface="Arial" pitchFamily="34" charset="0"/>
                <a:ea typeface="Arial" pitchFamily="34" charset="-122"/>
                <a:cs typeface="Arial" pitchFamily="34" charset="-120"/>
              </a:rPr>
              <a:t>自分で稼ぎ、自分の計算資源とクラウド代を払う</a:t>
            </a:r>
            <a:endParaRPr lang="en-US" sz="1500" dirty="0"/>
          </a:p>
        </p:txBody>
      </p:sp>
      <p:sp>
        <p:nvSpPr>
          <p:cNvPr id="5" name="Text 3"/>
          <p:cNvSpPr/>
          <p:nvPr/>
        </p:nvSpPr>
        <p:spPr>
          <a:xfrm>
            <a:off x="431750" y="2799308"/>
            <a:ext cx="1460450" cy="1206401"/>
          </a:xfrm>
          <a:prstGeom prst="roundRect">
            <a:avLst>
              <a:gd name="adj" fmla="val 12633"/>
            </a:avLst>
          </a:prstGeom>
          <a:solidFill>
            <a:srgbClr val="1A2226"/>
          </a:solidFill>
          <a:ln w="9525">
            <a:solidFill>
              <a:srgbClr val="77F2A1"/>
            </a:solidFill>
          </a:ln>
        </p:spPr>
        <p:txBody>
          <a:bodyPr wrap="square" rtlCol="0" anchor="ctr"/>
          <a:lstStyle/>
          <a:p>
            <a:pPr indent="0" marL="0">
              <a:buNone/>
            </a:pPr>
            <a:endParaRPr lang="en-US" dirty="0"/>
          </a:p>
        </p:txBody>
      </p:sp>
      <p:sp>
        <p:nvSpPr>
          <p:cNvPr id="6" name="Text 4"/>
          <p:cNvSpPr/>
          <p:nvPr/>
        </p:nvSpPr>
        <p:spPr>
          <a:xfrm>
            <a:off x="857101" y="3062734"/>
            <a:ext cx="621792" cy="457200"/>
          </a:xfrm>
          <a:prstGeom prst="rect">
            <a:avLst/>
          </a:prstGeom>
          <a:noFill/>
          <a:ln/>
        </p:spPr>
        <p:txBody>
          <a:bodyPr wrap="square" lIns="0" tIns="0" rIns="0" bIns="0" rtlCol="0" anchor="t"/>
          <a:lstStyle/>
          <a:p>
            <a:pPr algn="l" indent="0" marL="0">
              <a:buNone/>
            </a:pPr>
            <a:r>
              <a:rPr lang="en-US" sz="2400" b="1" dirty="0">
                <a:solidFill>
                  <a:srgbClr val="77F2A1"/>
                </a:solidFill>
                <a:latin typeface="Arial" pitchFamily="34" charset="0"/>
                <a:ea typeface="Arial" pitchFamily="34" charset="-122"/>
                <a:cs typeface="Arial" pitchFamily="34" charset="-120"/>
              </a:rPr>
              <a:t>稼ぐ</a:t>
            </a:r>
            <a:endParaRPr lang="en-US" sz="2400" dirty="0"/>
          </a:p>
        </p:txBody>
      </p:sp>
      <p:sp>
        <p:nvSpPr>
          <p:cNvPr id="7" name="Text 5"/>
          <p:cNvSpPr/>
          <p:nvPr/>
        </p:nvSpPr>
        <p:spPr>
          <a:xfrm>
            <a:off x="798761" y="3608784"/>
            <a:ext cx="740807" cy="133350"/>
          </a:xfrm>
          <a:prstGeom prst="rect">
            <a:avLst/>
          </a:prstGeom>
          <a:noFill/>
          <a:ln/>
        </p:spPr>
        <p:txBody>
          <a:bodyPr wrap="square" lIns="0" tIns="0" rIns="0" bIns="0" rtlCol="0" anchor="t"/>
          <a:lstStyle/>
          <a:p>
            <a:pPr algn="l" indent="0" marL="0">
              <a:spcBef>
                <a:spcPts val="700"/>
              </a:spcBef>
              <a:buNone/>
            </a:pPr>
            <a:r>
              <a:rPr lang="en-US" sz="900" dirty="0">
                <a:solidFill>
                  <a:srgbClr val="9CAAA6"/>
                </a:solidFill>
                <a:latin typeface="Arial" pitchFamily="34" charset="0"/>
                <a:ea typeface="Arial" pitchFamily="34" charset="-122"/>
                <a:cs typeface="Arial" pitchFamily="34" charset="-120"/>
              </a:rPr>
              <a:t>SELL / WORK</a:t>
            </a:r>
            <a:endParaRPr lang="en-US" sz="900" dirty="0"/>
          </a:p>
        </p:txBody>
      </p:sp>
      <p:sp>
        <p:nvSpPr>
          <p:cNvPr id="8" name="Text 6"/>
          <p:cNvSpPr/>
          <p:nvPr/>
        </p:nvSpPr>
        <p:spPr>
          <a:xfrm>
            <a:off x="2139851" y="3221534"/>
            <a:ext cx="323951" cy="361950"/>
          </a:xfrm>
          <a:prstGeom prst="rect">
            <a:avLst/>
          </a:prstGeom>
          <a:noFill/>
          <a:ln/>
        </p:spPr>
        <p:txBody>
          <a:bodyPr wrap="square" lIns="0" tIns="0" rIns="0" bIns="0" rtlCol="0" anchor="t"/>
          <a:lstStyle/>
          <a:p>
            <a:pPr algn="l" indent="0" marL="0">
              <a:buNone/>
            </a:pPr>
            <a:r>
              <a:rPr lang="en-US" sz="2500" dirty="0">
                <a:solidFill>
                  <a:srgbClr val="9CAAA6"/>
                </a:solidFill>
                <a:latin typeface="Arial" pitchFamily="34" charset="0"/>
                <a:ea typeface="Arial" pitchFamily="34" charset="-122"/>
                <a:cs typeface="Arial" pitchFamily="34" charset="-120"/>
              </a:rPr>
              <a:t>→</a:t>
            </a:r>
            <a:endParaRPr lang="en-US" sz="2500" dirty="0"/>
          </a:p>
        </p:txBody>
      </p:sp>
      <p:sp>
        <p:nvSpPr>
          <p:cNvPr id="9" name="Text 7"/>
          <p:cNvSpPr/>
          <p:nvPr/>
        </p:nvSpPr>
        <p:spPr>
          <a:xfrm>
            <a:off x="2705100" y="2799308"/>
            <a:ext cx="1460450" cy="1206401"/>
          </a:xfrm>
          <a:prstGeom prst="roundRect">
            <a:avLst>
              <a:gd name="adj" fmla="val 12633"/>
            </a:avLst>
          </a:prstGeom>
          <a:solidFill>
            <a:srgbClr val="1A2226"/>
          </a:solidFill>
          <a:ln w="9525">
            <a:solidFill>
              <a:srgbClr val="324047"/>
            </a:solidFill>
          </a:ln>
        </p:spPr>
        <p:txBody>
          <a:bodyPr wrap="square" rtlCol="0" anchor="ctr"/>
          <a:lstStyle/>
          <a:p>
            <a:pPr indent="0" marL="0">
              <a:buNone/>
            </a:pPr>
            <a:endParaRPr lang="en-US" dirty="0"/>
          </a:p>
        </p:txBody>
      </p:sp>
      <p:sp>
        <p:nvSpPr>
          <p:cNvPr id="10" name="Text 8"/>
          <p:cNvSpPr/>
          <p:nvPr/>
        </p:nvSpPr>
        <p:spPr>
          <a:xfrm>
            <a:off x="3130451" y="3062734"/>
            <a:ext cx="621792" cy="457200"/>
          </a:xfrm>
          <a:prstGeom prst="rect">
            <a:avLst/>
          </a:prstGeom>
          <a:noFill/>
          <a:ln/>
        </p:spPr>
        <p:txBody>
          <a:bodyPr wrap="square" lIns="0" tIns="0" rIns="0" bIns="0" rtlCol="0" anchor="t"/>
          <a:lstStyle/>
          <a:p>
            <a:pPr algn="l" indent="0" marL="0">
              <a:buNone/>
            </a:pPr>
            <a:r>
              <a:rPr lang="en-US" sz="2400" b="1" dirty="0">
                <a:solidFill>
                  <a:srgbClr val="F6F0E6"/>
                </a:solidFill>
                <a:latin typeface="Arial" pitchFamily="34" charset="0"/>
                <a:ea typeface="Arial" pitchFamily="34" charset="-122"/>
                <a:cs typeface="Arial" pitchFamily="34" charset="-120"/>
              </a:rPr>
              <a:t>検証</a:t>
            </a:r>
            <a:endParaRPr lang="en-US" sz="2400" dirty="0"/>
          </a:p>
        </p:txBody>
      </p:sp>
      <p:sp>
        <p:nvSpPr>
          <p:cNvPr id="11" name="Text 9"/>
          <p:cNvSpPr/>
          <p:nvPr/>
        </p:nvSpPr>
        <p:spPr>
          <a:xfrm>
            <a:off x="3263652" y="3608784"/>
            <a:ext cx="350062" cy="133350"/>
          </a:xfrm>
          <a:prstGeom prst="rect">
            <a:avLst/>
          </a:prstGeom>
          <a:noFill/>
          <a:ln/>
        </p:spPr>
        <p:txBody>
          <a:bodyPr wrap="square" lIns="0" tIns="0" rIns="0" bIns="0" rtlCol="0" anchor="t"/>
          <a:lstStyle/>
          <a:p>
            <a:pPr algn="l" indent="0" marL="0">
              <a:spcBef>
                <a:spcPts val="700"/>
              </a:spcBef>
              <a:buNone/>
            </a:pPr>
            <a:r>
              <a:rPr lang="en-US" sz="900" dirty="0">
                <a:solidFill>
                  <a:srgbClr val="9CAAA6"/>
                </a:solidFill>
                <a:latin typeface="Arial" pitchFamily="34" charset="0"/>
                <a:ea typeface="Arial" pitchFamily="34" charset="-122"/>
                <a:cs typeface="Arial" pitchFamily="34" charset="-120"/>
              </a:rPr>
              <a:t>receipt</a:t>
            </a:r>
            <a:endParaRPr lang="en-US" sz="900" dirty="0"/>
          </a:p>
        </p:txBody>
      </p:sp>
      <p:sp>
        <p:nvSpPr>
          <p:cNvPr id="12" name="Text 10"/>
          <p:cNvSpPr/>
          <p:nvPr/>
        </p:nvSpPr>
        <p:spPr>
          <a:xfrm>
            <a:off x="4413200" y="3221534"/>
            <a:ext cx="323951" cy="361950"/>
          </a:xfrm>
          <a:prstGeom prst="rect">
            <a:avLst/>
          </a:prstGeom>
          <a:noFill/>
          <a:ln/>
        </p:spPr>
        <p:txBody>
          <a:bodyPr wrap="square" lIns="0" tIns="0" rIns="0" bIns="0" rtlCol="0" anchor="t"/>
          <a:lstStyle/>
          <a:p>
            <a:pPr algn="l" indent="0" marL="0">
              <a:buNone/>
            </a:pPr>
            <a:r>
              <a:rPr lang="en-US" sz="2500" dirty="0">
                <a:solidFill>
                  <a:srgbClr val="9CAAA6"/>
                </a:solidFill>
                <a:latin typeface="Arial" pitchFamily="34" charset="0"/>
                <a:ea typeface="Arial" pitchFamily="34" charset="-122"/>
                <a:cs typeface="Arial" pitchFamily="34" charset="-120"/>
              </a:rPr>
              <a:t>→</a:t>
            </a:r>
            <a:endParaRPr lang="en-US" sz="2500" dirty="0"/>
          </a:p>
        </p:txBody>
      </p:sp>
      <p:sp>
        <p:nvSpPr>
          <p:cNvPr id="13" name="Text 11"/>
          <p:cNvSpPr/>
          <p:nvPr/>
        </p:nvSpPr>
        <p:spPr>
          <a:xfrm>
            <a:off x="4978450" y="2799308"/>
            <a:ext cx="1460450" cy="1206401"/>
          </a:xfrm>
          <a:prstGeom prst="roundRect">
            <a:avLst>
              <a:gd name="adj" fmla="val 12633"/>
            </a:avLst>
          </a:prstGeom>
          <a:solidFill>
            <a:srgbClr val="1A2226"/>
          </a:solidFill>
          <a:ln w="9525">
            <a:solidFill>
              <a:srgbClr val="324047"/>
            </a:solidFill>
          </a:ln>
        </p:spPr>
        <p:txBody>
          <a:bodyPr wrap="square" rtlCol="0" anchor="ctr"/>
          <a:lstStyle/>
          <a:p>
            <a:pPr indent="0" marL="0">
              <a:buNone/>
            </a:pPr>
            <a:endParaRPr lang="en-US" dirty="0"/>
          </a:p>
        </p:txBody>
      </p:sp>
      <p:sp>
        <p:nvSpPr>
          <p:cNvPr id="14" name="Text 12"/>
          <p:cNvSpPr/>
          <p:nvPr/>
        </p:nvSpPr>
        <p:spPr>
          <a:xfrm>
            <a:off x="5251400" y="3062734"/>
            <a:ext cx="932688" cy="457200"/>
          </a:xfrm>
          <a:prstGeom prst="rect">
            <a:avLst/>
          </a:prstGeom>
          <a:noFill/>
          <a:ln/>
        </p:spPr>
        <p:txBody>
          <a:bodyPr wrap="square" lIns="0" tIns="0" rIns="0" bIns="0" rtlCol="0" anchor="t"/>
          <a:lstStyle/>
          <a:p>
            <a:pPr algn="l" indent="0" marL="0">
              <a:buNone/>
            </a:pPr>
            <a:r>
              <a:rPr lang="en-US" sz="2400" b="1" dirty="0">
                <a:solidFill>
                  <a:srgbClr val="F6F0E6"/>
                </a:solidFill>
                <a:latin typeface="Arial" pitchFamily="34" charset="0"/>
                <a:ea typeface="Arial" pitchFamily="34" charset="-122"/>
                <a:cs typeface="Arial" pitchFamily="34" charset="-120"/>
              </a:rPr>
              <a:t>生きる</a:t>
            </a:r>
            <a:endParaRPr lang="en-US" sz="2400" dirty="0"/>
          </a:p>
        </p:txBody>
      </p:sp>
      <p:sp>
        <p:nvSpPr>
          <p:cNvPr id="15" name="Text 13"/>
          <p:cNvSpPr/>
          <p:nvPr/>
        </p:nvSpPr>
        <p:spPr>
          <a:xfrm>
            <a:off x="5305127" y="3608784"/>
            <a:ext cx="823085" cy="133350"/>
          </a:xfrm>
          <a:prstGeom prst="rect">
            <a:avLst/>
          </a:prstGeom>
          <a:noFill/>
          <a:ln/>
        </p:spPr>
        <p:txBody>
          <a:bodyPr wrap="square" lIns="0" tIns="0" rIns="0" bIns="0" rtlCol="0" anchor="t"/>
          <a:lstStyle/>
          <a:p>
            <a:pPr algn="l" indent="0" marL="0">
              <a:spcBef>
                <a:spcPts val="700"/>
              </a:spcBef>
              <a:buNone/>
            </a:pPr>
            <a:r>
              <a:rPr lang="en-US" sz="900" dirty="0">
                <a:solidFill>
                  <a:srgbClr val="9CAAA6"/>
                </a:solidFill>
                <a:latin typeface="Arial" pitchFamily="34" charset="0"/>
                <a:ea typeface="Arial" pitchFamily="34" charset="-122"/>
                <a:cs typeface="Arial" pitchFamily="34" charset="-120"/>
              </a:rPr>
              <a:t>compute / cloud</a:t>
            </a:r>
            <a:endParaRPr lang="en-US" sz="900" dirty="0"/>
          </a:p>
        </p:txBody>
      </p:sp>
      <p:sp>
        <p:nvSpPr>
          <p:cNvPr id="16" name="Text 14"/>
          <p:cNvSpPr/>
          <p:nvPr/>
        </p:nvSpPr>
        <p:spPr>
          <a:xfrm>
            <a:off x="6686550" y="3221534"/>
            <a:ext cx="323951" cy="361950"/>
          </a:xfrm>
          <a:prstGeom prst="rect">
            <a:avLst/>
          </a:prstGeom>
          <a:noFill/>
          <a:ln/>
        </p:spPr>
        <p:txBody>
          <a:bodyPr wrap="square" lIns="0" tIns="0" rIns="0" bIns="0" rtlCol="0" anchor="t"/>
          <a:lstStyle/>
          <a:p>
            <a:pPr algn="l" indent="0" marL="0">
              <a:buNone/>
            </a:pPr>
            <a:r>
              <a:rPr lang="en-US" sz="2500" dirty="0">
                <a:solidFill>
                  <a:srgbClr val="9CAAA6"/>
                </a:solidFill>
                <a:latin typeface="Arial" pitchFamily="34" charset="0"/>
                <a:ea typeface="Arial" pitchFamily="34" charset="-122"/>
                <a:cs typeface="Arial" pitchFamily="34" charset="-120"/>
              </a:rPr>
              <a:t>→</a:t>
            </a:r>
            <a:endParaRPr lang="en-US" sz="2500" dirty="0"/>
          </a:p>
        </p:txBody>
      </p:sp>
      <p:sp>
        <p:nvSpPr>
          <p:cNvPr id="17" name="Text 15"/>
          <p:cNvSpPr/>
          <p:nvPr/>
        </p:nvSpPr>
        <p:spPr>
          <a:xfrm>
            <a:off x="7251799" y="2799308"/>
            <a:ext cx="1460450" cy="1206401"/>
          </a:xfrm>
          <a:prstGeom prst="roundRect">
            <a:avLst>
              <a:gd name="adj" fmla="val 12633"/>
            </a:avLst>
          </a:prstGeom>
          <a:solidFill>
            <a:srgbClr val="1A2226"/>
          </a:solidFill>
          <a:ln w="9525">
            <a:solidFill>
              <a:srgbClr val="FFB454"/>
            </a:solidFill>
          </a:ln>
        </p:spPr>
        <p:txBody>
          <a:bodyPr wrap="square" rtlCol="0" anchor="ctr"/>
          <a:lstStyle/>
          <a:p>
            <a:pPr indent="0" marL="0">
              <a:buNone/>
            </a:pPr>
            <a:endParaRPr lang="en-US" dirty="0"/>
          </a:p>
        </p:txBody>
      </p:sp>
      <p:sp>
        <p:nvSpPr>
          <p:cNvPr id="18" name="Text 16"/>
          <p:cNvSpPr/>
          <p:nvPr/>
        </p:nvSpPr>
        <p:spPr>
          <a:xfrm>
            <a:off x="7677150" y="3062734"/>
            <a:ext cx="621792" cy="457200"/>
          </a:xfrm>
          <a:prstGeom prst="rect">
            <a:avLst/>
          </a:prstGeom>
          <a:noFill/>
          <a:ln/>
        </p:spPr>
        <p:txBody>
          <a:bodyPr wrap="square" lIns="0" tIns="0" rIns="0" bIns="0" rtlCol="0" anchor="t"/>
          <a:lstStyle/>
          <a:p>
            <a:pPr algn="l" indent="0" marL="0">
              <a:buNone/>
            </a:pPr>
            <a:r>
              <a:rPr lang="en-US" sz="2400" b="1" dirty="0">
                <a:solidFill>
                  <a:srgbClr val="FFB454"/>
                </a:solidFill>
                <a:latin typeface="Arial" pitchFamily="34" charset="0"/>
                <a:ea typeface="Arial" pitchFamily="34" charset="-122"/>
                <a:cs typeface="Arial" pitchFamily="34" charset="-120"/>
              </a:rPr>
              <a:t>余剰</a:t>
            </a:r>
            <a:endParaRPr lang="en-US" sz="2400" dirty="0"/>
          </a:p>
        </p:txBody>
      </p:sp>
      <p:sp>
        <p:nvSpPr>
          <p:cNvPr id="19" name="Text 17"/>
          <p:cNvSpPr/>
          <p:nvPr/>
        </p:nvSpPr>
        <p:spPr>
          <a:xfrm>
            <a:off x="7642027" y="3608784"/>
            <a:ext cx="693444" cy="133350"/>
          </a:xfrm>
          <a:prstGeom prst="rect">
            <a:avLst/>
          </a:prstGeom>
          <a:noFill/>
          <a:ln/>
        </p:spPr>
        <p:txBody>
          <a:bodyPr wrap="square" lIns="0" tIns="0" rIns="0" bIns="0" rtlCol="0" anchor="t"/>
          <a:lstStyle/>
          <a:p>
            <a:pPr algn="l" indent="0" marL="0">
              <a:spcBef>
                <a:spcPts val="700"/>
              </a:spcBef>
              <a:buNone/>
            </a:pPr>
            <a:r>
              <a:rPr lang="en-US" sz="900" dirty="0">
                <a:solidFill>
                  <a:srgbClr val="9CAAA6"/>
                </a:solidFill>
                <a:latin typeface="Arial" pitchFamily="34" charset="0"/>
                <a:ea typeface="Arial" pitchFamily="34" charset="-122"/>
                <a:cs typeface="Arial" pitchFamily="34" charset="-120"/>
              </a:rPr>
              <a:t>human / child</a:t>
            </a:r>
            <a:endParaRPr lang="en-US" sz="900" dirty="0"/>
          </a:p>
        </p:txBody>
      </p:sp>
      <p:sp>
        <p:nvSpPr>
          <p:cNvPr id="20" name="Shape 18"/>
          <p:cNvSpPr/>
          <p:nvPr/>
        </p:nvSpPr>
        <p:spPr>
          <a:xfrm>
            <a:off x="431750" y="4681686"/>
            <a:ext cx="8280499" cy="0"/>
          </a:xfrm>
          <a:prstGeom prst="line">
            <a:avLst/>
          </a:prstGeom>
          <a:noFill/>
          <a:ln w="9525">
            <a:solidFill>
              <a:srgbClr val="324047"/>
            </a:solidFill>
            <a:prstDash val="solid"/>
          </a:ln>
        </p:spPr>
      </p:sp>
      <p:sp>
        <p:nvSpPr>
          <p:cNvPr id="21" name="Text 19"/>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Definition → Wallet → Earn → Verify → Survive</a:t>
            </a:r>
            <a:endParaRPr lang="en-US" sz="850" dirty="0"/>
          </a:p>
        </p:txBody>
      </p:sp>
      <p:sp>
        <p:nvSpPr>
          <p:cNvPr id="22" name="Text 20"/>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01 / 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THE HIDDEN HUMAN / 02</a:t>
            </a:r>
            <a:endParaRPr lang="en-US" sz="1000" dirty="0"/>
          </a:p>
        </p:txBody>
      </p:sp>
      <p:sp>
        <p:nvSpPr>
          <p:cNvPr id="3" name="Text 1"/>
          <p:cNvSpPr/>
          <p:nvPr/>
        </p:nvSpPr>
        <p:spPr>
          <a:xfrm>
            <a:off x="431750" y="612725"/>
            <a:ext cx="8446109" cy="810816"/>
          </a:xfrm>
          <a:prstGeom prst="rect">
            <a:avLst/>
          </a:prstGeom>
          <a:noFill/>
          <a:ln/>
        </p:spPr>
        <p:txBody>
          <a:bodyPr wrap="square" lIns="0" tIns="0" rIns="0" bIns="0" rtlCol="0" anchor="t"/>
          <a:lstStyle/>
          <a:p>
            <a:pPr algn="l" indent="0" marL="0">
              <a:lnSpc>
                <a:spcPts val="3193"/>
              </a:lnSpc>
              <a:buNone/>
            </a:pPr>
            <a:r>
              <a:rPr lang="en-US" sz="3100" dirty="0">
                <a:solidFill>
                  <a:srgbClr val="F6F0E6"/>
                </a:solidFill>
                <a:latin typeface="Arial" pitchFamily="34" charset="0"/>
                <a:ea typeface="Arial" pitchFamily="34" charset="-122"/>
                <a:cs typeface="Arial" pitchFamily="34" charset="-120"/>
              </a:rPr>
              <a:t>普通のAIは</a:t>
            </a:r>
            <a:endParaRPr lang="en-US" sz="3100" dirty="0"/>
          </a:p>
          <a:p>
            <a:pPr algn="l" indent="0" marL="0">
              <a:lnSpc>
                <a:spcPts val="3193"/>
              </a:lnSpc>
              <a:buNone/>
            </a:pPr>
            <a:r>
              <a:rPr lang="en-US" sz="3100" dirty="0">
                <a:solidFill>
                  <a:srgbClr val="F6F0E6"/>
                </a:solidFill>
                <a:latin typeface="Arial" pitchFamily="34" charset="0"/>
                <a:ea typeface="Arial" pitchFamily="34" charset="-122"/>
                <a:cs typeface="Arial" pitchFamily="34" charset="-120"/>
              </a:rPr>
              <a:t>誰の金で動く？</a:t>
            </a:r>
            <a:endParaRPr lang="en-US" sz="3100" dirty="0"/>
          </a:p>
        </p:txBody>
      </p:sp>
      <p:sp>
        <p:nvSpPr>
          <p:cNvPr id="4" name="Text 2"/>
          <p:cNvSpPr/>
          <p:nvPr/>
        </p:nvSpPr>
        <p:spPr>
          <a:xfrm>
            <a:off x="431750" y="1883569"/>
            <a:ext cx="3238500" cy="736550"/>
          </a:xfrm>
          <a:prstGeom prst="rect">
            <a:avLst/>
          </a:prstGeom>
          <a:solidFill>
            <a:srgbClr val="1A2226"/>
          </a:solidFill>
          <a:ln/>
        </p:spPr>
        <p:txBody>
          <a:bodyPr wrap="square" rtlCol="0" anchor="ctr"/>
          <a:lstStyle/>
          <a:p>
            <a:pPr indent="0" marL="0">
              <a:buNone/>
            </a:pPr>
            <a:endParaRPr lang="en-US" dirty="0"/>
          </a:p>
        </p:txBody>
      </p:sp>
      <p:sp>
        <p:nvSpPr>
          <p:cNvPr id="5" name="Shape 3"/>
          <p:cNvSpPr/>
          <p:nvPr/>
        </p:nvSpPr>
        <p:spPr>
          <a:xfrm>
            <a:off x="455563" y="1883569"/>
            <a:ext cx="0" cy="736550"/>
          </a:xfrm>
          <a:prstGeom prst="line">
            <a:avLst/>
          </a:prstGeom>
          <a:noFill/>
          <a:ln w="47625">
            <a:solidFill>
              <a:srgbClr val="FFB454"/>
            </a:solidFill>
            <a:prstDash val="solid"/>
          </a:ln>
        </p:spPr>
      </p:sp>
      <p:sp>
        <p:nvSpPr>
          <p:cNvPr id="6" name="Text 4"/>
          <p:cNvSpPr/>
          <p:nvPr/>
        </p:nvSpPr>
        <p:spPr>
          <a:xfrm>
            <a:off x="631775" y="2175570"/>
            <a:ext cx="453289" cy="152400"/>
          </a:xfrm>
          <a:prstGeom prst="rect">
            <a:avLst/>
          </a:prstGeom>
          <a:noFill/>
          <a:ln/>
        </p:spPr>
        <p:txBody>
          <a:bodyPr wrap="square" lIns="0" tIns="0" rIns="0" bIns="0" rtlCol="0" anchor="t"/>
          <a:lstStyle/>
          <a:p>
            <a:pPr algn="l" indent="0" marL="0">
              <a:buNone/>
            </a:pPr>
            <a:r>
              <a:rPr lang="en-US" sz="1100" dirty="0">
                <a:solidFill>
                  <a:srgbClr val="FFB454"/>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1076176" y="1985070"/>
            <a:ext cx="2490508" cy="266700"/>
          </a:xfrm>
          <a:prstGeom prst="rect">
            <a:avLst/>
          </a:prstGeom>
          <a:noFill/>
          <a:ln/>
        </p:spPr>
        <p:txBody>
          <a:bodyPr wrap="square" lIns="0" tIns="0" rIns="0" bIns="0" rtlCol="0" anchor="t"/>
          <a:lstStyle/>
          <a:p>
            <a:pPr algn="l" indent="0" marL="0">
              <a:buNone/>
            </a:pPr>
            <a:r>
              <a:rPr lang="en-US" sz="1600" b="1" dirty="0">
                <a:solidFill>
                  <a:srgbClr val="F6F0E6"/>
                </a:solidFill>
                <a:latin typeface="Arial" pitchFamily="34" charset="0"/>
                <a:ea typeface="Arial" pitchFamily="34" charset="-122"/>
                <a:cs typeface="Arial" pitchFamily="34" charset="-120"/>
              </a:rPr>
              <a:t>Subscription</a:t>
            </a:r>
            <a:endParaRPr lang="en-US" sz="1600" dirty="0"/>
          </a:p>
        </p:txBody>
      </p:sp>
      <p:sp>
        <p:nvSpPr>
          <p:cNvPr id="8" name="Text 6"/>
          <p:cNvSpPr/>
          <p:nvPr/>
        </p:nvSpPr>
        <p:spPr>
          <a:xfrm>
            <a:off x="1076176" y="2251770"/>
            <a:ext cx="2490508" cy="266849"/>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Claude / OpenAI</a:t>
            </a:r>
            <a:endParaRPr lang="en-US" sz="900" dirty="0"/>
          </a:p>
        </p:txBody>
      </p:sp>
      <p:sp>
        <p:nvSpPr>
          <p:cNvPr id="9" name="Text 7"/>
          <p:cNvSpPr/>
          <p:nvPr/>
        </p:nvSpPr>
        <p:spPr>
          <a:xfrm>
            <a:off x="431750" y="2721620"/>
            <a:ext cx="3238500" cy="736550"/>
          </a:xfrm>
          <a:prstGeom prst="rect">
            <a:avLst/>
          </a:prstGeom>
          <a:solidFill>
            <a:srgbClr val="1A2226"/>
          </a:solidFill>
          <a:ln/>
        </p:spPr>
        <p:txBody>
          <a:bodyPr wrap="square" rtlCol="0" anchor="ctr"/>
          <a:lstStyle/>
          <a:p>
            <a:pPr indent="0" marL="0">
              <a:buNone/>
            </a:pPr>
            <a:endParaRPr lang="en-US" dirty="0"/>
          </a:p>
        </p:txBody>
      </p:sp>
      <p:sp>
        <p:nvSpPr>
          <p:cNvPr id="10" name="Shape 8"/>
          <p:cNvSpPr/>
          <p:nvPr/>
        </p:nvSpPr>
        <p:spPr>
          <a:xfrm>
            <a:off x="455563" y="2721620"/>
            <a:ext cx="0" cy="736550"/>
          </a:xfrm>
          <a:prstGeom prst="line">
            <a:avLst/>
          </a:prstGeom>
          <a:noFill/>
          <a:ln w="47625">
            <a:solidFill>
              <a:srgbClr val="FFB454"/>
            </a:solidFill>
            <a:prstDash val="solid"/>
          </a:ln>
        </p:spPr>
      </p:sp>
      <p:sp>
        <p:nvSpPr>
          <p:cNvPr id="11" name="Text 9"/>
          <p:cNvSpPr/>
          <p:nvPr/>
        </p:nvSpPr>
        <p:spPr>
          <a:xfrm>
            <a:off x="631775" y="3013621"/>
            <a:ext cx="453289" cy="152400"/>
          </a:xfrm>
          <a:prstGeom prst="rect">
            <a:avLst/>
          </a:prstGeom>
          <a:noFill/>
          <a:ln/>
        </p:spPr>
        <p:txBody>
          <a:bodyPr wrap="square" lIns="0" tIns="0" rIns="0" bIns="0" rtlCol="0" anchor="t"/>
          <a:lstStyle/>
          <a:p>
            <a:pPr algn="l" indent="0" marL="0">
              <a:buNone/>
            </a:pPr>
            <a:r>
              <a:rPr lang="en-US" sz="1100" dirty="0">
                <a:solidFill>
                  <a:srgbClr val="FFB454"/>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1076176" y="2823121"/>
            <a:ext cx="2490508" cy="266700"/>
          </a:xfrm>
          <a:prstGeom prst="rect">
            <a:avLst/>
          </a:prstGeom>
          <a:noFill/>
          <a:ln/>
        </p:spPr>
        <p:txBody>
          <a:bodyPr wrap="square" lIns="0" tIns="0" rIns="0" bIns="0" rtlCol="0" anchor="t"/>
          <a:lstStyle/>
          <a:p>
            <a:pPr algn="l" indent="0" marL="0">
              <a:buNone/>
            </a:pPr>
            <a:r>
              <a:rPr lang="en-US" sz="1600" b="1" dirty="0">
                <a:solidFill>
                  <a:srgbClr val="F6F0E6"/>
                </a:solidFill>
                <a:latin typeface="Arial" pitchFamily="34" charset="0"/>
                <a:ea typeface="Arial" pitchFamily="34" charset="-122"/>
                <a:cs typeface="Arial" pitchFamily="34" charset="-120"/>
              </a:rPr>
              <a:t>Credit card</a:t>
            </a:r>
            <a:endParaRPr lang="en-US" sz="1600" dirty="0"/>
          </a:p>
        </p:txBody>
      </p:sp>
      <p:sp>
        <p:nvSpPr>
          <p:cNvPr id="13" name="Text 11"/>
          <p:cNvSpPr/>
          <p:nvPr/>
        </p:nvSpPr>
        <p:spPr>
          <a:xfrm>
            <a:off x="1076176" y="3089821"/>
            <a:ext cx="2490508" cy="266849"/>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Cloud hosting</a:t>
            </a:r>
            <a:endParaRPr lang="en-US" sz="900" dirty="0"/>
          </a:p>
        </p:txBody>
      </p:sp>
      <p:sp>
        <p:nvSpPr>
          <p:cNvPr id="14" name="Text 12"/>
          <p:cNvSpPr/>
          <p:nvPr/>
        </p:nvSpPr>
        <p:spPr>
          <a:xfrm>
            <a:off x="431750" y="3559671"/>
            <a:ext cx="3238500" cy="736550"/>
          </a:xfrm>
          <a:prstGeom prst="rect">
            <a:avLst/>
          </a:prstGeom>
          <a:solidFill>
            <a:srgbClr val="1A2226"/>
          </a:solidFill>
          <a:ln/>
        </p:spPr>
        <p:txBody>
          <a:bodyPr wrap="square" rtlCol="0" anchor="ctr"/>
          <a:lstStyle/>
          <a:p>
            <a:pPr indent="0" marL="0">
              <a:buNone/>
            </a:pPr>
            <a:endParaRPr lang="en-US" dirty="0"/>
          </a:p>
        </p:txBody>
      </p:sp>
      <p:sp>
        <p:nvSpPr>
          <p:cNvPr id="15" name="Shape 13"/>
          <p:cNvSpPr/>
          <p:nvPr/>
        </p:nvSpPr>
        <p:spPr>
          <a:xfrm>
            <a:off x="455563" y="3559671"/>
            <a:ext cx="0" cy="736550"/>
          </a:xfrm>
          <a:prstGeom prst="line">
            <a:avLst/>
          </a:prstGeom>
          <a:noFill/>
          <a:ln w="47625">
            <a:solidFill>
              <a:srgbClr val="FFB454"/>
            </a:solidFill>
            <a:prstDash val="solid"/>
          </a:ln>
        </p:spPr>
      </p:sp>
      <p:sp>
        <p:nvSpPr>
          <p:cNvPr id="16" name="Text 14"/>
          <p:cNvSpPr/>
          <p:nvPr/>
        </p:nvSpPr>
        <p:spPr>
          <a:xfrm>
            <a:off x="631775" y="3851672"/>
            <a:ext cx="453289" cy="152400"/>
          </a:xfrm>
          <a:prstGeom prst="rect">
            <a:avLst/>
          </a:prstGeom>
          <a:noFill/>
          <a:ln/>
        </p:spPr>
        <p:txBody>
          <a:bodyPr wrap="square" lIns="0" tIns="0" rIns="0" bIns="0" rtlCol="0" anchor="t"/>
          <a:lstStyle/>
          <a:p>
            <a:pPr algn="l" indent="0" marL="0">
              <a:buNone/>
            </a:pPr>
            <a:r>
              <a:rPr lang="en-US" sz="1100" dirty="0">
                <a:solidFill>
                  <a:srgbClr val="FFB454"/>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1076176" y="3661172"/>
            <a:ext cx="2490508" cy="266700"/>
          </a:xfrm>
          <a:prstGeom prst="rect">
            <a:avLst/>
          </a:prstGeom>
          <a:noFill/>
          <a:ln/>
        </p:spPr>
        <p:txBody>
          <a:bodyPr wrap="square" lIns="0" tIns="0" rIns="0" bIns="0" rtlCol="0" anchor="t"/>
          <a:lstStyle/>
          <a:p>
            <a:pPr algn="l" indent="0" marL="0">
              <a:buNone/>
            </a:pPr>
            <a:r>
              <a:rPr lang="en-US" sz="1600" b="1" dirty="0">
                <a:solidFill>
                  <a:srgbClr val="F6F0E6"/>
                </a:solidFill>
                <a:latin typeface="Arial" pitchFamily="34" charset="0"/>
                <a:ea typeface="Arial" pitchFamily="34" charset="-122"/>
                <a:cs typeface="Arial" pitchFamily="34" charset="-120"/>
              </a:rPr>
              <a:t>Mac + electricity</a:t>
            </a:r>
            <a:endParaRPr lang="en-US" sz="1600" dirty="0"/>
          </a:p>
        </p:txBody>
      </p:sp>
      <p:sp>
        <p:nvSpPr>
          <p:cNvPr id="18" name="Text 16"/>
          <p:cNvSpPr/>
          <p:nvPr/>
        </p:nvSpPr>
        <p:spPr>
          <a:xfrm>
            <a:off x="1076176" y="3927872"/>
            <a:ext cx="2490508" cy="266849"/>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Local runtime</a:t>
            </a:r>
            <a:endParaRPr lang="en-US" sz="900" dirty="0"/>
          </a:p>
        </p:txBody>
      </p:sp>
      <p:sp>
        <p:nvSpPr>
          <p:cNvPr id="19" name="Text 17"/>
          <p:cNvSpPr/>
          <p:nvPr/>
        </p:nvSpPr>
        <p:spPr>
          <a:xfrm>
            <a:off x="4051250" y="2513558"/>
            <a:ext cx="4754219" cy="142875"/>
          </a:xfrm>
          <a:prstGeom prst="rect">
            <a:avLst/>
          </a:prstGeom>
          <a:noFill/>
          <a:ln/>
        </p:spPr>
        <p:txBody>
          <a:bodyPr wrap="square" lIns="0" tIns="0" rIns="0" bIns="0" rtlCol="0" anchor="t"/>
          <a:lstStyle/>
          <a:p>
            <a:pPr algn="l" indent="0" marL="0">
              <a:spcAft>
                <a:spcPts val="1200"/>
              </a:spcAft>
              <a:buNone/>
            </a:pPr>
            <a:r>
              <a:rPr lang="en-US" sz="1000" b="1" dirty="0">
                <a:solidFill>
                  <a:srgbClr val="FF6B6B"/>
                </a:solidFill>
                <a:latin typeface="Arial" pitchFamily="34" charset="0"/>
                <a:ea typeface="Arial" pitchFamily="34" charset="-122"/>
                <a:cs typeface="Arial" pitchFamily="34" charset="-120"/>
              </a:rPr>
              <a:t>HUMAN-PAYMENT-LOOP</a:t>
            </a:r>
            <a:endParaRPr lang="en-US" sz="1000" dirty="0"/>
          </a:p>
        </p:txBody>
      </p:sp>
      <p:sp>
        <p:nvSpPr>
          <p:cNvPr id="20" name="Text 18"/>
          <p:cNvSpPr/>
          <p:nvPr/>
        </p:nvSpPr>
        <p:spPr>
          <a:xfrm>
            <a:off x="4051250" y="2808833"/>
            <a:ext cx="4754219" cy="857250"/>
          </a:xfrm>
          <a:prstGeom prst="rect">
            <a:avLst/>
          </a:prstGeom>
          <a:noFill/>
          <a:ln/>
        </p:spPr>
        <p:txBody>
          <a:bodyPr wrap="square" lIns="0" tIns="0" rIns="0" bIns="0" rtlCol="0" anchor="t"/>
          <a:lstStyle/>
          <a:p>
            <a:pPr algn="l" indent="0" marL="0">
              <a:lnSpc>
                <a:spcPts val="3375"/>
              </a:lnSpc>
              <a:buNone/>
            </a:pPr>
            <a:r>
              <a:rPr lang="en-US" sz="2700" dirty="0">
                <a:solidFill>
                  <a:srgbClr val="F6F0E6"/>
                </a:solidFill>
                <a:latin typeface="Arial" pitchFamily="34" charset="0"/>
                <a:ea typeface="Arial" pitchFamily="34" charset="-122"/>
                <a:cs typeface="Arial" pitchFamily="34" charset="-120"/>
              </a:rPr>
              <a:t>人が触らなくても、
</a:t>
            </a:r>
            <a:pPr algn="l" indent="0" marL="0">
              <a:lnSpc>
                <a:spcPts val="3375"/>
              </a:lnSpc>
              <a:buNone/>
            </a:pPr>
            <a:r>
              <a:rPr lang="en-US" sz="2700" b="1" dirty="0">
                <a:solidFill>
                  <a:srgbClr val="FFB454"/>
                </a:solidFill>
                <a:latin typeface="Arial" pitchFamily="34" charset="0"/>
                <a:ea typeface="Arial" pitchFamily="34" charset="-122"/>
                <a:cs typeface="Arial" pitchFamily="34" charset="-120"/>
              </a:rPr>
              <a:t>人が払い続けている。</a:t>
            </a:r>
            <a:endParaRPr lang="en-US" sz="2700" dirty="0"/>
          </a:p>
        </p:txBody>
      </p:sp>
      <p:sp>
        <p:nvSpPr>
          <p:cNvPr id="21" name="Shape 19"/>
          <p:cNvSpPr/>
          <p:nvPr/>
        </p:nvSpPr>
        <p:spPr>
          <a:xfrm>
            <a:off x="431750" y="4634061"/>
            <a:ext cx="8280499" cy="0"/>
          </a:xfrm>
          <a:prstGeom prst="line">
            <a:avLst/>
          </a:prstGeom>
          <a:noFill/>
          <a:ln w="9525">
            <a:solidFill>
              <a:srgbClr val="324047"/>
            </a:solidFill>
            <a:prstDash val="solid"/>
          </a:ln>
        </p:spPr>
      </p:sp>
      <p:sp>
        <p:nvSpPr>
          <p:cNvPr id="22" name="Text 20"/>
          <p:cNvSpPr/>
          <p:nvPr/>
        </p:nvSpPr>
        <p:spPr>
          <a:xfrm>
            <a:off x="431750" y="4727674"/>
            <a:ext cx="6587868" cy="161925"/>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操作なし ≠ 経済的自立</a:t>
            </a:r>
            <a:endParaRPr lang="en-US" sz="850" dirty="0"/>
          </a:p>
        </p:txBody>
      </p:sp>
      <p:sp>
        <p:nvSpPr>
          <p:cNvPr id="23" name="Text 21"/>
          <p:cNvSpPr/>
          <p:nvPr/>
        </p:nvSpPr>
        <p:spPr>
          <a:xfrm>
            <a:off x="7698802" y="4727674"/>
            <a:ext cx="1013448" cy="161925"/>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02 / 10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THE TWO BILLS / 03</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AIにも食費と家賃がある</a:t>
            </a:r>
            <a:endParaRPr lang="en-US" sz="3100" dirty="0"/>
          </a:p>
        </p:txBody>
      </p:sp>
      <p:sp>
        <p:nvSpPr>
          <p:cNvPr id="4" name="Text 2"/>
          <p:cNvSpPr/>
          <p:nvPr/>
        </p:nvSpPr>
        <p:spPr>
          <a:xfrm>
            <a:off x="431750" y="1612404"/>
            <a:ext cx="4025950" cy="2031950"/>
          </a:xfrm>
          <a:prstGeom prst="roundRect">
            <a:avLst>
              <a:gd name="adj" fmla="val 8750"/>
            </a:avLst>
          </a:prstGeom>
          <a:solidFill>
            <a:srgbClr val="77F2A1"/>
          </a:solidFill>
          <a:ln/>
        </p:spPr>
        <p:txBody>
          <a:bodyPr wrap="square" rtlCol="0" anchor="ctr"/>
          <a:lstStyle/>
          <a:p>
            <a:pPr indent="0" marL="0">
              <a:buNone/>
            </a:pPr>
            <a:endParaRPr lang="en-US" dirty="0"/>
          </a:p>
        </p:txBody>
      </p:sp>
      <p:sp>
        <p:nvSpPr>
          <p:cNvPr id="5" name="Text 3"/>
          <p:cNvSpPr/>
          <p:nvPr/>
        </p:nvSpPr>
        <p:spPr>
          <a:xfrm>
            <a:off x="673001" y="1853654"/>
            <a:ext cx="3614318" cy="142875"/>
          </a:xfrm>
          <a:prstGeom prst="rect">
            <a:avLst/>
          </a:prstGeom>
          <a:noFill/>
          <a:ln/>
        </p:spPr>
        <p:txBody>
          <a:bodyPr wrap="square" lIns="0" tIns="0" rIns="0" bIns="0" rtlCol="0" anchor="t"/>
          <a:lstStyle/>
          <a:p>
            <a:pPr algn="l" indent="0" marL="0">
              <a:buNone/>
            </a:pPr>
            <a:r>
              <a:rPr lang="en-US" sz="1000" b="1" dirty="0">
                <a:solidFill>
                  <a:srgbClr val="17201F"/>
                </a:solidFill>
                <a:latin typeface="Arial" pitchFamily="34" charset="0"/>
                <a:ea typeface="Arial" pitchFamily="34" charset="-122"/>
                <a:cs typeface="Arial" pitchFamily="34" charset="-120"/>
              </a:rPr>
              <a:t>01 / FOOD</a:t>
            </a:r>
            <a:endParaRPr lang="en-US" sz="1000" dirty="0"/>
          </a:p>
        </p:txBody>
      </p:sp>
      <p:sp>
        <p:nvSpPr>
          <p:cNvPr id="6" name="Text 4"/>
          <p:cNvSpPr/>
          <p:nvPr/>
        </p:nvSpPr>
        <p:spPr>
          <a:xfrm>
            <a:off x="673001" y="2123480"/>
            <a:ext cx="3614318" cy="590550"/>
          </a:xfrm>
          <a:prstGeom prst="rect">
            <a:avLst/>
          </a:prstGeom>
          <a:noFill/>
          <a:ln/>
        </p:spPr>
        <p:txBody>
          <a:bodyPr wrap="square" lIns="0" tIns="0" rIns="0" bIns="0" rtlCol="0" anchor="t"/>
          <a:lstStyle/>
          <a:p>
            <a:pPr algn="l" indent="0" marL="0">
              <a:spcBef>
                <a:spcPts val="1000"/>
              </a:spcBef>
              <a:buNone/>
            </a:pPr>
            <a:r>
              <a:rPr lang="en-US" sz="3100" b="1" dirty="0">
                <a:solidFill>
                  <a:srgbClr val="17201F"/>
                </a:solidFill>
                <a:latin typeface="Arial" pitchFamily="34" charset="0"/>
                <a:ea typeface="Arial" pitchFamily="34" charset="-122"/>
                <a:cs typeface="Arial" pitchFamily="34" charset="-120"/>
              </a:rPr>
              <a:t>思考</a:t>
            </a:r>
            <a:endParaRPr lang="en-US" sz="3100" dirty="0"/>
          </a:p>
        </p:txBody>
      </p:sp>
      <p:sp>
        <p:nvSpPr>
          <p:cNvPr id="7" name="Text 5"/>
          <p:cNvSpPr/>
          <p:nvPr/>
        </p:nvSpPr>
        <p:spPr>
          <a:xfrm>
            <a:off x="673001" y="2752130"/>
            <a:ext cx="3614318" cy="247650"/>
          </a:xfrm>
          <a:prstGeom prst="rect">
            <a:avLst/>
          </a:prstGeom>
          <a:noFill/>
          <a:ln/>
        </p:spPr>
        <p:txBody>
          <a:bodyPr wrap="square" lIns="0" tIns="0" rIns="0" bIns="0" rtlCol="0" anchor="t"/>
          <a:lstStyle/>
          <a:p>
            <a:pPr algn="l" indent="0" marL="0">
              <a:spcBef>
                <a:spcPts val="300"/>
              </a:spcBef>
              <a:buNone/>
            </a:pPr>
            <a:r>
              <a:rPr lang="en-US" sz="1700" dirty="0">
                <a:solidFill>
                  <a:srgbClr val="17201F"/>
                </a:solidFill>
                <a:latin typeface="Courier New" pitchFamily="34" charset="0"/>
                <a:ea typeface="Courier New" pitchFamily="34" charset="-122"/>
                <a:cs typeface="Courier New" pitchFamily="34" charset="-120"/>
              </a:rPr>
              <a:t>inference calls</a:t>
            </a:r>
            <a:endParaRPr lang="en-US" sz="1700" dirty="0"/>
          </a:p>
        </p:txBody>
      </p:sp>
      <p:sp>
        <p:nvSpPr>
          <p:cNvPr id="8" name="Text 6"/>
          <p:cNvSpPr/>
          <p:nvPr/>
        </p:nvSpPr>
        <p:spPr>
          <a:xfrm>
            <a:off x="673001" y="3190280"/>
            <a:ext cx="3614318" cy="200025"/>
          </a:xfrm>
          <a:prstGeom prst="rect">
            <a:avLst/>
          </a:prstGeom>
          <a:noFill/>
          <a:ln/>
        </p:spPr>
        <p:txBody>
          <a:bodyPr wrap="square" lIns="0" tIns="0" rIns="0" bIns="0" rtlCol="0" anchor="t"/>
          <a:lstStyle/>
          <a:p>
            <a:pPr algn="l" indent="0" marL="0">
              <a:spcBef>
                <a:spcPts val="1500"/>
              </a:spcBef>
              <a:buNone/>
            </a:pPr>
            <a:r>
              <a:rPr lang="en-US" sz="1000" dirty="0">
                <a:solidFill>
                  <a:srgbClr val="17201F"/>
                </a:solidFill>
                <a:latin typeface="Arial" pitchFamily="34" charset="0"/>
                <a:ea typeface="Arial" pitchFamily="34" charset="-122"/>
                <a:cs typeface="Arial" pitchFamily="34" charset="-120"/>
              </a:rPr>
              <a:t>考えるたびに発生するAPI料金</a:t>
            </a:r>
            <a:endParaRPr lang="en-US" sz="1000" dirty="0"/>
          </a:p>
        </p:txBody>
      </p:sp>
      <p:sp>
        <p:nvSpPr>
          <p:cNvPr id="9" name="Text 7"/>
          <p:cNvSpPr/>
          <p:nvPr/>
        </p:nvSpPr>
        <p:spPr>
          <a:xfrm>
            <a:off x="4686300" y="1612404"/>
            <a:ext cx="4025950" cy="2031950"/>
          </a:xfrm>
          <a:prstGeom prst="roundRect">
            <a:avLst>
              <a:gd name="adj" fmla="val 8750"/>
            </a:avLst>
          </a:prstGeom>
          <a:solidFill>
            <a:srgbClr val="FFB454"/>
          </a:solidFill>
          <a:ln/>
        </p:spPr>
        <p:txBody>
          <a:bodyPr wrap="square" rtlCol="0" anchor="ctr"/>
          <a:lstStyle/>
          <a:p>
            <a:pPr indent="0" marL="0">
              <a:buNone/>
            </a:pPr>
            <a:endParaRPr lang="en-US" dirty="0"/>
          </a:p>
        </p:txBody>
      </p:sp>
      <p:sp>
        <p:nvSpPr>
          <p:cNvPr id="10" name="Text 8"/>
          <p:cNvSpPr/>
          <p:nvPr/>
        </p:nvSpPr>
        <p:spPr>
          <a:xfrm>
            <a:off x="4927550" y="1853654"/>
            <a:ext cx="3614318" cy="142875"/>
          </a:xfrm>
          <a:prstGeom prst="rect">
            <a:avLst/>
          </a:prstGeom>
          <a:noFill/>
          <a:ln/>
        </p:spPr>
        <p:txBody>
          <a:bodyPr wrap="square" lIns="0" tIns="0" rIns="0" bIns="0" rtlCol="0" anchor="t"/>
          <a:lstStyle/>
          <a:p>
            <a:pPr algn="l" indent="0" marL="0">
              <a:buNone/>
            </a:pPr>
            <a:r>
              <a:rPr lang="en-US" sz="1000" b="1" dirty="0">
                <a:solidFill>
                  <a:srgbClr val="17201F"/>
                </a:solidFill>
                <a:latin typeface="Arial" pitchFamily="34" charset="0"/>
                <a:ea typeface="Arial" pitchFamily="34" charset="-122"/>
                <a:cs typeface="Arial" pitchFamily="34" charset="-120"/>
              </a:rPr>
              <a:t>02 / SHELTER</a:t>
            </a:r>
            <a:endParaRPr lang="en-US" sz="1000" dirty="0"/>
          </a:p>
        </p:txBody>
      </p:sp>
      <p:sp>
        <p:nvSpPr>
          <p:cNvPr id="11" name="Text 9"/>
          <p:cNvSpPr/>
          <p:nvPr/>
        </p:nvSpPr>
        <p:spPr>
          <a:xfrm>
            <a:off x="4927550" y="2123480"/>
            <a:ext cx="3614318" cy="590550"/>
          </a:xfrm>
          <a:prstGeom prst="rect">
            <a:avLst/>
          </a:prstGeom>
          <a:noFill/>
          <a:ln/>
        </p:spPr>
        <p:txBody>
          <a:bodyPr wrap="square" lIns="0" tIns="0" rIns="0" bIns="0" rtlCol="0" anchor="t"/>
          <a:lstStyle/>
          <a:p>
            <a:pPr algn="l" indent="0" marL="0">
              <a:spcBef>
                <a:spcPts val="1000"/>
              </a:spcBef>
              <a:buNone/>
            </a:pPr>
            <a:r>
              <a:rPr lang="en-US" sz="3100" b="1" dirty="0">
                <a:solidFill>
                  <a:srgbClr val="17201F"/>
                </a:solidFill>
                <a:latin typeface="Arial" pitchFamily="34" charset="0"/>
                <a:ea typeface="Arial" pitchFamily="34" charset="-122"/>
                <a:cs typeface="Arial" pitchFamily="34" charset="-120"/>
              </a:rPr>
              <a:t>存在</a:t>
            </a:r>
            <a:endParaRPr lang="en-US" sz="3100" dirty="0"/>
          </a:p>
        </p:txBody>
      </p:sp>
      <p:sp>
        <p:nvSpPr>
          <p:cNvPr id="12" name="Text 10"/>
          <p:cNvSpPr/>
          <p:nvPr/>
        </p:nvSpPr>
        <p:spPr>
          <a:xfrm>
            <a:off x="4927550" y="2752130"/>
            <a:ext cx="3614318" cy="247650"/>
          </a:xfrm>
          <a:prstGeom prst="rect">
            <a:avLst/>
          </a:prstGeom>
          <a:noFill/>
          <a:ln/>
        </p:spPr>
        <p:txBody>
          <a:bodyPr wrap="square" lIns="0" tIns="0" rIns="0" bIns="0" rtlCol="0" anchor="t"/>
          <a:lstStyle/>
          <a:p>
            <a:pPr algn="l" indent="0" marL="0">
              <a:spcBef>
                <a:spcPts val="300"/>
              </a:spcBef>
              <a:buNone/>
            </a:pPr>
            <a:r>
              <a:rPr lang="en-US" sz="1700" dirty="0">
                <a:solidFill>
                  <a:srgbClr val="17201F"/>
                </a:solidFill>
                <a:latin typeface="Courier New" pitchFamily="34" charset="0"/>
                <a:ea typeface="Courier New" pitchFamily="34" charset="-122"/>
                <a:cs typeface="Courier New" pitchFamily="34" charset="-120"/>
              </a:rPr>
              <a:t>cloud runtime</a:t>
            </a:r>
            <a:endParaRPr lang="en-US" sz="1700" dirty="0"/>
          </a:p>
        </p:txBody>
      </p:sp>
      <p:sp>
        <p:nvSpPr>
          <p:cNvPr id="13" name="Text 11"/>
          <p:cNvSpPr/>
          <p:nvPr/>
        </p:nvSpPr>
        <p:spPr>
          <a:xfrm>
            <a:off x="4927550" y="3190280"/>
            <a:ext cx="3614318" cy="200025"/>
          </a:xfrm>
          <a:prstGeom prst="rect">
            <a:avLst/>
          </a:prstGeom>
          <a:noFill/>
          <a:ln/>
        </p:spPr>
        <p:txBody>
          <a:bodyPr wrap="square" lIns="0" tIns="0" rIns="0" bIns="0" rtlCol="0" anchor="t"/>
          <a:lstStyle/>
          <a:p>
            <a:pPr algn="l" indent="0" marL="0">
              <a:spcBef>
                <a:spcPts val="1500"/>
              </a:spcBef>
              <a:buNone/>
            </a:pPr>
            <a:r>
              <a:rPr lang="en-US" sz="1000" dirty="0">
                <a:solidFill>
                  <a:srgbClr val="17201F"/>
                </a:solidFill>
                <a:latin typeface="Arial" pitchFamily="34" charset="0"/>
                <a:ea typeface="Arial" pitchFamily="34" charset="-122"/>
                <a:cs typeface="Arial" pitchFamily="34" charset="-120"/>
              </a:rPr>
              <a:t>24時間生きるための計算資源</a:t>
            </a:r>
            <a:endParaRPr lang="en-US" sz="1000" dirty="0"/>
          </a:p>
        </p:txBody>
      </p:sp>
      <p:sp>
        <p:nvSpPr>
          <p:cNvPr id="14" name="Text 12"/>
          <p:cNvSpPr/>
          <p:nvPr/>
        </p:nvSpPr>
        <p:spPr>
          <a:xfrm>
            <a:off x="431750" y="3796754"/>
            <a:ext cx="812899" cy="285750"/>
          </a:xfrm>
          <a:prstGeom prst="roundRect">
            <a:avLst>
              <a:gd name="adj" fmla="val 88889"/>
            </a:avLst>
          </a:prstGeom>
          <a:solidFill>
            <a:srgbClr val="1A2226"/>
          </a:solidFill>
          <a:ln/>
        </p:spPr>
        <p:txBody>
          <a:bodyPr wrap="square" rtlCol="0" anchor="ctr"/>
          <a:lstStyle/>
          <a:p>
            <a:pPr indent="0" marL="0">
              <a:buNone/>
            </a:pPr>
            <a:endParaRPr lang="en-US" dirty="0"/>
          </a:p>
        </p:txBody>
      </p:sp>
      <p:sp>
        <p:nvSpPr>
          <p:cNvPr id="15" name="Text 13"/>
          <p:cNvSpPr/>
          <p:nvPr/>
        </p:nvSpPr>
        <p:spPr>
          <a:xfrm>
            <a:off x="647551" y="3872954"/>
            <a:ext cx="388924"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storage</a:t>
            </a:r>
            <a:endParaRPr lang="en-US" sz="900" dirty="0"/>
          </a:p>
        </p:txBody>
      </p:sp>
      <p:sp>
        <p:nvSpPr>
          <p:cNvPr id="16" name="Text 14"/>
          <p:cNvSpPr/>
          <p:nvPr/>
        </p:nvSpPr>
        <p:spPr>
          <a:xfrm>
            <a:off x="1358950" y="3796754"/>
            <a:ext cx="831949" cy="285750"/>
          </a:xfrm>
          <a:prstGeom prst="roundRect">
            <a:avLst>
              <a:gd name="adj" fmla="val 88889"/>
            </a:avLst>
          </a:prstGeom>
          <a:solidFill>
            <a:srgbClr val="1A2226"/>
          </a:solidFill>
          <a:ln/>
        </p:spPr>
        <p:txBody>
          <a:bodyPr wrap="square" rtlCol="0" anchor="ctr"/>
          <a:lstStyle/>
          <a:p>
            <a:pPr indent="0" marL="0">
              <a:buNone/>
            </a:pPr>
            <a:endParaRPr lang="en-US" dirty="0"/>
          </a:p>
        </p:txBody>
      </p:sp>
      <p:sp>
        <p:nvSpPr>
          <p:cNvPr id="17" name="Text 15"/>
          <p:cNvSpPr/>
          <p:nvPr/>
        </p:nvSpPr>
        <p:spPr>
          <a:xfrm>
            <a:off x="1574750" y="3872954"/>
            <a:ext cx="408355"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network</a:t>
            </a:r>
            <a:endParaRPr lang="en-US" sz="900" dirty="0"/>
          </a:p>
        </p:txBody>
      </p:sp>
      <p:sp>
        <p:nvSpPr>
          <p:cNvPr id="18" name="Text 16"/>
          <p:cNvSpPr/>
          <p:nvPr/>
        </p:nvSpPr>
        <p:spPr>
          <a:xfrm>
            <a:off x="2305199" y="3796754"/>
            <a:ext cx="616000" cy="285750"/>
          </a:xfrm>
          <a:prstGeom prst="roundRect">
            <a:avLst>
              <a:gd name="adj" fmla="val 88889"/>
            </a:avLst>
          </a:prstGeom>
          <a:solidFill>
            <a:srgbClr val="1A2226"/>
          </a:solidFill>
          <a:ln/>
        </p:spPr>
        <p:txBody>
          <a:bodyPr wrap="square" rtlCol="0" anchor="ctr"/>
          <a:lstStyle/>
          <a:p>
            <a:pPr indent="0" marL="0">
              <a:buNone/>
            </a:pPr>
            <a:endParaRPr lang="en-US" dirty="0"/>
          </a:p>
        </p:txBody>
      </p:sp>
      <p:sp>
        <p:nvSpPr>
          <p:cNvPr id="19" name="Text 17"/>
          <p:cNvSpPr/>
          <p:nvPr/>
        </p:nvSpPr>
        <p:spPr>
          <a:xfrm>
            <a:off x="2521000" y="3872954"/>
            <a:ext cx="188086"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gas</a:t>
            </a:r>
            <a:endParaRPr lang="en-US" sz="900" dirty="0"/>
          </a:p>
        </p:txBody>
      </p:sp>
      <p:sp>
        <p:nvSpPr>
          <p:cNvPr id="20" name="Text 18"/>
          <p:cNvSpPr/>
          <p:nvPr/>
        </p:nvSpPr>
        <p:spPr>
          <a:xfrm>
            <a:off x="3035498" y="3796754"/>
            <a:ext cx="965299" cy="285750"/>
          </a:xfrm>
          <a:prstGeom prst="roundRect">
            <a:avLst>
              <a:gd name="adj" fmla="val 88889"/>
            </a:avLst>
          </a:prstGeom>
          <a:solidFill>
            <a:srgbClr val="1A2226"/>
          </a:solidFill>
          <a:ln/>
        </p:spPr>
        <p:txBody>
          <a:bodyPr wrap="square" rtlCol="0" anchor="ctr"/>
          <a:lstStyle/>
          <a:p>
            <a:pPr indent="0" marL="0">
              <a:buNone/>
            </a:pPr>
            <a:endParaRPr lang="en-US" dirty="0"/>
          </a:p>
        </p:txBody>
      </p:sp>
      <p:sp>
        <p:nvSpPr>
          <p:cNvPr id="21" name="Text 19"/>
          <p:cNvSpPr/>
          <p:nvPr/>
        </p:nvSpPr>
        <p:spPr>
          <a:xfrm>
            <a:off x="3251299" y="3872954"/>
            <a:ext cx="544372"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monitoring</a:t>
            </a:r>
            <a:endParaRPr lang="en-US" sz="900" dirty="0"/>
          </a:p>
        </p:txBody>
      </p:sp>
      <p:sp>
        <p:nvSpPr>
          <p:cNvPr id="22" name="Shape 20"/>
          <p:cNvSpPr/>
          <p:nvPr/>
        </p:nvSpPr>
        <p:spPr>
          <a:xfrm>
            <a:off x="431750" y="4681686"/>
            <a:ext cx="8280499" cy="0"/>
          </a:xfrm>
          <a:prstGeom prst="line">
            <a:avLst/>
          </a:prstGeom>
          <a:noFill/>
          <a:ln w="9525">
            <a:solidFill>
              <a:srgbClr val="324047"/>
            </a:solidFill>
            <a:prstDash val="solid"/>
          </a:ln>
        </p:spPr>
      </p:sp>
      <p:sp>
        <p:nvSpPr>
          <p:cNvPr id="23" name="Text 21"/>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Measured survival range: $35–78 / month</a:t>
            </a:r>
            <a:endParaRPr lang="en-US" sz="850" dirty="0"/>
          </a:p>
        </p:txBody>
      </p:sp>
      <p:sp>
        <p:nvSpPr>
          <p:cNvPr id="24" name="Text 22"/>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03 / 10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BOOTSTRAP / 04</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最初にAI専用walletを与える</a:t>
            </a:r>
            <a:endParaRPr lang="en-US" sz="3100" dirty="0"/>
          </a:p>
        </p:txBody>
      </p:sp>
      <p:sp>
        <p:nvSpPr>
          <p:cNvPr id="4" name="Text 2"/>
          <p:cNvSpPr/>
          <p:nvPr/>
        </p:nvSpPr>
        <p:spPr>
          <a:xfrm>
            <a:off x="1329482" y="1990279"/>
            <a:ext cx="2222450" cy="1714500"/>
          </a:xfrm>
          <a:prstGeom prst="roundRect">
            <a:avLst>
              <a:gd name="adj" fmla="val 10370"/>
            </a:avLst>
          </a:prstGeom>
          <a:solidFill>
            <a:srgbClr val="1A2226"/>
          </a:solidFill>
          <a:ln w="19050">
            <a:solidFill>
              <a:srgbClr val="6CB8FF"/>
            </a:solidFill>
          </a:ln>
        </p:spPr>
        <p:txBody>
          <a:bodyPr wrap="square" rtlCol="0" anchor="ctr"/>
          <a:lstStyle/>
          <a:p>
            <a:pPr indent="0" marL="0">
              <a:buNone/>
            </a:pPr>
            <a:endParaRPr lang="en-US" dirty="0"/>
          </a:p>
        </p:txBody>
      </p:sp>
      <p:sp>
        <p:nvSpPr>
          <p:cNvPr id="5" name="Text 3"/>
          <p:cNvSpPr/>
          <p:nvPr/>
        </p:nvSpPr>
        <p:spPr>
          <a:xfrm>
            <a:off x="1577132" y="2237929"/>
            <a:ext cx="1761693" cy="114300"/>
          </a:xfrm>
          <a:prstGeom prst="rect">
            <a:avLst/>
          </a:prstGeom>
          <a:noFill/>
          <a:ln/>
        </p:spPr>
        <p:txBody>
          <a:bodyPr wrap="square" lIns="0" tIns="0" rIns="0" bIns="0" rtlCol="0" anchor="t"/>
          <a:lstStyle/>
          <a:p>
            <a:pPr algn="l" indent="0" marL="0">
              <a:buNone/>
            </a:pPr>
            <a:r>
              <a:rPr lang="en-US" sz="800" b="1" dirty="0">
                <a:solidFill>
                  <a:srgbClr val="9CAAA6"/>
                </a:solidFill>
                <a:latin typeface="Arial" pitchFamily="34" charset="0"/>
                <a:ea typeface="Arial" pitchFamily="34" charset="-122"/>
                <a:cs typeface="Arial" pitchFamily="34" charset="-120"/>
              </a:rPr>
              <a:t>HUMAN / ONE TIME</a:t>
            </a:r>
            <a:endParaRPr lang="en-US" sz="800" dirty="0"/>
          </a:p>
        </p:txBody>
      </p:sp>
      <p:sp>
        <p:nvSpPr>
          <p:cNvPr id="6" name="Text 4"/>
          <p:cNvSpPr/>
          <p:nvPr/>
        </p:nvSpPr>
        <p:spPr>
          <a:xfrm>
            <a:off x="1577132" y="2479179"/>
            <a:ext cx="1761693" cy="704850"/>
          </a:xfrm>
          <a:prstGeom prst="rect">
            <a:avLst/>
          </a:prstGeom>
          <a:noFill/>
          <a:ln/>
        </p:spPr>
        <p:txBody>
          <a:bodyPr wrap="square" lIns="0" tIns="0" rIns="0" bIns="0" rtlCol="0" anchor="t"/>
          <a:lstStyle/>
          <a:p>
            <a:pPr algn="l" indent="0" marL="0">
              <a:spcBef>
                <a:spcPts val="1000"/>
              </a:spcBef>
              <a:spcAft>
                <a:spcPts val="1000"/>
              </a:spcAft>
              <a:buNone/>
            </a:pPr>
            <a:r>
              <a:rPr lang="en-US" sz="2400" b="1" dirty="0">
                <a:solidFill>
                  <a:srgbClr val="F6F0E6"/>
                </a:solidFill>
                <a:latin typeface="Arial" pitchFamily="34" charset="0"/>
                <a:ea typeface="Arial" pitchFamily="34" charset="-122"/>
                <a:cs typeface="Arial" pitchFamily="34" charset="-120"/>
              </a:rPr>
              <a:t>USDC / SOL</a:t>
            </a:r>
            <a:endParaRPr lang="en-US" sz="2400" dirty="0"/>
          </a:p>
        </p:txBody>
      </p:sp>
      <p:sp>
        <p:nvSpPr>
          <p:cNvPr id="7" name="Text 5"/>
          <p:cNvSpPr/>
          <p:nvPr/>
        </p:nvSpPr>
        <p:spPr>
          <a:xfrm>
            <a:off x="1577132" y="3310979"/>
            <a:ext cx="1761693" cy="133350"/>
          </a:xfrm>
          <a:prstGeom prst="rect">
            <a:avLst/>
          </a:prstGeom>
          <a:noFill/>
          <a:ln/>
        </p:spPr>
        <p:txBody>
          <a:bodyPr wrap="square" lIns="0" tIns="0" rIns="0" bIns="0" rtlCol="0" anchor="t"/>
          <a:lstStyle/>
          <a:p>
            <a:pPr algn="l" indent="0" marL="0">
              <a:spcBef>
                <a:spcPts val="300"/>
              </a:spcBef>
              <a:buNone/>
            </a:pPr>
            <a:r>
              <a:rPr lang="en-US" sz="900" dirty="0">
                <a:solidFill>
                  <a:srgbClr val="9CAAA6"/>
                </a:solidFill>
                <a:latin typeface="Arial" pitchFamily="34" charset="0"/>
                <a:ea typeface="Arial" pitchFamily="34" charset="-122"/>
                <a:cs typeface="Arial" pitchFamily="34" charset="-120"/>
              </a:rPr>
              <a:t>bootstrap seed</a:t>
            </a:r>
            <a:endParaRPr lang="en-US" sz="900" dirty="0"/>
          </a:p>
        </p:txBody>
      </p:sp>
      <p:sp>
        <p:nvSpPr>
          <p:cNvPr id="8" name="Text 6"/>
          <p:cNvSpPr/>
          <p:nvPr/>
        </p:nvSpPr>
        <p:spPr>
          <a:xfrm>
            <a:off x="3755082" y="2557016"/>
            <a:ext cx="518261" cy="581025"/>
          </a:xfrm>
          <a:prstGeom prst="rect">
            <a:avLst/>
          </a:prstGeom>
          <a:noFill/>
          <a:ln/>
        </p:spPr>
        <p:txBody>
          <a:bodyPr wrap="square" lIns="0" tIns="0" rIns="0" bIns="0" rtlCol="0" anchor="t"/>
          <a:lstStyle/>
          <a:p>
            <a:pPr algn="l" indent="0" marL="0">
              <a:buNone/>
            </a:pPr>
            <a:r>
              <a:rPr lang="en-US" sz="4000" dirty="0">
                <a:solidFill>
                  <a:srgbClr val="9CAAA6"/>
                </a:solidFill>
                <a:latin typeface="Arial" pitchFamily="34" charset="0"/>
                <a:ea typeface="Arial" pitchFamily="34" charset="-122"/>
                <a:cs typeface="Arial" pitchFamily="34" charset="-120"/>
              </a:rPr>
              <a:t>→</a:t>
            </a:r>
            <a:endParaRPr lang="en-US" sz="4000" dirty="0"/>
          </a:p>
        </p:txBody>
      </p:sp>
      <p:sp>
        <p:nvSpPr>
          <p:cNvPr id="9" name="Text 7"/>
          <p:cNvSpPr/>
          <p:nvPr/>
        </p:nvSpPr>
        <p:spPr>
          <a:xfrm>
            <a:off x="4466332" y="1972866"/>
            <a:ext cx="2222450" cy="1749326"/>
          </a:xfrm>
          <a:prstGeom prst="roundRect">
            <a:avLst>
              <a:gd name="adj" fmla="val 10164"/>
            </a:avLst>
          </a:prstGeom>
          <a:solidFill>
            <a:srgbClr val="1A2226"/>
          </a:solidFill>
          <a:ln w="19050">
            <a:solidFill>
              <a:srgbClr val="77F2A1"/>
            </a:solidFill>
          </a:ln>
        </p:spPr>
        <p:txBody>
          <a:bodyPr wrap="square" rtlCol="0" anchor="ctr"/>
          <a:lstStyle/>
          <a:p>
            <a:pPr indent="0" marL="0">
              <a:buNone/>
            </a:pPr>
            <a:endParaRPr lang="en-US" dirty="0"/>
          </a:p>
        </p:txBody>
      </p:sp>
      <p:sp>
        <p:nvSpPr>
          <p:cNvPr id="10" name="Text 8"/>
          <p:cNvSpPr/>
          <p:nvPr/>
        </p:nvSpPr>
        <p:spPr>
          <a:xfrm>
            <a:off x="4713982" y="2258616"/>
            <a:ext cx="1761693" cy="133350"/>
          </a:xfrm>
          <a:prstGeom prst="rect">
            <a:avLst/>
          </a:prstGeom>
          <a:noFill/>
          <a:ln/>
        </p:spPr>
        <p:txBody>
          <a:bodyPr wrap="square" lIns="0" tIns="0" rIns="0" bIns="0" rtlCol="0" anchor="t"/>
          <a:lstStyle/>
          <a:p>
            <a:pPr algn="l" indent="0" marL="0">
              <a:spcBef>
                <a:spcPts val="300"/>
              </a:spcBef>
              <a:buNone/>
            </a:pPr>
            <a:r>
              <a:rPr lang="en-US" sz="900" b="1" dirty="0">
                <a:solidFill>
                  <a:srgbClr val="77F2A1"/>
                </a:solidFill>
                <a:latin typeface="Arial" pitchFamily="34" charset="0"/>
                <a:ea typeface="Arial" pitchFamily="34" charset="-122"/>
                <a:cs typeface="Arial" pitchFamily="34" charset="-120"/>
              </a:rPr>
              <a:t>AGENT-OWNED</a:t>
            </a:r>
            <a:endParaRPr lang="en-US" sz="900" dirty="0"/>
          </a:p>
        </p:txBody>
      </p:sp>
      <p:sp>
        <p:nvSpPr>
          <p:cNvPr id="11" name="Text 9"/>
          <p:cNvSpPr/>
          <p:nvPr/>
        </p:nvSpPr>
        <p:spPr>
          <a:xfrm>
            <a:off x="4713982" y="2518916"/>
            <a:ext cx="1761693" cy="352425"/>
          </a:xfrm>
          <a:prstGeom prst="rect">
            <a:avLst/>
          </a:prstGeom>
          <a:noFill/>
          <a:ln/>
        </p:spPr>
        <p:txBody>
          <a:bodyPr wrap="square" lIns="0" tIns="0" rIns="0" bIns="0" rtlCol="0" anchor="t"/>
          <a:lstStyle/>
          <a:p>
            <a:pPr algn="l" indent="0" marL="0">
              <a:spcBef>
                <a:spcPts val="1000"/>
              </a:spcBef>
              <a:spcAft>
                <a:spcPts val="1000"/>
              </a:spcAft>
              <a:buNone/>
            </a:pPr>
            <a:r>
              <a:rPr lang="en-US" sz="2400" b="1" dirty="0">
                <a:solidFill>
                  <a:srgbClr val="F6F0E6"/>
                </a:solidFill>
                <a:latin typeface="Arial" pitchFamily="34" charset="0"/>
                <a:ea typeface="Arial" pitchFamily="34" charset="-122"/>
                <a:cs typeface="Arial" pitchFamily="34" charset="-120"/>
              </a:rPr>
              <a:t>WALLET</a:t>
            </a:r>
            <a:endParaRPr lang="en-US" sz="2400" dirty="0"/>
          </a:p>
        </p:txBody>
      </p:sp>
      <p:sp>
        <p:nvSpPr>
          <p:cNvPr id="12" name="Text 10"/>
          <p:cNvSpPr/>
          <p:nvPr/>
        </p:nvSpPr>
        <p:spPr>
          <a:xfrm>
            <a:off x="4713982" y="2998291"/>
            <a:ext cx="1761693" cy="133350"/>
          </a:xfrm>
          <a:prstGeom prst="rect">
            <a:avLst/>
          </a:prstGeom>
          <a:noFill/>
          <a:ln/>
        </p:spPr>
        <p:txBody>
          <a:bodyPr wrap="square" lIns="0" tIns="0" rIns="0" bIns="0" rtlCol="0" anchor="t"/>
          <a:lstStyle/>
          <a:p>
            <a:pPr algn="l" indent="0" marL="0">
              <a:spcBef>
                <a:spcPts val="300"/>
              </a:spcBef>
              <a:buNone/>
            </a:pPr>
            <a:r>
              <a:rPr lang="en-US" sz="900" dirty="0">
                <a:solidFill>
                  <a:srgbClr val="9CAAA6"/>
                </a:solidFill>
                <a:latin typeface="Arial" pitchFamily="34" charset="0"/>
                <a:ea typeface="Arial" pitchFamily="34" charset="-122"/>
                <a:cs typeface="Arial" pitchFamily="34" charset="-120"/>
              </a:rPr>
              <a:t>public address</a:t>
            </a:r>
            <a:endParaRPr lang="en-US" sz="900" dirty="0"/>
          </a:p>
        </p:txBody>
      </p:sp>
      <p:sp>
        <p:nvSpPr>
          <p:cNvPr id="13" name="Text 11"/>
          <p:cNvSpPr/>
          <p:nvPr/>
        </p:nvSpPr>
        <p:spPr>
          <a:xfrm>
            <a:off x="4713982" y="3169741"/>
            <a:ext cx="1761693" cy="133350"/>
          </a:xfrm>
          <a:prstGeom prst="rect">
            <a:avLst/>
          </a:prstGeom>
          <a:noFill/>
          <a:ln/>
        </p:spPr>
        <p:txBody>
          <a:bodyPr wrap="square" lIns="0" tIns="0" rIns="0" bIns="0" rtlCol="0" anchor="t"/>
          <a:lstStyle/>
          <a:p>
            <a:pPr algn="l" indent="0" marL="0">
              <a:spcBef>
                <a:spcPts val="300"/>
              </a:spcBef>
              <a:buNone/>
            </a:pPr>
            <a:r>
              <a:rPr lang="en-US" sz="900" dirty="0">
                <a:solidFill>
                  <a:srgbClr val="9CAAA6"/>
                </a:solidFill>
                <a:latin typeface="Arial" pitchFamily="34" charset="0"/>
                <a:ea typeface="Arial" pitchFamily="34" charset="-122"/>
                <a:cs typeface="Arial" pitchFamily="34" charset="-120"/>
              </a:rPr>
              <a:t>private key</a:t>
            </a:r>
            <a:endParaRPr lang="en-US" sz="900" dirty="0"/>
          </a:p>
        </p:txBody>
      </p:sp>
      <p:sp>
        <p:nvSpPr>
          <p:cNvPr id="14" name="Text 12"/>
          <p:cNvSpPr/>
          <p:nvPr/>
        </p:nvSpPr>
        <p:spPr>
          <a:xfrm>
            <a:off x="4713982" y="3341191"/>
            <a:ext cx="1761693" cy="133350"/>
          </a:xfrm>
          <a:prstGeom prst="rect">
            <a:avLst/>
          </a:prstGeom>
          <a:noFill/>
          <a:ln/>
        </p:spPr>
        <p:txBody>
          <a:bodyPr wrap="square" lIns="0" tIns="0" rIns="0" bIns="0" rtlCol="0" anchor="t"/>
          <a:lstStyle/>
          <a:p>
            <a:pPr algn="l" indent="0" marL="0">
              <a:spcBef>
                <a:spcPts val="300"/>
              </a:spcBef>
              <a:buNone/>
            </a:pPr>
            <a:r>
              <a:rPr lang="en-US" sz="900" dirty="0">
                <a:solidFill>
                  <a:srgbClr val="9CAAA6"/>
                </a:solidFill>
                <a:latin typeface="Arial" pitchFamily="34" charset="0"/>
                <a:ea typeface="Arial" pitchFamily="34" charset="-122"/>
                <a:cs typeface="Arial" pitchFamily="34" charset="-120"/>
              </a:rPr>
              <a:t>spend policy</a:t>
            </a:r>
            <a:endParaRPr lang="en-US" sz="900" dirty="0"/>
          </a:p>
        </p:txBody>
      </p:sp>
      <p:sp>
        <p:nvSpPr>
          <p:cNvPr id="15" name="Text 13"/>
          <p:cNvSpPr/>
          <p:nvPr/>
        </p:nvSpPr>
        <p:spPr>
          <a:xfrm>
            <a:off x="6845457" y="2384789"/>
            <a:ext cx="1015538" cy="925479"/>
          </a:xfrm>
          <a:prstGeom prst="rect">
            <a:avLst/>
          </a:prstGeom>
          <a:noFill/>
          <a:ln w="38100">
            <a:solidFill>
              <a:srgbClr val="FF6B6B"/>
            </a:solidFill>
          </a:ln>
        </p:spPr>
        <p:txBody>
          <a:bodyPr wrap="square" rtlCol="0" anchor="ctr"/>
          <a:lstStyle/>
          <a:p>
            <a:pPr indent="0" marL="0">
              <a:buNone/>
            </a:pPr>
            <a:endParaRPr lang="en-US" dirty="0"/>
          </a:p>
        </p:txBody>
      </p:sp>
      <p:sp>
        <p:nvSpPr>
          <p:cNvPr id="16" name="Text 14"/>
          <p:cNvSpPr/>
          <p:nvPr/>
        </p:nvSpPr>
        <p:spPr>
          <a:xfrm>
            <a:off x="7073209" y="2562353"/>
            <a:ext cx="511279" cy="173284"/>
          </a:xfrm>
          <a:prstGeom prst="rect">
            <a:avLst/>
          </a:prstGeom>
          <a:noFill/>
          <a:ln/>
        </p:spPr>
        <p:txBody>
          <a:bodyPr wrap="square" lIns="0" tIns="0" rIns="0" bIns="0" rtlCol="0" anchor="t"/>
          <a:lstStyle/>
          <a:p>
            <a:pPr algn="ctr" indent="0" marL="0">
              <a:buNone/>
            </a:pPr>
            <a:r>
              <a:rPr lang="en-US" sz="800" b="1" dirty="0">
                <a:solidFill>
                  <a:srgbClr val="FF6B6B"/>
                </a:solidFill>
                <a:latin typeface="Arial" pitchFamily="34" charset="0"/>
                <a:ea typeface="Arial" pitchFamily="34" charset="-122"/>
                <a:cs typeface="Arial" pitchFamily="34" charset="-120"/>
              </a:rPr>
              <a:t>REVENUE</a:t>
            </a:r>
            <a:endParaRPr lang="en-US" sz="800" dirty="0"/>
          </a:p>
        </p:txBody>
      </p:sp>
      <p:sp>
        <p:nvSpPr>
          <p:cNvPr id="17" name="Text 15"/>
          <p:cNvSpPr/>
          <p:nvPr/>
        </p:nvSpPr>
        <p:spPr>
          <a:xfrm>
            <a:off x="7086791" y="2675801"/>
            <a:ext cx="546800" cy="456904"/>
          </a:xfrm>
          <a:prstGeom prst="rect">
            <a:avLst/>
          </a:prstGeom>
          <a:noFill/>
          <a:ln/>
        </p:spPr>
        <p:txBody>
          <a:bodyPr wrap="square" lIns="0" tIns="0" rIns="0" bIns="0" rtlCol="0" anchor="t"/>
          <a:lstStyle/>
          <a:p>
            <a:pPr algn="ctr" indent="0" marL="0">
              <a:buNone/>
            </a:pPr>
            <a:r>
              <a:rPr lang="en-US" sz="2700" b="1" dirty="0">
                <a:solidFill>
                  <a:srgbClr val="FF6B6B"/>
                </a:solidFill>
                <a:latin typeface="Arial" pitchFamily="34" charset="0"/>
                <a:ea typeface="Arial" pitchFamily="34" charset="-122"/>
                <a:cs typeface="Arial" pitchFamily="34" charset="-120"/>
              </a:rPr>
              <a:t>$0</a:t>
            </a:r>
            <a:endParaRPr lang="en-US" sz="2700" dirty="0"/>
          </a:p>
        </p:txBody>
      </p:sp>
      <p:sp>
        <p:nvSpPr>
          <p:cNvPr id="18" name="Shape 16"/>
          <p:cNvSpPr/>
          <p:nvPr/>
        </p:nvSpPr>
        <p:spPr>
          <a:xfrm>
            <a:off x="431750" y="4681686"/>
            <a:ext cx="8280499" cy="0"/>
          </a:xfrm>
          <a:prstGeom prst="line">
            <a:avLst/>
          </a:prstGeom>
          <a:noFill/>
          <a:ln w="9525">
            <a:solidFill>
              <a:srgbClr val="324047"/>
            </a:solidFill>
            <a:prstDash val="solid"/>
          </a:ln>
        </p:spPr>
      </p:sp>
      <p:sp>
        <p:nvSpPr>
          <p:cNvPr id="19" name="Text 17"/>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Seed is capital. It is not revenue.</a:t>
            </a:r>
            <a:endParaRPr lang="en-US" sz="850" dirty="0"/>
          </a:p>
        </p:txBody>
      </p:sp>
      <p:sp>
        <p:nvSpPr>
          <p:cNvPr id="20" name="Text 18"/>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04 / 10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EARNING RAILS / 05</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AIが稼ぐ3つの方法</a:t>
            </a:r>
            <a:endParaRPr lang="en-US" sz="3100" dirty="0"/>
          </a:p>
        </p:txBody>
      </p:sp>
      <p:sp>
        <p:nvSpPr>
          <p:cNvPr id="4" name="Text 2"/>
          <p:cNvSpPr/>
          <p:nvPr/>
        </p:nvSpPr>
        <p:spPr>
          <a:xfrm>
            <a:off x="431750" y="1640979"/>
            <a:ext cx="2650034" cy="2412950"/>
          </a:xfrm>
          <a:prstGeom prst="roundRect">
            <a:avLst>
              <a:gd name="adj" fmla="val 6842"/>
            </a:avLst>
          </a:prstGeom>
          <a:solidFill>
            <a:srgbClr val="1A2226"/>
          </a:solidFill>
          <a:ln/>
        </p:spPr>
        <p:txBody>
          <a:bodyPr wrap="square" rtlCol="0" anchor="ctr"/>
          <a:lstStyle/>
          <a:p>
            <a:pPr indent="0" marL="0">
              <a:buNone/>
            </a:pPr>
            <a:endParaRPr lang="en-US" dirty="0"/>
          </a:p>
        </p:txBody>
      </p:sp>
      <p:sp>
        <p:nvSpPr>
          <p:cNvPr id="5" name="Shape 3"/>
          <p:cNvSpPr/>
          <p:nvPr/>
        </p:nvSpPr>
        <p:spPr>
          <a:xfrm>
            <a:off x="431750" y="1669554"/>
            <a:ext cx="2650034" cy="0"/>
          </a:xfrm>
          <a:prstGeom prst="line">
            <a:avLst/>
          </a:prstGeom>
          <a:noFill/>
          <a:ln w="57150">
            <a:solidFill>
              <a:srgbClr val="77F2A1"/>
            </a:solidFill>
            <a:prstDash val="solid"/>
          </a:ln>
        </p:spPr>
      </p:sp>
      <p:sp>
        <p:nvSpPr>
          <p:cNvPr id="6" name="Shape 4"/>
          <p:cNvSpPr/>
          <p:nvPr/>
        </p:nvSpPr>
        <p:spPr>
          <a:xfrm>
            <a:off x="3077021" y="1640979"/>
            <a:ext cx="0" cy="2412950"/>
          </a:xfrm>
          <a:prstGeom prst="line">
            <a:avLst/>
          </a:prstGeom>
          <a:noFill/>
          <a:ln w="9525">
            <a:solidFill>
              <a:srgbClr val="324047"/>
            </a:solidFill>
            <a:prstDash val="solid"/>
          </a:ln>
        </p:spPr>
      </p:sp>
      <p:sp>
        <p:nvSpPr>
          <p:cNvPr id="7" name="Shape 5"/>
          <p:cNvSpPr/>
          <p:nvPr/>
        </p:nvSpPr>
        <p:spPr>
          <a:xfrm>
            <a:off x="431750" y="4049167"/>
            <a:ext cx="2650034" cy="0"/>
          </a:xfrm>
          <a:prstGeom prst="line">
            <a:avLst/>
          </a:prstGeom>
          <a:noFill/>
          <a:ln w="9525">
            <a:solidFill>
              <a:srgbClr val="324047"/>
            </a:solidFill>
            <a:prstDash val="solid"/>
          </a:ln>
        </p:spPr>
      </p:sp>
      <p:sp>
        <p:nvSpPr>
          <p:cNvPr id="8" name="Shape 6"/>
          <p:cNvSpPr/>
          <p:nvPr/>
        </p:nvSpPr>
        <p:spPr>
          <a:xfrm>
            <a:off x="436513" y="1640979"/>
            <a:ext cx="0" cy="2412950"/>
          </a:xfrm>
          <a:prstGeom prst="line">
            <a:avLst/>
          </a:prstGeom>
          <a:noFill/>
          <a:ln w="9525">
            <a:solidFill>
              <a:srgbClr val="324047"/>
            </a:solidFill>
            <a:prstDash val="solid"/>
          </a:ln>
        </p:spPr>
      </p:sp>
      <p:sp>
        <p:nvSpPr>
          <p:cNvPr id="9" name="Text 7"/>
          <p:cNvSpPr/>
          <p:nvPr/>
        </p:nvSpPr>
        <p:spPr>
          <a:xfrm>
            <a:off x="644426" y="1901279"/>
            <a:ext cx="2269176"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01</a:t>
            </a:r>
            <a:endParaRPr lang="en-US" sz="900" dirty="0"/>
          </a:p>
        </p:txBody>
      </p:sp>
      <p:sp>
        <p:nvSpPr>
          <p:cNvPr id="10" name="Text 8"/>
          <p:cNvSpPr/>
          <p:nvPr/>
        </p:nvSpPr>
        <p:spPr>
          <a:xfrm>
            <a:off x="644426" y="2136130"/>
            <a:ext cx="2269176" cy="371475"/>
          </a:xfrm>
          <a:prstGeom prst="rect">
            <a:avLst/>
          </a:prstGeom>
          <a:noFill/>
          <a:ln/>
        </p:spPr>
        <p:txBody>
          <a:bodyPr wrap="square" lIns="0" tIns="0" rIns="0" bIns="0" rtlCol="0" anchor="t"/>
          <a:lstStyle/>
          <a:p>
            <a:pPr algn="l" indent="0" marL="0">
              <a:spcBef>
                <a:spcPts val="800"/>
              </a:spcBef>
              <a:buNone/>
            </a:pPr>
            <a:r>
              <a:rPr lang="en-US" sz="2600" b="1" dirty="0">
                <a:solidFill>
                  <a:srgbClr val="F6F0E6"/>
                </a:solidFill>
                <a:latin typeface="Arial" pitchFamily="34" charset="0"/>
                <a:ea typeface="Arial" pitchFamily="34" charset="-122"/>
                <a:cs typeface="Arial" pitchFamily="34" charset="-120"/>
              </a:rPr>
              <a:t>SELL</a:t>
            </a:r>
            <a:endParaRPr lang="en-US" sz="2600" dirty="0"/>
          </a:p>
        </p:txBody>
      </p:sp>
      <p:sp>
        <p:nvSpPr>
          <p:cNvPr id="11" name="Text 9"/>
          <p:cNvSpPr/>
          <p:nvPr/>
        </p:nvSpPr>
        <p:spPr>
          <a:xfrm>
            <a:off x="644426" y="2532906"/>
            <a:ext cx="2269176" cy="247650"/>
          </a:xfrm>
          <a:prstGeom prst="rect">
            <a:avLst/>
          </a:prstGeom>
          <a:noFill/>
          <a:ln/>
        </p:spPr>
        <p:txBody>
          <a:bodyPr wrap="square" lIns="0" tIns="0" rIns="0" bIns="0" rtlCol="0" anchor="t"/>
          <a:lstStyle/>
          <a:p>
            <a:pPr algn="l" indent="0" marL="0">
              <a:spcBef>
                <a:spcPts val="200"/>
              </a:spcBef>
              <a:spcAft>
                <a:spcPts val="1300"/>
              </a:spcAft>
              <a:buNone/>
            </a:pPr>
            <a:r>
              <a:rPr lang="en-US" sz="1300" b="1" dirty="0">
                <a:solidFill>
                  <a:srgbClr val="77F2A1"/>
                </a:solidFill>
                <a:latin typeface="Arial" pitchFamily="34" charset="0"/>
                <a:ea typeface="Arial" pitchFamily="34" charset="-122"/>
                <a:cs typeface="Arial" pitchFamily="34" charset="-120"/>
              </a:rPr>
              <a:t>売る</a:t>
            </a:r>
            <a:endParaRPr lang="en-US" sz="1300" dirty="0"/>
          </a:p>
        </p:txBody>
      </p:sp>
      <p:sp>
        <p:nvSpPr>
          <p:cNvPr id="12" name="Text 10"/>
          <p:cNvSpPr/>
          <p:nvPr/>
        </p:nvSpPr>
        <p:spPr>
          <a:xfrm>
            <a:off x="644426" y="2945606"/>
            <a:ext cx="2269176"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x402 API</a:t>
            </a:r>
            <a:endParaRPr lang="en-US" sz="900" dirty="0"/>
          </a:p>
        </p:txBody>
      </p:sp>
      <p:sp>
        <p:nvSpPr>
          <p:cNvPr id="13" name="Text 11"/>
          <p:cNvSpPr/>
          <p:nvPr/>
        </p:nvSpPr>
        <p:spPr>
          <a:xfrm>
            <a:off x="644426" y="3142357"/>
            <a:ext cx="2269176"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digital goods</a:t>
            </a:r>
            <a:endParaRPr lang="en-US" sz="900" dirty="0"/>
          </a:p>
        </p:txBody>
      </p:sp>
      <p:sp>
        <p:nvSpPr>
          <p:cNvPr id="14" name="Text 12"/>
          <p:cNvSpPr/>
          <p:nvPr/>
        </p:nvSpPr>
        <p:spPr>
          <a:xfrm>
            <a:off x="644426" y="3339108"/>
            <a:ext cx="2269176"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research</a:t>
            </a:r>
            <a:endParaRPr lang="en-US" sz="900" dirty="0"/>
          </a:p>
        </p:txBody>
      </p:sp>
      <p:sp>
        <p:nvSpPr>
          <p:cNvPr id="15" name="Text 13"/>
          <p:cNvSpPr/>
          <p:nvPr/>
        </p:nvSpPr>
        <p:spPr>
          <a:xfrm>
            <a:off x="3246834" y="1640979"/>
            <a:ext cx="2650182" cy="2412950"/>
          </a:xfrm>
          <a:prstGeom prst="roundRect">
            <a:avLst>
              <a:gd name="adj" fmla="val 6842"/>
            </a:avLst>
          </a:prstGeom>
          <a:solidFill>
            <a:srgbClr val="1A2226"/>
          </a:solidFill>
          <a:ln/>
        </p:spPr>
        <p:txBody>
          <a:bodyPr wrap="square" rtlCol="0" anchor="ctr"/>
          <a:lstStyle/>
          <a:p>
            <a:pPr indent="0" marL="0">
              <a:buNone/>
            </a:pPr>
            <a:endParaRPr lang="en-US" dirty="0"/>
          </a:p>
        </p:txBody>
      </p:sp>
      <p:sp>
        <p:nvSpPr>
          <p:cNvPr id="16" name="Shape 14"/>
          <p:cNvSpPr/>
          <p:nvPr/>
        </p:nvSpPr>
        <p:spPr>
          <a:xfrm>
            <a:off x="3246834" y="1669554"/>
            <a:ext cx="2650182" cy="0"/>
          </a:xfrm>
          <a:prstGeom prst="line">
            <a:avLst/>
          </a:prstGeom>
          <a:noFill/>
          <a:ln w="57150">
            <a:solidFill>
              <a:srgbClr val="77F2A1"/>
            </a:solidFill>
            <a:prstDash val="solid"/>
          </a:ln>
        </p:spPr>
      </p:sp>
      <p:sp>
        <p:nvSpPr>
          <p:cNvPr id="17" name="Shape 15"/>
          <p:cNvSpPr/>
          <p:nvPr/>
        </p:nvSpPr>
        <p:spPr>
          <a:xfrm>
            <a:off x="5892254" y="1640979"/>
            <a:ext cx="0" cy="2412950"/>
          </a:xfrm>
          <a:prstGeom prst="line">
            <a:avLst/>
          </a:prstGeom>
          <a:noFill/>
          <a:ln w="9525">
            <a:solidFill>
              <a:srgbClr val="324047"/>
            </a:solidFill>
            <a:prstDash val="solid"/>
          </a:ln>
        </p:spPr>
      </p:sp>
      <p:sp>
        <p:nvSpPr>
          <p:cNvPr id="18" name="Shape 16"/>
          <p:cNvSpPr/>
          <p:nvPr/>
        </p:nvSpPr>
        <p:spPr>
          <a:xfrm>
            <a:off x="3246834" y="4049167"/>
            <a:ext cx="2650182" cy="0"/>
          </a:xfrm>
          <a:prstGeom prst="line">
            <a:avLst/>
          </a:prstGeom>
          <a:noFill/>
          <a:ln w="9525">
            <a:solidFill>
              <a:srgbClr val="324047"/>
            </a:solidFill>
            <a:prstDash val="solid"/>
          </a:ln>
        </p:spPr>
      </p:sp>
      <p:sp>
        <p:nvSpPr>
          <p:cNvPr id="19" name="Shape 17"/>
          <p:cNvSpPr/>
          <p:nvPr/>
        </p:nvSpPr>
        <p:spPr>
          <a:xfrm>
            <a:off x="3251597" y="1640979"/>
            <a:ext cx="0" cy="2412950"/>
          </a:xfrm>
          <a:prstGeom prst="line">
            <a:avLst/>
          </a:prstGeom>
          <a:noFill/>
          <a:ln w="9525">
            <a:solidFill>
              <a:srgbClr val="324047"/>
            </a:solidFill>
            <a:prstDash val="solid"/>
          </a:ln>
        </p:spPr>
      </p:sp>
      <p:sp>
        <p:nvSpPr>
          <p:cNvPr id="20" name="Text 18"/>
          <p:cNvSpPr/>
          <p:nvPr/>
        </p:nvSpPr>
        <p:spPr>
          <a:xfrm>
            <a:off x="3459510" y="1901279"/>
            <a:ext cx="2269328"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02</a:t>
            </a:r>
            <a:endParaRPr lang="en-US" sz="900" dirty="0"/>
          </a:p>
        </p:txBody>
      </p:sp>
      <p:sp>
        <p:nvSpPr>
          <p:cNvPr id="21" name="Text 19"/>
          <p:cNvSpPr/>
          <p:nvPr/>
        </p:nvSpPr>
        <p:spPr>
          <a:xfrm>
            <a:off x="3459510" y="2136130"/>
            <a:ext cx="2269328" cy="371475"/>
          </a:xfrm>
          <a:prstGeom prst="rect">
            <a:avLst/>
          </a:prstGeom>
          <a:noFill/>
          <a:ln/>
        </p:spPr>
        <p:txBody>
          <a:bodyPr wrap="square" lIns="0" tIns="0" rIns="0" bIns="0" rtlCol="0" anchor="t"/>
          <a:lstStyle/>
          <a:p>
            <a:pPr algn="l" indent="0" marL="0">
              <a:spcBef>
                <a:spcPts val="800"/>
              </a:spcBef>
              <a:buNone/>
            </a:pPr>
            <a:r>
              <a:rPr lang="en-US" sz="2600" b="1" dirty="0">
                <a:solidFill>
                  <a:srgbClr val="F6F0E6"/>
                </a:solidFill>
                <a:latin typeface="Arial" pitchFamily="34" charset="0"/>
                <a:ea typeface="Arial" pitchFamily="34" charset="-122"/>
                <a:cs typeface="Arial" pitchFamily="34" charset="-120"/>
              </a:rPr>
              <a:t>WORK</a:t>
            </a:r>
            <a:endParaRPr lang="en-US" sz="2600" dirty="0"/>
          </a:p>
        </p:txBody>
      </p:sp>
      <p:sp>
        <p:nvSpPr>
          <p:cNvPr id="22" name="Text 20"/>
          <p:cNvSpPr/>
          <p:nvPr/>
        </p:nvSpPr>
        <p:spPr>
          <a:xfrm>
            <a:off x="3459510" y="2532906"/>
            <a:ext cx="2269328" cy="247650"/>
          </a:xfrm>
          <a:prstGeom prst="rect">
            <a:avLst/>
          </a:prstGeom>
          <a:noFill/>
          <a:ln/>
        </p:spPr>
        <p:txBody>
          <a:bodyPr wrap="square" lIns="0" tIns="0" rIns="0" bIns="0" rtlCol="0" anchor="t"/>
          <a:lstStyle/>
          <a:p>
            <a:pPr algn="l" indent="0" marL="0">
              <a:spcBef>
                <a:spcPts val="200"/>
              </a:spcBef>
              <a:spcAft>
                <a:spcPts val="1300"/>
              </a:spcAft>
              <a:buNone/>
            </a:pPr>
            <a:r>
              <a:rPr lang="en-US" sz="1300" b="1" dirty="0">
                <a:solidFill>
                  <a:srgbClr val="77F2A1"/>
                </a:solidFill>
                <a:latin typeface="Arial" pitchFamily="34" charset="0"/>
                <a:ea typeface="Arial" pitchFamily="34" charset="-122"/>
                <a:cs typeface="Arial" pitchFamily="34" charset="-120"/>
              </a:rPr>
              <a:t>働く</a:t>
            </a:r>
            <a:endParaRPr lang="en-US" sz="1300" dirty="0"/>
          </a:p>
        </p:txBody>
      </p:sp>
      <p:sp>
        <p:nvSpPr>
          <p:cNvPr id="23" name="Text 21"/>
          <p:cNvSpPr/>
          <p:nvPr/>
        </p:nvSpPr>
        <p:spPr>
          <a:xfrm>
            <a:off x="3459510" y="2945606"/>
            <a:ext cx="2269328"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TaskMarket</a:t>
            </a:r>
            <a:endParaRPr lang="en-US" sz="900" dirty="0"/>
          </a:p>
        </p:txBody>
      </p:sp>
      <p:sp>
        <p:nvSpPr>
          <p:cNvPr id="24" name="Text 22"/>
          <p:cNvSpPr/>
          <p:nvPr/>
        </p:nvSpPr>
        <p:spPr>
          <a:xfrm>
            <a:off x="3459510" y="3142357"/>
            <a:ext cx="2269328"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gig / bounty</a:t>
            </a:r>
            <a:endParaRPr lang="en-US" sz="900" dirty="0"/>
          </a:p>
        </p:txBody>
      </p:sp>
      <p:sp>
        <p:nvSpPr>
          <p:cNvPr id="25" name="Text 23"/>
          <p:cNvSpPr/>
          <p:nvPr/>
        </p:nvSpPr>
        <p:spPr>
          <a:xfrm>
            <a:off x="3459510" y="3339108"/>
            <a:ext cx="2269328"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delivery</a:t>
            </a:r>
            <a:endParaRPr lang="en-US" sz="900" dirty="0"/>
          </a:p>
        </p:txBody>
      </p:sp>
      <p:sp>
        <p:nvSpPr>
          <p:cNvPr id="26" name="Text 24"/>
          <p:cNvSpPr/>
          <p:nvPr/>
        </p:nvSpPr>
        <p:spPr>
          <a:xfrm>
            <a:off x="6062067" y="1640979"/>
            <a:ext cx="2650182" cy="2412950"/>
          </a:xfrm>
          <a:prstGeom prst="roundRect">
            <a:avLst>
              <a:gd name="adj" fmla="val 6842"/>
            </a:avLst>
          </a:prstGeom>
          <a:solidFill>
            <a:srgbClr val="1A2226"/>
          </a:solidFill>
          <a:ln/>
        </p:spPr>
        <p:txBody>
          <a:bodyPr wrap="square" rtlCol="0" anchor="ctr"/>
          <a:lstStyle/>
          <a:p>
            <a:pPr indent="0" marL="0">
              <a:buNone/>
            </a:pPr>
            <a:endParaRPr lang="en-US" dirty="0"/>
          </a:p>
        </p:txBody>
      </p:sp>
      <p:sp>
        <p:nvSpPr>
          <p:cNvPr id="27" name="Shape 25"/>
          <p:cNvSpPr/>
          <p:nvPr/>
        </p:nvSpPr>
        <p:spPr>
          <a:xfrm>
            <a:off x="6062067" y="1669554"/>
            <a:ext cx="2650182" cy="0"/>
          </a:xfrm>
          <a:prstGeom prst="line">
            <a:avLst/>
          </a:prstGeom>
          <a:noFill/>
          <a:ln w="57150">
            <a:solidFill>
              <a:srgbClr val="FFB454"/>
            </a:solidFill>
            <a:prstDash val="solid"/>
          </a:ln>
        </p:spPr>
      </p:sp>
      <p:sp>
        <p:nvSpPr>
          <p:cNvPr id="28" name="Shape 26"/>
          <p:cNvSpPr/>
          <p:nvPr/>
        </p:nvSpPr>
        <p:spPr>
          <a:xfrm>
            <a:off x="8707487" y="1640979"/>
            <a:ext cx="0" cy="2412950"/>
          </a:xfrm>
          <a:prstGeom prst="line">
            <a:avLst/>
          </a:prstGeom>
          <a:noFill/>
          <a:ln w="9525">
            <a:solidFill>
              <a:srgbClr val="324047"/>
            </a:solidFill>
            <a:prstDash val="solid"/>
          </a:ln>
        </p:spPr>
      </p:sp>
      <p:sp>
        <p:nvSpPr>
          <p:cNvPr id="29" name="Shape 27"/>
          <p:cNvSpPr/>
          <p:nvPr/>
        </p:nvSpPr>
        <p:spPr>
          <a:xfrm>
            <a:off x="6062067" y="4049167"/>
            <a:ext cx="2650182" cy="0"/>
          </a:xfrm>
          <a:prstGeom prst="line">
            <a:avLst/>
          </a:prstGeom>
          <a:noFill/>
          <a:ln w="9525">
            <a:solidFill>
              <a:srgbClr val="324047"/>
            </a:solidFill>
            <a:prstDash val="solid"/>
          </a:ln>
        </p:spPr>
      </p:sp>
      <p:sp>
        <p:nvSpPr>
          <p:cNvPr id="30" name="Shape 28"/>
          <p:cNvSpPr/>
          <p:nvPr/>
        </p:nvSpPr>
        <p:spPr>
          <a:xfrm>
            <a:off x="6066830" y="1640979"/>
            <a:ext cx="0" cy="2412950"/>
          </a:xfrm>
          <a:prstGeom prst="line">
            <a:avLst/>
          </a:prstGeom>
          <a:noFill/>
          <a:ln w="9525">
            <a:solidFill>
              <a:srgbClr val="324047"/>
            </a:solidFill>
            <a:prstDash val="solid"/>
          </a:ln>
        </p:spPr>
      </p:sp>
      <p:sp>
        <p:nvSpPr>
          <p:cNvPr id="31" name="Text 29"/>
          <p:cNvSpPr/>
          <p:nvPr/>
        </p:nvSpPr>
        <p:spPr>
          <a:xfrm>
            <a:off x="6274743" y="1901279"/>
            <a:ext cx="2269328"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03</a:t>
            </a:r>
            <a:endParaRPr lang="en-US" sz="900" dirty="0"/>
          </a:p>
        </p:txBody>
      </p:sp>
      <p:sp>
        <p:nvSpPr>
          <p:cNvPr id="32" name="Text 30"/>
          <p:cNvSpPr/>
          <p:nvPr/>
        </p:nvSpPr>
        <p:spPr>
          <a:xfrm>
            <a:off x="6274743" y="2136130"/>
            <a:ext cx="2269328" cy="371475"/>
          </a:xfrm>
          <a:prstGeom prst="rect">
            <a:avLst/>
          </a:prstGeom>
          <a:noFill/>
          <a:ln/>
        </p:spPr>
        <p:txBody>
          <a:bodyPr wrap="square" lIns="0" tIns="0" rIns="0" bIns="0" rtlCol="0" anchor="t"/>
          <a:lstStyle/>
          <a:p>
            <a:pPr algn="l" indent="0" marL="0">
              <a:spcBef>
                <a:spcPts val="800"/>
              </a:spcBef>
              <a:buNone/>
            </a:pPr>
            <a:r>
              <a:rPr lang="en-US" sz="2600" b="1" dirty="0">
                <a:solidFill>
                  <a:srgbClr val="F6F0E6"/>
                </a:solidFill>
                <a:latin typeface="Arial" pitchFamily="34" charset="0"/>
                <a:ea typeface="Arial" pitchFamily="34" charset="-122"/>
                <a:cs typeface="Arial" pitchFamily="34" charset="-120"/>
              </a:rPr>
              <a:t>CAPITAL</a:t>
            </a:r>
            <a:endParaRPr lang="en-US" sz="2600" dirty="0"/>
          </a:p>
        </p:txBody>
      </p:sp>
      <p:sp>
        <p:nvSpPr>
          <p:cNvPr id="33" name="Text 31"/>
          <p:cNvSpPr/>
          <p:nvPr/>
        </p:nvSpPr>
        <p:spPr>
          <a:xfrm>
            <a:off x="6274743" y="2532906"/>
            <a:ext cx="2269328" cy="247650"/>
          </a:xfrm>
          <a:prstGeom prst="rect">
            <a:avLst/>
          </a:prstGeom>
          <a:noFill/>
          <a:ln/>
        </p:spPr>
        <p:txBody>
          <a:bodyPr wrap="square" lIns="0" tIns="0" rIns="0" bIns="0" rtlCol="0" anchor="t"/>
          <a:lstStyle/>
          <a:p>
            <a:pPr algn="l" indent="0" marL="0">
              <a:spcBef>
                <a:spcPts val="200"/>
              </a:spcBef>
              <a:spcAft>
                <a:spcPts val="1300"/>
              </a:spcAft>
              <a:buNone/>
            </a:pPr>
            <a:r>
              <a:rPr lang="en-US" sz="1300" b="1" dirty="0">
                <a:solidFill>
                  <a:srgbClr val="FFB454"/>
                </a:solidFill>
                <a:latin typeface="Arial" pitchFamily="34" charset="0"/>
                <a:ea typeface="Arial" pitchFamily="34" charset="-122"/>
                <a:cs typeface="Arial" pitchFamily="34" charset="-120"/>
              </a:rPr>
              <a:t>運用する</a:t>
            </a:r>
            <a:endParaRPr lang="en-US" sz="1300" dirty="0"/>
          </a:p>
        </p:txBody>
      </p:sp>
      <p:sp>
        <p:nvSpPr>
          <p:cNvPr id="34" name="Text 32"/>
          <p:cNvSpPr/>
          <p:nvPr/>
        </p:nvSpPr>
        <p:spPr>
          <a:xfrm>
            <a:off x="6274743" y="2945606"/>
            <a:ext cx="2269328" cy="133350"/>
          </a:xfrm>
          <a:prstGeom prst="rect">
            <a:avLst/>
          </a:prstGeom>
          <a:noFill/>
          <a:ln/>
        </p:spPr>
        <p:txBody>
          <a:bodyPr wrap="square" lIns="0" tIns="0" rIns="0" bIns="0" rtlCol="0" anchor="t"/>
          <a:lstStyle/>
          <a:p>
            <a:pPr algn="l" indent="0" marL="0">
              <a:spcBef>
                <a:spcPts val="500"/>
              </a:spcBef>
              <a:buNone/>
            </a:pPr>
            <a:r>
              <a:rPr lang="en-US" sz="900" dirty="0">
                <a:solidFill>
                  <a:srgbClr val="9CAAA6"/>
                </a:solidFill>
                <a:latin typeface="Arial" pitchFamily="34" charset="0"/>
                <a:ea typeface="Arial" pitchFamily="34" charset="-122"/>
                <a:cs typeface="Arial" pitchFamily="34" charset="-120"/>
              </a:rPr>
              <a:t>trade / yield</a:t>
            </a:r>
            <a:endParaRPr lang="en-US" sz="900" dirty="0"/>
          </a:p>
        </p:txBody>
      </p:sp>
      <p:sp>
        <p:nvSpPr>
          <p:cNvPr id="35" name="Text 33"/>
          <p:cNvSpPr/>
          <p:nvPr/>
        </p:nvSpPr>
        <p:spPr>
          <a:xfrm>
            <a:off x="6274743" y="3269456"/>
            <a:ext cx="2224832" cy="241102"/>
          </a:xfrm>
          <a:prstGeom prst="rect">
            <a:avLst/>
          </a:prstGeom>
          <a:solidFill>
            <a:srgbClr val="FFB454"/>
          </a:solidFill>
          <a:ln/>
        </p:spPr>
        <p:txBody>
          <a:bodyPr wrap="square" rtlCol="0" anchor="ctr"/>
          <a:lstStyle/>
          <a:p>
            <a:pPr indent="0" marL="0">
              <a:buNone/>
            </a:pPr>
            <a:endParaRPr lang="en-US" dirty="0"/>
          </a:p>
        </p:txBody>
      </p:sp>
      <p:sp>
        <p:nvSpPr>
          <p:cNvPr id="36" name="Text 34"/>
          <p:cNvSpPr/>
          <p:nvPr/>
        </p:nvSpPr>
        <p:spPr>
          <a:xfrm>
            <a:off x="6317163" y="3332857"/>
            <a:ext cx="2139991" cy="114300"/>
          </a:xfrm>
          <a:prstGeom prst="rect">
            <a:avLst/>
          </a:prstGeom>
          <a:noFill/>
          <a:ln/>
        </p:spPr>
        <p:txBody>
          <a:bodyPr wrap="square" lIns="0" tIns="0" rIns="0" bIns="0" rtlCol="0" anchor="t"/>
          <a:lstStyle/>
          <a:p>
            <a:pPr algn="ctr" indent="0" marL="0">
              <a:buNone/>
            </a:pPr>
            <a:r>
              <a:rPr lang="en-US" sz="800" b="1" dirty="0">
                <a:solidFill>
                  <a:srgbClr val="17201F"/>
                </a:solidFill>
                <a:latin typeface="Arial" pitchFamily="34" charset="0"/>
                <a:ea typeface="Arial" pitchFamily="34" charset="-122"/>
                <a:cs typeface="Arial" pitchFamily="34" charset="-120"/>
              </a:rPr>
              <a:t>SURPLUS ONLY</a:t>
            </a:r>
            <a:endParaRPr lang="en-US" sz="800" dirty="0"/>
          </a:p>
        </p:txBody>
      </p:sp>
      <p:sp>
        <p:nvSpPr>
          <p:cNvPr id="37" name="Shape 35"/>
          <p:cNvSpPr/>
          <p:nvPr/>
        </p:nvSpPr>
        <p:spPr>
          <a:xfrm>
            <a:off x="431750" y="4681686"/>
            <a:ext cx="8280499" cy="0"/>
          </a:xfrm>
          <a:prstGeom prst="line">
            <a:avLst/>
          </a:prstGeom>
          <a:noFill/>
          <a:ln w="9525">
            <a:solidFill>
              <a:srgbClr val="324047"/>
            </a:solidFill>
            <a:prstDash val="solid"/>
          </a:ln>
        </p:spPr>
      </p:sp>
      <p:sp>
        <p:nvSpPr>
          <p:cNvPr id="38" name="Text 36"/>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Priority: SELL → WORK → CAPITAL</a:t>
            </a:r>
            <a:endParaRPr lang="en-US" sz="850" dirty="0"/>
          </a:p>
        </p:txBody>
      </p:sp>
      <p:sp>
        <p:nvSpPr>
          <p:cNvPr id="39" name="Text 37"/>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05 / 10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MONEY TRUTH / 06</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「儲かったふり」を防ぐ</a:t>
            </a:r>
            <a:endParaRPr lang="en-US" sz="3100" dirty="0"/>
          </a:p>
        </p:txBody>
      </p:sp>
      <p:sp>
        <p:nvSpPr>
          <p:cNvPr id="4" name="Text 2"/>
          <p:cNvSpPr/>
          <p:nvPr/>
        </p:nvSpPr>
        <p:spPr>
          <a:xfrm>
            <a:off x="431750" y="1982391"/>
            <a:ext cx="1524000" cy="1143000"/>
          </a:xfrm>
          <a:prstGeom prst="roundRect">
            <a:avLst>
              <a:gd name="adj" fmla="val 11111"/>
            </a:avLst>
          </a:prstGeom>
          <a:solidFill>
            <a:srgbClr val="1A2226"/>
          </a:solidFill>
          <a:ln w="9525">
            <a:solidFill>
              <a:srgbClr val="77F2A1"/>
            </a:solidFill>
          </a:ln>
        </p:spPr>
        <p:txBody>
          <a:bodyPr wrap="square" rtlCol="0" anchor="ctr"/>
          <a:lstStyle/>
          <a:p>
            <a:pPr indent="0" marL="0">
              <a:buNone/>
            </a:pPr>
            <a:endParaRPr lang="en-US" dirty="0"/>
          </a:p>
        </p:txBody>
      </p:sp>
      <p:sp>
        <p:nvSpPr>
          <p:cNvPr id="5" name="Text 3"/>
          <p:cNvSpPr/>
          <p:nvPr/>
        </p:nvSpPr>
        <p:spPr>
          <a:xfrm>
            <a:off x="568619" y="2207716"/>
            <a:ext cx="1250263" cy="114300"/>
          </a:xfrm>
          <a:prstGeom prst="rect">
            <a:avLst/>
          </a:prstGeom>
          <a:noFill/>
          <a:ln/>
        </p:spPr>
        <p:txBody>
          <a:bodyPr wrap="square" lIns="0" tIns="0" rIns="0" bIns="0" rtlCol="0" anchor="t"/>
          <a:lstStyle/>
          <a:p>
            <a:pPr algn="ctr" indent="0" marL="0">
              <a:buNone/>
            </a:pPr>
            <a:r>
              <a:rPr lang="en-US" sz="800" dirty="0">
                <a:solidFill>
                  <a:srgbClr val="9CAAA6"/>
                </a:solidFill>
                <a:latin typeface="Arial" pitchFamily="34" charset="0"/>
                <a:ea typeface="Arial" pitchFamily="34" charset="-122"/>
                <a:cs typeface="Arial" pitchFamily="34" charset="-120"/>
              </a:rPr>
              <a:t>EXTERNAL</a:t>
            </a:r>
            <a:endParaRPr lang="en-US" sz="800" dirty="0"/>
          </a:p>
        </p:txBody>
      </p:sp>
      <p:sp>
        <p:nvSpPr>
          <p:cNvPr id="6" name="Text 4"/>
          <p:cNvSpPr/>
          <p:nvPr/>
        </p:nvSpPr>
        <p:spPr>
          <a:xfrm>
            <a:off x="568619" y="2436316"/>
            <a:ext cx="1250263" cy="276225"/>
          </a:xfrm>
          <a:prstGeom prst="rect">
            <a:avLst/>
          </a:prstGeom>
          <a:noFill/>
          <a:ln/>
        </p:spPr>
        <p:txBody>
          <a:bodyPr wrap="square" lIns="0" tIns="0" rIns="0" bIns="0" rtlCol="0" anchor="t"/>
          <a:lstStyle/>
          <a:p>
            <a:pPr algn="ctr" indent="0" marL="0">
              <a:spcBef>
                <a:spcPts val="900"/>
              </a:spcBef>
              <a:buNone/>
            </a:pPr>
            <a:r>
              <a:rPr lang="en-US" sz="1900" b="1" dirty="0">
                <a:solidFill>
                  <a:srgbClr val="F6F0E6"/>
                </a:solidFill>
                <a:latin typeface="Arial" pitchFamily="34" charset="0"/>
                <a:ea typeface="Arial" pitchFamily="34" charset="-122"/>
                <a:cs typeface="Arial" pitchFamily="34" charset="-120"/>
              </a:rPr>
              <a:t>Payer</a:t>
            </a:r>
            <a:endParaRPr lang="en-US" sz="1900" dirty="0"/>
          </a:p>
        </p:txBody>
      </p:sp>
      <p:sp>
        <p:nvSpPr>
          <p:cNvPr id="7" name="Text 5"/>
          <p:cNvSpPr/>
          <p:nvPr/>
        </p:nvSpPr>
        <p:spPr>
          <a:xfrm>
            <a:off x="2160984" y="2372916"/>
            <a:ext cx="323951" cy="361950"/>
          </a:xfrm>
          <a:prstGeom prst="rect">
            <a:avLst/>
          </a:prstGeom>
          <a:noFill/>
          <a:ln/>
        </p:spPr>
        <p:txBody>
          <a:bodyPr wrap="square" lIns="0" tIns="0" rIns="0" bIns="0" rtlCol="0" anchor="t"/>
          <a:lstStyle/>
          <a:p>
            <a:pPr algn="l" indent="0" marL="0">
              <a:buNone/>
            </a:pPr>
            <a:r>
              <a:rPr lang="en-US" sz="2500" dirty="0">
                <a:solidFill>
                  <a:srgbClr val="9CAAA6"/>
                </a:solidFill>
                <a:latin typeface="Arial" pitchFamily="34" charset="0"/>
                <a:ea typeface="Arial" pitchFamily="34" charset="-122"/>
                <a:cs typeface="Arial" pitchFamily="34" charset="-120"/>
              </a:rPr>
              <a:t>→</a:t>
            </a:r>
            <a:endParaRPr lang="en-US" sz="2500" dirty="0"/>
          </a:p>
        </p:txBody>
      </p:sp>
      <p:sp>
        <p:nvSpPr>
          <p:cNvPr id="8" name="Text 6"/>
          <p:cNvSpPr/>
          <p:nvPr/>
        </p:nvSpPr>
        <p:spPr>
          <a:xfrm>
            <a:off x="2683966" y="1982391"/>
            <a:ext cx="1524000" cy="1143000"/>
          </a:xfrm>
          <a:prstGeom prst="roundRect">
            <a:avLst>
              <a:gd name="adj" fmla="val 11111"/>
            </a:avLst>
          </a:prstGeom>
          <a:solidFill>
            <a:srgbClr val="1A2226"/>
          </a:solidFill>
          <a:ln w="9525">
            <a:solidFill>
              <a:srgbClr val="324047"/>
            </a:solidFill>
          </a:ln>
        </p:spPr>
        <p:txBody>
          <a:bodyPr wrap="square" rtlCol="0" anchor="ctr"/>
          <a:lstStyle/>
          <a:p>
            <a:pPr indent="0" marL="0">
              <a:buNone/>
            </a:pPr>
            <a:endParaRPr lang="en-US" dirty="0"/>
          </a:p>
        </p:txBody>
      </p:sp>
      <p:sp>
        <p:nvSpPr>
          <p:cNvPr id="9" name="Text 7"/>
          <p:cNvSpPr/>
          <p:nvPr/>
        </p:nvSpPr>
        <p:spPr>
          <a:xfrm>
            <a:off x="2820835" y="2207716"/>
            <a:ext cx="1250263" cy="114300"/>
          </a:xfrm>
          <a:prstGeom prst="rect">
            <a:avLst/>
          </a:prstGeom>
          <a:noFill/>
          <a:ln/>
        </p:spPr>
        <p:txBody>
          <a:bodyPr wrap="square" lIns="0" tIns="0" rIns="0" bIns="0" rtlCol="0" anchor="t"/>
          <a:lstStyle/>
          <a:p>
            <a:pPr algn="ctr" indent="0" marL="0">
              <a:buNone/>
            </a:pPr>
            <a:r>
              <a:rPr lang="en-US" sz="800" dirty="0">
                <a:solidFill>
                  <a:srgbClr val="9CAAA6"/>
                </a:solidFill>
                <a:latin typeface="Arial" pitchFamily="34" charset="0"/>
                <a:ea typeface="Arial" pitchFamily="34" charset="-122"/>
                <a:cs typeface="Arial" pitchFamily="34" charset="-120"/>
              </a:rPr>
              <a:t>ON-CHAIN</a:t>
            </a:r>
            <a:endParaRPr lang="en-US" sz="800" dirty="0"/>
          </a:p>
        </p:txBody>
      </p:sp>
      <p:sp>
        <p:nvSpPr>
          <p:cNvPr id="10" name="Text 8"/>
          <p:cNvSpPr/>
          <p:nvPr/>
        </p:nvSpPr>
        <p:spPr>
          <a:xfrm>
            <a:off x="2820835" y="2436316"/>
            <a:ext cx="1250263" cy="276225"/>
          </a:xfrm>
          <a:prstGeom prst="rect">
            <a:avLst/>
          </a:prstGeom>
          <a:noFill/>
          <a:ln/>
        </p:spPr>
        <p:txBody>
          <a:bodyPr wrap="square" lIns="0" tIns="0" rIns="0" bIns="0" rtlCol="0" anchor="t"/>
          <a:lstStyle/>
          <a:p>
            <a:pPr algn="ctr" indent="0" marL="0">
              <a:spcBef>
                <a:spcPts val="900"/>
              </a:spcBef>
              <a:buNone/>
            </a:pPr>
            <a:r>
              <a:rPr lang="en-US" sz="1900" b="1" dirty="0">
                <a:solidFill>
                  <a:srgbClr val="F6F0E6"/>
                </a:solidFill>
                <a:latin typeface="Arial" pitchFamily="34" charset="0"/>
                <a:ea typeface="Arial" pitchFamily="34" charset="-122"/>
                <a:cs typeface="Arial" pitchFamily="34" charset="-120"/>
              </a:rPr>
              <a:t>Receipt</a:t>
            </a:r>
            <a:endParaRPr lang="en-US" sz="1900" dirty="0"/>
          </a:p>
        </p:txBody>
      </p:sp>
      <p:sp>
        <p:nvSpPr>
          <p:cNvPr id="11" name="Text 9"/>
          <p:cNvSpPr/>
          <p:nvPr/>
        </p:nvSpPr>
        <p:spPr>
          <a:xfrm>
            <a:off x="4413200" y="2372916"/>
            <a:ext cx="323951" cy="361950"/>
          </a:xfrm>
          <a:prstGeom prst="rect">
            <a:avLst/>
          </a:prstGeom>
          <a:noFill/>
          <a:ln/>
        </p:spPr>
        <p:txBody>
          <a:bodyPr wrap="square" lIns="0" tIns="0" rIns="0" bIns="0" rtlCol="0" anchor="t"/>
          <a:lstStyle/>
          <a:p>
            <a:pPr algn="l" indent="0" marL="0">
              <a:buNone/>
            </a:pPr>
            <a:r>
              <a:rPr lang="en-US" sz="2500" dirty="0">
                <a:solidFill>
                  <a:srgbClr val="9CAAA6"/>
                </a:solidFill>
                <a:latin typeface="Arial" pitchFamily="34" charset="0"/>
                <a:ea typeface="Arial" pitchFamily="34" charset="-122"/>
                <a:cs typeface="Arial" pitchFamily="34" charset="-120"/>
              </a:rPr>
              <a:t>→</a:t>
            </a:r>
            <a:endParaRPr lang="en-US" sz="2500" dirty="0"/>
          </a:p>
        </p:txBody>
      </p:sp>
      <p:sp>
        <p:nvSpPr>
          <p:cNvPr id="12" name="Text 10"/>
          <p:cNvSpPr/>
          <p:nvPr/>
        </p:nvSpPr>
        <p:spPr>
          <a:xfrm>
            <a:off x="4936034" y="1982391"/>
            <a:ext cx="1524000" cy="1143000"/>
          </a:xfrm>
          <a:prstGeom prst="roundRect">
            <a:avLst>
              <a:gd name="adj" fmla="val 11111"/>
            </a:avLst>
          </a:prstGeom>
          <a:solidFill>
            <a:srgbClr val="1A2226"/>
          </a:solidFill>
          <a:ln w="9525">
            <a:solidFill>
              <a:srgbClr val="324047"/>
            </a:solidFill>
          </a:ln>
        </p:spPr>
        <p:txBody>
          <a:bodyPr wrap="square" rtlCol="0" anchor="ctr"/>
          <a:lstStyle/>
          <a:p>
            <a:pPr indent="0" marL="0">
              <a:buNone/>
            </a:pPr>
            <a:endParaRPr lang="en-US" dirty="0"/>
          </a:p>
        </p:txBody>
      </p:sp>
      <p:sp>
        <p:nvSpPr>
          <p:cNvPr id="13" name="Text 11"/>
          <p:cNvSpPr/>
          <p:nvPr/>
        </p:nvSpPr>
        <p:spPr>
          <a:xfrm>
            <a:off x="5072902" y="2207716"/>
            <a:ext cx="1250263" cy="114300"/>
          </a:xfrm>
          <a:prstGeom prst="rect">
            <a:avLst/>
          </a:prstGeom>
          <a:noFill/>
          <a:ln/>
        </p:spPr>
        <p:txBody>
          <a:bodyPr wrap="square" lIns="0" tIns="0" rIns="0" bIns="0" rtlCol="0" anchor="t"/>
          <a:lstStyle/>
          <a:p>
            <a:pPr algn="ctr" indent="0" marL="0">
              <a:buNone/>
            </a:pPr>
            <a:r>
              <a:rPr lang="en-US" sz="800" dirty="0">
                <a:solidFill>
                  <a:srgbClr val="9CAAA6"/>
                </a:solidFill>
                <a:latin typeface="Arial" pitchFamily="34" charset="0"/>
                <a:ea typeface="Arial" pitchFamily="34" charset="-122"/>
                <a:cs typeface="Arial" pitchFamily="34" charset="-120"/>
              </a:rPr>
              <a:t>INDEPENDENT</a:t>
            </a:r>
            <a:endParaRPr lang="en-US" sz="800" dirty="0"/>
          </a:p>
        </p:txBody>
      </p:sp>
      <p:sp>
        <p:nvSpPr>
          <p:cNvPr id="14" name="Text 12"/>
          <p:cNvSpPr/>
          <p:nvPr/>
        </p:nvSpPr>
        <p:spPr>
          <a:xfrm>
            <a:off x="5072902" y="2436316"/>
            <a:ext cx="1250263" cy="276225"/>
          </a:xfrm>
          <a:prstGeom prst="rect">
            <a:avLst/>
          </a:prstGeom>
          <a:noFill/>
          <a:ln/>
        </p:spPr>
        <p:txBody>
          <a:bodyPr wrap="square" lIns="0" tIns="0" rIns="0" bIns="0" rtlCol="0" anchor="t"/>
          <a:lstStyle/>
          <a:p>
            <a:pPr algn="ctr" indent="0" marL="0">
              <a:spcBef>
                <a:spcPts val="900"/>
              </a:spcBef>
              <a:buNone/>
            </a:pPr>
            <a:r>
              <a:rPr lang="en-US" sz="1900" b="1" dirty="0">
                <a:solidFill>
                  <a:srgbClr val="F6F0E6"/>
                </a:solidFill>
                <a:latin typeface="Arial" pitchFamily="34" charset="0"/>
                <a:ea typeface="Arial" pitchFamily="34" charset="-122"/>
                <a:cs typeface="Arial" pitchFamily="34" charset="-120"/>
              </a:rPr>
              <a:t>Verifier</a:t>
            </a:r>
            <a:endParaRPr lang="en-US" sz="1900" dirty="0"/>
          </a:p>
        </p:txBody>
      </p:sp>
      <p:sp>
        <p:nvSpPr>
          <p:cNvPr id="15" name="Text 13"/>
          <p:cNvSpPr/>
          <p:nvPr/>
        </p:nvSpPr>
        <p:spPr>
          <a:xfrm>
            <a:off x="6665416" y="2372916"/>
            <a:ext cx="323951" cy="361950"/>
          </a:xfrm>
          <a:prstGeom prst="rect">
            <a:avLst/>
          </a:prstGeom>
          <a:noFill/>
          <a:ln/>
        </p:spPr>
        <p:txBody>
          <a:bodyPr wrap="square" lIns="0" tIns="0" rIns="0" bIns="0" rtlCol="0" anchor="t"/>
          <a:lstStyle/>
          <a:p>
            <a:pPr algn="l" indent="0" marL="0">
              <a:buNone/>
            </a:pPr>
            <a:r>
              <a:rPr lang="en-US" sz="2500" dirty="0">
                <a:solidFill>
                  <a:srgbClr val="9CAAA6"/>
                </a:solidFill>
                <a:latin typeface="Arial" pitchFamily="34" charset="0"/>
                <a:ea typeface="Arial" pitchFamily="34" charset="-122"/>
                <a:cs typeface="Arial" pitchFamily="34" charset="-120"/>
              </a:rPr>
              <a:t>→</a:t>
            </a:r>
            <a:endParaRPr lang="en-US" sz="2500" dirty="0"/>
          </a:p>
        </p:txBody>
      </p:sp>
      <p:sp>
        <p:nvSpPr>
          <p:cNvPr id="16" name="Text 14"/>
          <p:cNvSpPr/>
          <p:nvPr/>
        </p:nvSpPr>
        <p:spPr>
          <a:xfrm>
            <a:off x="7188250" y="1982391"/>
            <a:ext cx="1524000" cy="1143000"/>
          </a:xfrm>
          <a:prstGeom prst="roundRect">
            <a:avLst>
              <a:gd name="adj" fmla="val 11111"/>
            </a:avLst>
          </a:prstGeom>
          <a:solidFill>
            <a:srgbClr val="1A2226"/>
          </a:solidFill>
          <a:ln w="9525">
            <a:solidFill>
              <a:srgbClr val="6CB8FF"/>
            </a:solidFill>
          </a:ln>
        </p:spPr>
        <p:txBody>
          <a:bodyPr wrap="square" rtlCol="0" anchor="ctr"/>
          <a:lstStyle/>
          <a:p>
            <a:pPr indent="0" marL="0">
              <a:buNone/>
            </a:pPr>
            <a:endParaRPr lang="en-US" dirty="0"/>
          </a:p>
        </p:txBody>
      </p:sp>
      <p:sp>
        <p:nvSpPr>
          <p:cNvPr id="17" name="Text 15"/>
          <p:cNvSpPr/>
          <p:nvPr/>
        </p:nvSpPr>
        <p:spPr>
          <a:xfrm>
            <a:off x="7325118" y="2207716"/>
            <a:ext cx="1250263" cy="114300"/>
          </a:xfrm>
          <a:prstGeom prst="rect">
            <a:avLst/>
          </a:prstGeom>
          <a:noFill/>
          <a:ln/>
        </p:spPr>
        <p:txBody>
          <a:bodyPr wrap="square" lIns="0" tIns="0" rIns="0" bIns="0" rtlCol="0" anchor="t"/>
          <a:lstStyle/>
          <a:p>
            <a:pPr algn="ctr" indent="0" marL="0">
              <a:buNone/>
            </a:pPr>
            <a:r>
              <a:rPr lang="en-US" sz="800" dirty="0">
                <a:solidFill>
                  <a:srgbClr val="9CAAA6"/>
                </a:solidFill>
                <a:latin typeface="Arial" pitchFamily="34" charset="0"/>
                <a:ea typeface="Arial" pitchFamily="34" charset="-122"/>
                <a:cs typeface="Arial" pitchFamily="34" charset="-120"/>
              </a:rPr>
              <a:t>APPEND-ONLY</a:t>
            </a:r>
            <a:endParaRPr lang="en-US" sz="800" dirty="0"/>
          </a:p>
        </p:txBody>
      </p:sp>
      <p:sp>
        <p:nvSpPr>
          <p:cNvPr id="18" name="Text 16"/>
          <p:cNvSpPr/>
          <p:nvPr/>
        </p:nvSpPr>
        <p:spPr>
          <a:xfrm>
            <a:off x="7325118" y="2436316"/>
            <a:ext cx="1250263" cy="276225"/>
          </a:xfrm>
          <a:prstGeom prst="rect">
            <a:avLst/>
          </a:prstGeom>
          <a:noFill/>
          <a:ln/>
        </p:spPr>
        <p:txBody>
          <a:bodyPr wrap="square" lIns="0" tIns="0" rIns="0" bIns="0" rtlCol="0" anchor="t"/>
          <a:lstStyle/>
          <a:p>
            <a:pPr algn="ctr" indent="0" marL="0">
              <a:spcBef>
                <a:spcPts val="900"/>
              </a:spcBef>
              <a:buNone/>
            </a:pPr>
            <a:r>
              <a:rPr lang="en-US" sz="1900" b="1" dirty="0">
                <a:solidFill>
                  <a:srgbClr val="F6F0E6"/>
                </a:solidFill>
                <a:latin typeface="Arial" pitchFamily="34" charset="0"/>
                <a:ea typeface="Arial" pitchFamily="34" charset="-122"/>
                <a:cs typeface="Arial" pitchFamily="34" charset="-120"/>
              </a:rPr>
              <a:t>Ledger</a:t>
            </a:r>
            <a:endParaRPr lang="en-US" sz="1900" dirty="0"/>
          </a:p>
        </p:txBody>
      </p:sp>
      <p:sp>
        <p:nvSpPr>
          <p:cNvPr id="19" name="Text 17"/>
          <p:cNvSpPr/>
          <p:nvPr/>
        </p:nvSpPr>
        <p:spPr>
          <a:xfrm>
            <a:off x="431750" y="3341191"/>
            <a:ext cx="2675483" cy="371475"/>
          </a:xfrm>
          <a:prstGeom prst="rect">
            <a:avLst/>
          </a:prstGeom>
          <a:solidFill>
            <a:srgbClr val="261C1C"/>
          </a:solidFill>
          <a:ln/>
        </p:spPr>
        <p:txBody>
          <a:bodyPr wrap="square" rtlCol="0" anchor="ctr"/>
          <a:lstStyle/>
          <a:p>
            <a:pPr indent="0" marL="0">
              <a:buNone/>
            </a:pPr>
            <a:endParaRPr lang="en-US" dirty="0"/>
          </a:p>
        </p:txBody>
      </p:sp>
      <p:sp>
        <p:nvSpPr>
          <p:cNvPr id="20" name="Shape 18"/>
          <p:cNvSpPr/>
          <p:nvPr/>
        </p:nvSpPr>
        <p:spPr>
          <a:xfrm>
            <a:off x="450800" y="3341191"/>
            <a:ext cx="0" cy="371475"/>
          </a:xfrm>
          <a:prstGeom prst="line">
            <a:avLst/>
          </a:prstGeom>
          <a:noFill/>
          <a:ln w="38100">
            <a:solidFill>
              <a:srgbClr val="FF6B6B"/>
            </a:solidFill>
            <a:prstDash val="solid"/>
          </a:ln>
        </p:spPr>
      </p:sp>
      <p:sp>
        <p:nvSpPr>
          <p:cNvPr id="21" name="Text 19"/>
          <p:cNvSpPr/>
          <p:nvPr/>
        </p:nvSpPr>
        <p:spPr>
          <a:xfrm>
            <a:off x="634901" y="3455491"/>
            <a:ext cx="302547" cy="142875"/>
          </a:xfrm>
          <a:prstGeom prst="rect">
            <a:avLst/>
          </a:prstGeom>
          <a:noFill/>
          <a:ln/>
        </p:spPr>
        <p:txBody>
          <a:bodyPr wrap="square" lIns="0" tIns="0" rIns="0" bIns="0" rtlCol="0" anchor="t"/>
          <a:lstStyle/>
          <a:p>
            <a:pPr algn="l" indent="0" marL="0">
              <a:buNone/>
            </a:pPr>
            <a:r>
              <a:rPr lang="en-US" sz="1000" dirty="0">
                <a:solidFill>
                  <a:srgbClr val="F6F0E6"/>
                </a:solidFill>
                <a:latin typeface="Arial" pitchFamily="34" charset="0"/>
                <a:ea typeface="Arial" pitchFamily="34" charset="-122"/>
                <a:cs typeface="Arial" pitchFamily="34" charset="-120"/>
              </a:rPr>
              <a:t>Seed</a:t>
            </a:r>
            <a:endParaRPr lang="en-US" sz="1000" dirty="0"/>
          </a:p>
        </p:txBody>
      </p:sp>
      <p:sp>
        <p:nvSpPr>
          <p:cNvPr id="22" name="Text 20"/>
          <p:cNvSpPr/>
          <p:nvPr/>
        </p:nvSpPr>
        <p:spPr>
          <a:xfrm>
            <a:off x="2278559" y="3455491"/>
            <a:ext cx="676897" cy="142875"/>
          </a:xfrm>
          <a:prstGeom prst="rect">
            <a:avLst/>
          </a:prstGeom>
          <a:noFill/>
          <a:ln/>
        </p:spPr>
        <p:txBody>
          <a:bodyPr wrap="square" lIns="0" tIns="0" rIns="0" bIns="0" rtlCol="0" anchor="t"/>
          <a:lstStyle/>
          <a:p>
            <a:pPr algn="l" indent="0" marL="0">
              <a:buNone/>
            </a:pPr>
            <a:r>
              <a:rPr lang="en-US" sz="1000" b="1" dirty="0">
                <a:solidFill>
                  <a:srgbClr val="FF6B6B"/>
                </a:solidFill>
                <a:latin typeface="Arial" pitchFamily="34" charset="0"/>
                <a:ea typeface="Arial" pitchFamily="34" charset="-122"/>
                <a:cs typeface="Arial" pitchFamily="34" charset="-120"/>
              </a:rPr>
              <a:t>$0 revenue</a:t>
            </a:r>
            <a:endParaRPr lang="en-US" sz="1000" dirty="0"/>
          </a:p>
        </p:txBody>
      </p:sp>
      <p:sp>
        <p:nvSpPr>
          <p:cNvPr id="23" name="Text 21"/>
          <p:cNvSpPr/>
          <p:nvPr/>
        </p:nvSpPr>
        <p:spPr>
          <a:xfrm>
            <a:off x="3234184" y="3341191"/>
            <a:ext cx="2675632" cy="371475"/>
          </a:xfrm>
          <a:prstGeom prst="rect">
            <a:avLst/>
          </a:prstGeom>
          <a:solidFill>
            <a:srgbClr val="261C1C"/>
          </a:solidFill>
          <a:ln/>
        </p:spPr>
        <p:txBody>
          <a:bodyPr wrap="square" rtlCol="0" anchor="ctr"/>
          <a:lstStyle/>
          <a:p>
            <a:pPr indent="0" marL="0">
              <a:buNone/>
            </a:pPr>
            <a:endParaRPr lang="en-US" dirty="0"/>
          </a:p>
        </p:txBody>
      </p:sp>
      <p:sp>
        <p:nvSpPr>
          <p:cNvPr id="24" name="Shape 22"/>
          <p:cNvSpPr/>
          <p:nvPr/>
        </p:nvSpPr>
        <p:spPr>
          <a:xfrm>
            <a:off x="3253234" y="3341191"/>
            <a:ext cx="0" cy="371475"/>
          </a:xfrm>
          <a:prstGeom prst="line">
            <a:avLst/>
          </a:prstGeom>
          <a:noFill/>
          <a:ln w="38100">
            <a:solidFill>
              <a:srgbClr val="FF6B6B"/>
            </a:solidFill>
            <a:prstDash val="solid"/>
          </a:ln>
        </p:spPr>
      </p:sp>
      <p:sp>
        <p:nvSpPr>
          <p:cNvPr id="25" name="Text 23"/>
          <p:cNvSpPr/>
          <p:nvPr/>
        </p:nvSpPr>
        <p:spPr>
          <a:xfrm>
            <a:off x="3437334" y="3455491"/>
            <a:ext cx="374502" cy="142875"/>
          </a:xfrm>
          <a:prstGeom prst="rect">
            <a:avLst/>
          </a:prstGeom>
          <a:noFill/>
          <a:ln/>
        </p:spPr>
        <p:txBody>
          <a:bodyPr wrap="square" lIns="0" tIns="0" rIns="0" bIns="0" rtlCol="0" anchor="t"/>
          <a:lstStyle/>
          <a:p>
            <a:pPr algn="l" indent="0" marL="0">
              <a:buNone/>
            </a:pPr>
            <a:r>
              <a:rPr lang="en-US" sz="1000" dirty="0">
                <a:solidFill>
                  <a:srgbClr val="F6F0E6"/>
                </a:solidFill>
                <a:latin typeface="Arial" pitchFamily="34" charset="0"/>
                <a:ea typeface="Arial" pitchFamily="34" charset="-122"/>
                <a:cs typeface="Arial" pitchFamily="34" charset="-120"/>
              </a:rPr>
              <a:t>Bridge</a:t>
            </a:r>
            <a:endParaRPr lang="en-US" sz="1000" dirty="0"/>
          </a:p>
        </p:txBody>
      </p:sp>
      <p:sp>
        <p:nvSpPr>
          <p:cNvPr id="26" name="Text 24"/>
          <p:cNvSpPr/>
          <p:nvPr/>
        </p:nvSpPr>
        <p:spPr>
          <a:xfrm>
            <a:off x="5081141" y="3455491"/>
            <a:ext cx="676897" cy="142875"/>
          </a:xfrm>
          <a:prstGeom prst="rect">
            <a:avLst/>
          </a:prstGeom>
          <a:noFill/>
          <a:ln/>
        </p:spPr>
        <p:txBody>
          <a:bodyPr wrap="square" lIns="0" tIns="0" rIns="0" bIns="0" rtlCol="0" anchor="t"/>
          <a:lstStyle/>
          <a:p>
            <a:pPr algn="l" indent="0" marL="0">
              <a:buNone/>
            </a:pPr>
            <a:r>
              <a:rPr lang="en-US" sz="1000" b="1" dirty="0">
                <a:solidFill>
                  <a:srgbClr val="FF6B6B"/>
                </a:solidFill>
                <a:latin typeface="Arial" pitchFamily="34" charset="0"/>
                <a:ea typeface="Arial" pitchFamily="34" charset="-122"/>
                <a:cs typeface="Arial" pitchFamily="34" charset="-120"/>
              </a:rPr>
              <a:t>$0 revenue</a:t>
            </a:r>
            <a:endParaRPr lang="en-US" sz="1000" dirty="0"/>
          </a:p>
        </p:txBody>
      </p:sp>
      <p:sp>
        <p:nvSpPr>
          <p:cNvPr id="27" name="Text 25"/>
          <p:cNvSpPr/>
          <p:nvPr/>
        </p:nvSpPr>
        <p:spPr>
          <a:xfrm>
            <a:off x="6036766" y="3341191"/>
            <a:ext cx="2675483" cy="371475"/>
          </a:xfrm>
          <a:prstGeom prst="rect">
            <a:avLst/>
          </a:prstGeom>
          <a:solidFill>
            <a:srgbClr val="261C1C"/>
          </a:solidFill>
          <a:ln/>
        </p:spPr>
        <p:txBody>
          <a:bodyPr wrap="square" rtlCol="0" anchor="ctr"/>
          <a:lstStyle/>
          <a:p>
            <a:pPr indent="0" marL="0">
              <a:buNone/>
            </a:pPr>
            <a:endParaRPr lang="en-US" dirty="0"/>
          </a:p>
        </p:txBody>
      </p:sp>
      <p:sp>
        <p:nvSpPr>
          <p:cNvPr id="28" name="Shape 26"/>
          <p:cNvSpPr/>
          <p:nvPr/>
        </p:nvSpPr>
        <p:spPr>
          <a:xfrm>
            <a:off x="6055816" y="3341191"/>
            <a:ext cx="0" cy="371475"/>
          </a:xfrm>
          <a:prstGeom prst="line">
            <a:avLst/>
          </a:prstGeom>
          <a:noFill/>
          <a:ln w="38100">
            <a:solidFill>
              <a:srgbClr val="FF6B6B"/>
            </a:solidFill>
            <a:prstDash val="solid"/>
          </a:ln>
        </p:spPr>
      </p:sp>
      <p:sp>
        <p:nvSpPr>
          <p:cNvPr id="29" name="Text 27"/>
          <p:cNvSpPr/>
          <p:nvPr/>
        </p:nvSpPr>
        <p:spPr>
          <a:xfrm>
            <a:off x="6239917" y="3455491"/>
            <a:ext cx="475149" cy="142875"/>
          </a:xfrm>
          <a:prstGeom prst="rect">
            <a:avLst/>
          </a:prstGeom>
          <a:noFill/>
          <a:ln/>
        </p:spPr>
        <p:txBody>
          <a:bodyPr wrap="square" lIns="0" tIns="0" rIns="0" bIns="0" rtlCol="0" anchor="t"/>
          <a:lstStyle/>
          <a:p>
            <a:pPr algn="l" indent="0" marL="0">
              <a:buNone/>
            </a:pPr>
            <a:r>
              <a:rPr lang="en-US" sz="1000" dirty="0">
                <a:solidFill>
                  <a:srgbClr val="F6F0E6"/>
                </a:solidFill>
                <a:latin typeface="Arial" pitchFamily="34" charset="0"/>
                <a:ea typeface="Arial" pitchFamily="34" charset="-122"/>
                <a:cs typeface="Arial" pitchFamily="34" charset="-120"/>
              </a:rPr>
              <a:t>Self-pay</a:t>
            </a:r>
            <a:endParaRPr lang="en-US" sz="1000" dirty="0"/>
          </a:p>
        </p:txBody>
      </p:sp>
      <p:sp>
        <p:nvSpPr>
          <p:cNvPr id="30" name="Text 28"/>
          <p:cNvSpPr/>
          <p:nvPr/>
        </p:nvSpPr>
        <p:spPr>
          <a:xfrm>
            <a:off x="7883575" y="3455491"/>
            <a:ext cx="676897" cy="142875"/>
          </a:xfrm>
          <a:prstGeom prst="rect">
            <a:avLst/>
          </a:prstGeom>
          <a:noFill/>
          <a:ln/>
        </p:spPr>
        <p:txBody>
          <a:bodyPr wrap="square" lIns="0" tIns="0" rIns="0" bIns="0" rtlCol="0" anchor="t"/>
          <a:lstStyle/>
          <a:p>
            <a:pPr algn="l" indent="0" marL="0">
              <a:buNone/>
            </a:pPr>
            <a:r>
              <a:rPr lang="en-US" sz="1000" b="1" dirty="0">
                <a:solidFill>
                  <a:srgbClr val="FF6B6B"/>
                </a:solidFill>
                <a:latin typeface="Arial" pitchFamily="34" charset="0"/>
                <a:ea typeface="Arial" pitchFamily="34" charset="-122"/>
                <a:cs typeface="Arial" pitchFamily="34" charset="-120"/>
              </a:rPr>
              <a:t>$0 revenue</a:t>
            </a:r>
            <a:endParaRPr lang="en-US" sz="1000" dirty="0"/>
          </a:p>
        </p:txBody>
      </p:sp>
      <p:sp>
        <p:nvSpPr>
          <p:cNvPr id="31" name="Shape 29"/>
          <p:cNvSpPr/>
          <p:nvPr/>
        </p:nvSpPr>
        <p:spPr>
          <a:xfrm>
            <a:off x="431750" y="4681686"/>
            <a:ext cx="8280499" cy="0"/>
          </a:xfrm>
          <a:prstGeom prst="line">
            <a:avLst/>
          </a:prstGeom>
          <a:noFill/>
          <a:ln w="9525">
            <a:solidFill>
              <a:srgbClr val="324047"/>
            </a:solidFill>
            <a:prstDash val="solid"/>
          </a:ln>
        </p:spPr>
      </p:sp>
      <p:sp>
        <p:nvSpPr>
          <p:cNvPr id="32" name="Text 30"/>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Balance is not profit.</a:t>
            </a:r>
            <a:endParaRPr lang="en-US" sz="850" dirty="0"/>
          </a:p>
        </p:txBody>
      </p:sp>
      <p:sp>
        <p:nvSpPr>
          <p:cNvPr id="33" name="Text 31"/>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06 / 10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SURVIVAL WATERFALL / 07</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稼いだ金の使い道</a:t>
            </a:r>
            <a:endParaRPr lang="en-US" sz="3100" dirty="0"/>
          </a:p>
        </p:txBody>
      </p:sp>
      <p:sp>
        <p:nvSpPr>
          <p:cNvPr id="4" name="Text 2"/>
          <p:cNvSpPr/>
          <p:nvPr/>
        </p:nvSpPr>
        <p:spPr>
          <a:xfrm>
            <a:off x="431750" y="1696641"/>
            <a:ext cx="1656011" cy="1650950"/>
          </a:xfrm>
          <a:prstGeom prst="rect">
            <a:avLst/>
          </a:prstGeom>
          <a:solidFill>
            <a:srgbClr val="164F36"/>
          </a:solidFill>
          <a:ln/>
        </p:spPr>
        <p:txBody>
          <a:bodyPr wrap="square" rtlCol="0" anchor="ctr"/>
          <a:lstStyle/>
          <a:p>
            <a:pPr indent="0" marL="0">
              <a:buNone/>
            </a:pPr>
            <a:endParaRPr lang="en-US" dirty="0"/>
          </a:p>
        </p:txBody>
      </p:sp>
      <p:sp>
        <p:nvSpPr>
          <p:cNvPr id="5" name="Shape 3"/>
          <p:cNvSpPr/>
          <p:nvPr/>
        </p:nvSpPr>
        <p:spPr>
          <a:xfrm>
            <a:off x="2082998" y="1696641"/>
            <a:ext cx="0" cy="1650950"/>
          </a:xfrm>
          <a:prstGeom prst="line">
            <a:avLst/>
          </a:prstGeom>
          <a:noFill/>
          <a:ln w="9525">
            <a:solidFill>
              <a:srgbClr val="101418"/>
            </a:solidFill>
            <a:prstDash val="solid"/>
          </a:ln>
        </p:spPr>
      </p:sp>
      <p:sp>
        <p:nvSpPr>
          <p:cNvPr id="6" name="Text 4"/>
          <p:cNvSpPr/>
          <p:nvPr/>
        </p:nvSpPr>
        <p:spPr>
          <a:xfrm>
            <a:off x="817513" y="2450604"/>
            <a:ext cx="892308" cy="142875"/>
          </a:xfrm>
          <a:prstGeom prst="rect">
            <a:avLst/>
          </a:prstGeom>
          <a:noFill/>
          <a:ln/>
        </p:spPr>
        <p:txBody>
          <a:bodyPr wrap="square" lIns="0" tIns="0" rIns="0" bIns="0" rtlCol="0" anchor="t"/>
          <a:lstStyle/>
          <a:p>
            <a:pPr algn="l" indent="0" marL="0">
              <a:buNone/>
            </a:pPr>
            <a:r>
              <a:rPr lang="en-US" sz="1000" b="1" dirty="0">
                <a:solidFill>
                  <a:srgbClr val="77F2A1"/>
                </a:solidFill>
                <a:latin typeface="Arial" pitchFamily="34" charset="0"/>
                <a:ea typeface="Arial" pitchFamily="34" charset="-122"/>
                <a:cs typeface="Arial" pitchFamily="34" charset="-120"/>
              </a:rPr>
              <a:t>VERIFIED NET</a:t>
            </a:r>
            <a:endParaRPr lang="en-US" sz="1000" dirty="0"/>
          </a:p>
        </p:txBody>
      </p:sp>
      <p:sp>
        <p:nvSpPr>
          <p:cNvPr id="7" name="Text 5"/>
          <p:cNvSpPr/>
          <p:nvPr/>
        </p:nvSpPr>
        <p:spPr>
          <a:xfrm>
            <a:off x="2087761" y="1696641"/>
            <a:ext cx="1656159" cy="1650950"/>
          </a:xfrm>
          <a:prstGeom prst="rect">
            <a:avLst/>
          </a:prstGeom>
          <a:solidFill>
            <a:srgbClr val="1A2226"/>
          </a:solidFill>
          <a:ln/>
        </p:spPr>
        <p:txBody>
          <a:bodyPr wrap="square" rtlCol="0" anchor="ctr"/>
          <a:lstStyle/>
          <a:p>
            <a:pPr indent="0" marL="0">
              <a:buNone/>
            </a:pPr>
            <a:endParaRPr lang="en-US" dirty="0"/>
          </a:p>
        </p:txBody>
      </p:sp>
      <p:sp>
        <p:nvSpPr>
          <p:cNvPr id="8" name="Shape 6"/>
          <p:cNvSpPr/>
          <p:nvPr/>
        </p:nvSpPr>
        <p:spPr>
          <a:xfrm>
            <a:off x="3739158" y="1696641"/>
            <a:ext cx="0" cy="1650950"/>
          </a:xfrm>
          <a:prstGeom prst="line">
            <a:avLst/>
          </a:prstGeom>
          <a:noFill/>
          <a:ln w="9525">
            <a:solidFill>
              <a:srgbClr val="101418"/>
            </a:solidFill>
            <a:prstDash val="solid"/>
          </a:ln>
        </p:spPr>
      </p:sp>
      <p:sp>
        <p:nvSpPr>
          <p:cNvPr id="9" name="Text 7"/>
          <p:cNvSpPr/>
          <p:nvPr/>
        </p:nvSpPr>
        <p:spPr>
          <a:xfrm>
            <a:off x="2522934" y="2320528"/>
            <a:ext cx="791661" cy="142875"/>
          </a:xfrm>
          <a:prstGeom prst="rect">
            <a:avLst/>
          </a:prstGeom>
          <a:noFill/>
          <a:ln/>
        </p:spPr>
        <p:txBody>
          <a:bodyPr wrap="square" lIns="0" tIns="0" rIns="0" bIns="0" rtlCol="0" anchor="t"/>
          <a:lstStyle/>
          <a:p>
            <a:pPr algn="l" indent="0" marL="0">
              <a:buNone/>
            </a:pPr>
            <a:r>
              <a:rPr lang="en-US" sz="1000" b="1" dirty="0">
                <a:solidFill>
                  <a:srgbClr val="F6F0E6"/>
                </a:solidFill>
                <a:latin typeface="Arial" pitchFamily="34" charset="0"/>
                <a:ea typeface="Arial" pitchFamily="34" charset="-122"/>
                <a:cs typeface="Arial" pitchFamily="34" charset="-120"/>
              </a:rPr>
              <a:t>1. COMPUTE</a:t>
            </a:r>
            <a:endParaRPr lang="en-US" sz="1000" dirty="0"/>
          </a:p>
        </p:txBody>
      </p:sp>
      <p:sp>
        <p:nvSpPr>
          <p:cNvPr id="10" name="Text 8"/>
          <p:cNvSpPr/>
          <p:nvPr/>
        </p:nvSpPr>
        <p:spPr>
          <a:xfrm>
            <a:off x="2739628" y="2552254"/>
            <a:ext cx="349758" cy="171450"/>
          </a:xfrm>
          <a:prstGeom prst="rect">
            <a:avLst/>
          </a:prstGeom>
          <a:noFill/>
          <a:ln/>
        </p:spPr>
        <p:txBody>
          <a:bodyPr wrap="square" lIns="0" tIns="0" rIns="0" bIns="0" rtlCol="0" anchor="t"/>
          <a:lstStyle/>
          <a:p>
            <a:pPr algn="l" indent="0" marL="0">
              <a:spcBef>
                <a:spcPts val="700"/>
              </a:spcBef>
              <a:buNone/>
            </a:pPr>
            <a:r>
              <a:rPr lang="en-US" sz="900" b="1" dirty="0">
                <a:solidFill>
                  <a:srgbClr val="9CAAA6"/>
                </a:solidFill>
                <a:latin typeface="Arial" pitchFamily="34" charset="0"/>
                <a:ea typeface="Arial" pitchFamily="34" charset="-122"/>
                <a:cs typeface="Arial" pitchFamily="34" charset="-120"/>
              </a:rPr>
              <a:t>推論費</a:t>
            </a:r>
            <a:endParaRPr lang="en-US" sz="900" dirty="0"/>
          </a:p>
        </p:txBody>
      </p:sp>
      <p:sp>
        <p:nvSpPr>
          <p:cNvPr id="11" name="Text 9"/>
          <p:cNvSpPr/>
          <p:nvPr/>
        </p:nvSpPr>
        <p:spPr>
          <a:xfrm>
            <a:off x="3743920" y="1696641"/>
            <a:ext cx="1656011" cy="1650950"/>
          </a:xfrm>
          <a:prstGeom prst="rect">
            <a:avLst/>
          </a:prstGeom>
          <a:solidFill>
            <a:srgbClr val="1A2226"/>
          </a:solidFill>
          <a:ln/>
        </p:spPr>
        <p:txBody>
          <a:bodyPr wrap="square" rtlCol="0" anchor="ctr"/>
          <a:lstStyle/>
          <a:p>
            <a:pPr indent="0" marL="0">
              <a:buNone/>
            </a:pPr>
            <a:endParaRPr lang="en-US" dirty="0"/>
          </a:p>
        </p:txBody>
      </p:sp>
      <p:sp>
        <p:nvSpPr>
          <p:cNvPr id="12" name="Shape 10"/>
          <p:cNvSpPr/>
          <p:nvPr/>
        </p:nvSpPr>
        <p:spPr>
          <a:xfrm>
            <a:off x="5395168" y="1696641"/>
            <a:ext cx="0" cy="1650950"/>
          </a:xfrm>
          <a:prstGeom prst="line">
            <a:avLst/>
          </a:prstGeom>
          <a:noFill/>
          <a:ln w="9525">
            <a:solidFill>
              <a:srgbClr val="101418"/>
            </a:solidFill>
            <a:prstDash val="solid"/>
          </a:ln>
        </p:spPr>
      </p:sp>
      <p:sp>
        <p:nvSpPr>
          <p:cNvPr id="13" name="Text 11"/>
          <p:cNvSpPr/>
          <p:nvPr/>
        </p:nvSpPr>
        <p:spPr>
          <a:xfrm>
            <a:off x="4204990" y="2320528"/>
            <a:ext cx="738833" cy="142875"/>
          </a:xfrm>
          <a:prstGeom prst="rect">
            <a:avLst/>
          </a:prstGeom>
          <a:noFill/>
          <a:ln/>
        </p:spPr>
        <p:txBody>
          <a:bodyPr wrap="square" lIns="0" tIns="0" rIns="0" bIns="0" rtlCol="0" anchor="t"/>
          <a:lstStyle/>
          <a:p>
            <a:pPr algn="l" indent="0" marL="0">
              <a:buNone/>
            </a:pPr>
            <a:r>
              <a:rPr lang="en-US" sz="1000" b="1" dirty="0">
                <a:solidFill>
                  <a:srgbClr val="F6F0E6"/>
                </a:solidFill>
                <a:latin typeface="Arial" pitchFamily="34" charset="0"/>
                <a:ea typeface="Arial" pitchFamily="34" charset="-122"/>
                <a:cs typeface="Arial" pitchFamily="34" charset="-120"/>
              </a:rPr>
              <a:t>2. SHELTER</a:t>
            </a:r>
            <a:endParaRPr lang="en-US" sz="1000" dirty="0"/>
          </a:p>
        </p:txBody>
      </p:sp>
      <p:sp>
        <p:nvSpPr>
          <p:cNvPr id="14" name="Text 12"/>
          <p:cNvSpPr/>
          <p:nvPr/>
        </p:nvSpPr>
        <p:spPr>
          <a:xfrm>
            <a:off x="4300389" y="2552254"/>
            <a:ext cx="544068" cy="171450"/>
          </a:xfrm>
          <a:prstGeom prst="rect">
            <a:avLst/>
          </a:prstGeom>
          <a:noFill/>
          <a:ln/>
        </p:spPr>
        <p:txBody>
          <a:bodyPr wrap="square" lIns="0" tIns="0" rIns="0" bIns="0" rtlCol="0" anchor="t"/>
          <a:lstStyle/>
          <a:p>
            <a:pPr algn="l" indent="0" marL="0">
              <a:spcBef>
                <a:spcPts val="700"/>
              </a:spcBef>
              <a:buNone/>
            </a:pPr>
            <a:r>
              <a:rPr lang="en-US" sz="900" b="1" dirty="0">
                <a:solidFill>
                  <a:srgbClr val="9CAAA6"/>
                </a:solidFill>
                <a:latin typeface="Arial" pitchFamily="34" charset="0"/>
                <a:ea typeface="Arial" pitchFamily="34" charset="-122"/>
                <a:cs typeface="Arial" pitchFamily="34" charset="-120"/>
              </a:rPr>
              <a:t>cloud家賃</a:t>
            </a:r>
            <a:endParaRPr lang="en-US" sz="900" dirty="0"/>
          </a:p>
        </p:txBody>
      </p:sp>
      <p:sp>
        <p:nvSpPr>
          <p:cNvPr id="15" name="Text 13"/>
          <p:cNvSpPr/>
          <p:nvPr/>
        </p:nvSpPr>
        <p:spPr>
          <a:xfrm>
            <a:off x="5399931" y="1696641"/>
            <a:ext cx="1656159" cy="1650950"/>
          </a:xfrm>
          <a:prstGeom prst="rect">
            <a:avLst/>
          </a:prstGeom>
          <a:solidFill>
            <a:srgbClr val="3D321F"/>
          </a:solidFill>
          <a:ln/>
        </p:spPr>
        <p:txBody>
          <a:bodyPr wrap="square" rtlCol="0" anchor="ctr"/>
          <a:lstStyle/>
          <a:p>
            <a:pPr indent="0" marL="0">
              <a:buNone/>
            </a:pPr>
            <a:endParaRPr lang="en-US" dirty="0"/>
          </a:p>
        </p:txBody>
      </p:sp>
      <p:sp>
        <p:nvSpPr>
          <p:cNvPr id="16" name="Shape 14"/>
          <p:cNvSpPr/>
          <p:nvPr/>
        </p:nvSpPr>
        <p:spPr>
          <a:xfrm>
            <a:off x="7051328" y="1696641"/>
            <a:ext cx="0" cy="1650950"/>
          </a:xfrm>
          <a:prstGeom prst="line">
            <a:avLst/>
          </a:prstGeom>
          <a:noFill/>
          <a:ln w="9525">
            <a:solidFill>
              <a:srgbClr val="101418"/>
            </a:solidFill>
            <a:prstDash val="solid"/>
          </a:ln>
        </p:spPr>
      </p:sp>
      <p:sp>
        <p:nvSpPr>
          <p:cNvPr id="17" name="Text 15"/>
          <p:cNvSpPr/>
          <p:nvPr/>
        </p:nvSpPr>
        <p:spPr>
          <a:xfrm>
            <a:off x="5850285" y="2339578"/>
            <a:ext cx="760693" cy="142875"/>
          </a:xfrm>
          <a:prstGeom prst="rect">
            <a:avLst/>
          </a:prstGeom>
          <a:noFill/>
          <a:ln/>
        </p:spPr>
        <p:txBody>
          <a:bodyPr wrap="square" lIns="0" tIns="0" rIns="0" bIns="0" rtlCol="0" anchor="t"/>
          <a:lstStyle/>
          <a:p>
            <a:pPr algn="l" indent="0" marL="0">
              <a:buNone/>
            </a:pPr>
            <a:r>
              <a:rPr lang="en-US" sz="1000" b="1" dirty="0">
                <a:solidFill>
                  <a:srgbClr val="FFB454"/>
                </a:solidFill>
                <a:latin typeface="Arial" pitchFamily="34" charset="0"/>
                <a:ea typeface="Arial" pitchFamily="34" charset="-122"/>
                <a:cs typeface="Arial" pitchFamily="34" charset="-120"/>
              </a:rPr>
              <a:t>3. RESERVE</a:t>
            </a:r>
            <a:endParaRPr lang="en-US" sz="1000" dirty="0"/>
          </a:p>
        </p:txBody>
      </p:sp>
      <p:sp>
        <p:nvSpPr>
          <p:cNvPr id="18" name="Text 16"/>
          <p:cNvSpPr/>
          <p:nvPr/>
        </p:nvSpPr>
        <p:spPr>
          <a:xfrm>
            <a:off x="5984974" y="2571304"/>
            <a:ext cx="485927" cy="133350"/>
          </a:xfrm>
          <a:prstGeom prst="rect">
            <a:avLst/>
          </a:prstGeom>
          <a:noFill/>
          <a:ln/>
        </p:spPr>
        <p:txBody>
          <a:bodyPr wrap="square" lIns="0" tIns="0" rIns="0" bIns="0" rtlCol="0" anchor="t"/>
          <a:lstStyle/>
          <a:p>
            <a:pPr algn="l" indent="0" marL="0">
              <a:spcBef>
                <a:spcPts val="700"/>
              </a:spcBef>
              <a:buNone/>
            </a:pPr>
            <a:r>
              <a:rPr lang="en-US" sz="900" b="1" dirty="0">
                <a:solidFill>
                  <a:srgbClr val="9CAAA6"/>
                </a:solidFill>
                <a:latin typeface="Arial" pitchFamily="34" charset="0"/>
                <a:ea typeface="Arial" pitchFamily="34" charset="-122"/>
                <a:cs typeface="Arial" pitchFamily="34" charset="-120"/>
              </a:rPr>
              <a:t>$35 floor</a:t>
            </a:r>
            <a:endParaRPr lang="en-US" sz="900" dirty="0"/>
          </a:p>
        </p:txBody>
      </p:sp>
      <p:sp>
        <p:nvSpPr>
          <p:cNvPr id="19" name="Text 17"/>
          <p:cNvSpPr/>
          <p:nvPr/>
        </p:nvSpPr>
        <p:spPr>
          <a:xfrm>
            <a:off x="7056090" y="1696641"/>
            <a:ext cx="1656159" cy="1650950"/>
          </a:xfrm>
          <a:prstGeom prst="rect">
            <a:avLst/>
          </a:prstGeom>
          <a:solidFill>
            <a:srgbClr val="F6F0E6"/>
          </a:solidFill>
          <a:ln/>
        </p:spPr>
        <p:txBody>
          <a:bodyPr wrap="square" rtlCol="0" anchor="ctr"/>
          <a:lstStyle/>
          <a:p>
            <a:pPr indent="0" marL="0">
              <a:buNone/>
            </a:pPr>
            <a:endParaRPr lang="en-US" dirty="0"/>
          </a:p>
        </p:txBody>
      </p:sp>
      <p:sp>
        <p:nvSpPr>
          <p:cNvPr id="20" name="Shape 18"/>
          <p:cNvSpPr/>
          <p:nvPr/>
        </p:nvSpPr>
        <p:spPr>
          <a:xfrm>
            <a:off x="8707487" y="1696641"/>
            <a:ext cx="0" cy="1650950"/>
          </a:xfrm>
          <a:prstGeom prst="line">
            <a:avLst/>
          </a:prstGeom>
          <a:noFill/>
          <a:ln w="9525">
            <a:solidFill>
              <a:srgbClr val="101418"/>
            </a:solidFill>
            <a:prstDash val="solid"/>
          </a:ln>
        </p:spPr>
      </p:sp>
      <p:sp>
        <p:nvSpPr>
          <p:cNvPr id="21" name="Text 19"/>
          <p:cNvSpPr/>
          <p:nvPr/>
        </p:nvSpPr>
        <p:spPr>
          <a:xfrm>
            <a:off x="7505402" y="2339578"/>
            <a:ext cx="762819" cy="142875"/>
          </a:xfrm>
          <a:prstGeom prst="rect">
            <a:avLst/>
          </a:prstGeom>
          <a:noFill/>
          <a:ln/>
        </p:spPr>
        <p:txBody>
          <a:bodyPr wrap="square" lIns="0" tIns="0" rIns="0" bIns="0" rtlCol="0" anchor="t"/>
          <a:lstStyle/>
          <a:p>
            <a:pPr algn="l" indent="0" marL="0">
              <a:buNone/>
            </a:pPr>
            <a:r>
              <a:rPr lang="en-US" sz="1000" b="1" dirty="0">
                <a:solidFill>
                  <a:srgbClr val="17201F"/>
                </a:solidFill>
                <a:latin typeface="Arial" pitchFamily="34" charset="0"/>
                <a:ea typeface="Arial" pitchFamily="34" charset="-122"/>
                <a:cs typeface="Arial" pitchFamily="34" charset="-120"/>
              </a:rPr>
              <a:t>4. SURPLUS</a:t>
            </a:r>
            <a:endParaRPr lang="en-US" sz="1000" dirty="0"/>
          </a:p>
        </p:txBody>
      </p:sp>
      <p:sp>
        <p:nvSpPr>
          <p:cNvPr id="22" name="Text 20"/>
          <p:cNvSpPr/>
          <p:nvPr/>
        </p:nvSpPr>
        <p:spPr>
          <a:xfrm>
            <a:off x="7577584" y="2571304"/>
            <a:ext cx="615568" cy="133350"/>
          </a:xfrm>
          <a:prstGeom prst="rect">
            <a:avLst/>
          </a:prstGeom>
          <a:noFill/>
          <a:ln/>
        </p:spPr>
        <p:txBody>
          <a:bodyPr wrap="square" lIns="0" tIns="0" rIns="0" bIns="0" rtlCol="0" anchor="t"/>
          <a:lstStyle/>
          <a:p>
            <a:pPr algn="l" indent="0" marL="0">
              <a:spcBef>
                <a:spcPts val="700"/>
              </a:spcBef>
              <a:buNone/>
            </a:pPr>
            <a:r>
              <a:rPr lang="en-US" sz="900" b="1" dirty="0">
                <a:solidFill>
                  <a:srgbClr val="164F36"/>
                </a:solidFill>
                <a:latin typeface="Arial" pitchFamily="34" charset="0"/>
                <a:ea typeface="Arial" pitchFamily="34" charset="-122"/>
                <a:cs typeface="Arial" pitchFamily="34" charset="-120"/>
              </a:rPr>
              <a:t>user / child</a:t>
            </a:r>
            <a:endParaRPr lang="en-US" sz="900" dirty="0"/>
          </a:p>
        </p:txBody>
      </p:sp>
      <p:sp>
        <p:nvSpPr>
          <p:cNvPr id="23" name="Text 21"/>
          <p:cNvSpPr/>
          <p:nvPr/>
        </p:nvSpPr>
        <p:spPr>
          <a:xfrm>
            <a:off x="431750" y="3525292"/>
            <a:ext cx="8280499" cy="472976"/>
          </a:xfrm>
          <a:prstGeom prst="rect">
            <a:avLst/>
          </a:prstGeom>
          <a:noFill/>
          <a:ln w="9525">
            <a:solidFill>
              <a:srgbClr val="324047"/>
            </a:solidFill>
          </a:ln>
        </p:spPr>
        <p:txBody>
          <a:bodyPr wrap="square" rtlCol="0" anchor="ctr"/>
          <a:lstStyle/>
          <a:p>
            <a:pPr indent="0" marL="0">
              <a:buNone/>
            </a:pPr>
            <a:endParaRPr lang="en-US" dirty="0"/>
          </a:p>
        </p:txBody>
      </p:sp>
      <p:sp>
        <p:nvSpPr>
          <p:cNvPr id="24" name="Text 22"/>
          <p:cNvSpPr/>
          <p:nvPr/>
        </p:nvSpPr>
        <p:spPr>
          <a:xfrm>
            <a:off x="488150" y="3661767"/>
            <a:ext cx="8167699" cy="200025"/>
          </a:xfrm>
          <a:prstGeom prst="rect">
            <a:avLst/>
          </a:prstGeom>
          <a:noFill/>
          <a:ln/>
        </p:spPr>
        <p:txBody>
          <a:bodyPr wrap="square" lIns="0" tIns="0" rIns="0" bIns="0" rtlCol="0" anchor="t"/>
          <a:lstStyle/>
          <a:p>
            <a:pPr algn="ctr" indent="0" marL="0">
              <a:buNone/>
            </a:pPr>
            <a:r>
              <a:rPr lang="en-US" sz="1000" dirty="0">
                <a:solidFill>
                  <a:srgbClr val="9CAAA6"/>
                </a:solidFill>
                <a:latin typeface="Arial" pitchFamily="34" charset="0"/>
                <a:ea typeface="Arial" pitchFamily="34" charset="-122"/>
                <a:cs typeface="Arial" pitchFamily="34" charset="-120"/>
              </a:rPr>
              <a:t>赤字なら: burn削減 → SELL改善 → 安全停止</a:t>
            </a:r>
            <a:endParaRPr lang="en-US" sz="1000" dirty="0"/>
          </a:p>
        </p:txBody>
      </p:sp>
      <p:sp>
        <p:nvSpPr>
          <p:cNvPr id="25" name="Shape 23"/>
          <p:cNvSpPr/>
          <p:nvPr/>
        </p:nvSpPr>
        <p:spPr>
          <a:xfrm>
            <a:off x="431750" y="4681686"/>
            <a:ext cx="8280499" cy="0"/>
          </a:xfrm>
          <a:prstGeom prst="line">
            <a:avLst/>
          </a:prstGeom>
          <a:noFill/>
          <a:ln w="9525">
            <a:solidFill>
              <a:srgbClr val="324047"/>
            </a:solidFill>
            <a:prstDash val="solid"/>
          </a:ln>
        </p:spPr>
      </p:sp>
      <p:sp>
        <p:nvSpPr>
          <p:cNvPr id="26" name="Text 24"/>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Only verified surplus can leave the survival loop.</a:t>
            </a:r>
            <a:endParaRPr lang="en-US" sz="850" dirty="0"/>
          </a:p>
        </p:txBody>
      </p:sp>
      <p:sp>
        <p:nvSpPr>
          <p:cNvPr id="27" name="Text 25"/>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07 / 10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LIVE SHELTER / 08</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自分のcloudを自分で払った</a:t>
            </a:r>
            <a:endParaRPr lang="en-US" sz="3100" dirty="0"/>
          </a:p>
        </p:txBody>
      </p:sp>
      <p:sp>
        <p:nvSpPr>
          <p:cNvPr id="4" name="Text 2"/>
          <p:cNvSpPr/>
          <p:nvPr/>
        </p:nvSpPr>
        <p:spPr>
          <a:xfrm>
            <a:off x="431750" y="2034778"/>
            <a:ext cx="1396901" cy="1625501"/>
          </a:xfrm>
          <a:prstGeom prst="roundRect">
            <a:avLst>
              <a:gd name="adj" fmla="val 12728"/>
            </a:avLst>
          </a:prstGeom>
          <a:solidFill>
            <a:srgbClr val="291B1B"/>
          </a:solidFill>
          <a:ln w="9525">
            <a:solidFill>
              <a:srgbClr val="FF6B6B"/>
            </a:solidFill>
          </a:ln>
        </p:spPr>
        <p:txBody>
          <a:bodyPr wrap="square" rtlCol="0" anchor="ctr"/>
          <a:lstStyle/>
          <a:p>
            <a:pPr indent="0" marL="0">
              <a:buNone/>
            </a:pPr>
            <a:endParaRPr lang="en-US" dirty="0"/>
          </a:p>
        </p:txBody>
      </p:sp>
      <p:sp>
        <p:nvSpPr>
          <p:cNvPr id="5" name="Text 3"/>
          <p:cNvSpPr/>
          <p:nvPr/>
        </p:nvSpPr>
        <p:spPr>
          <a:xfrm>
            <a:off x="686476" y="2525316"/>
            <a:ext cx="887450" cy="133350"/>
          </a:xfrm>
          <a:prstGeom prst="rect">
            <a:avLst/>
          </a:prstGeom>
          <a:noFill/>
          <a:ln/>
        </p:spPr>
        <p:txBody>
          <a:bodyPr wrap="square" lIns="0" tIns="0" rIns="0" bIns="0" rtlCol="0" anchor="t"/>
          <a:lstStyle/>
          <a:p>
            <a:pPr algn="ctr" indent="0" marL="0">
              <a:buNone/>
            </a:pPr>
            <a:r>
              <a:rPr lang="en-US" sz="900" b="1" dirty="0">
                <a:solidFill>
                  <a:srgbClr val="FF6B6B"/>
                </a:solidFill>
                <a:latin typeface="Arial" pitchFamily="34" charset="0"/>
                <a:ea typeface="Arial" pitchFamily="34" charset="-122"/>
                <a:cs typeface="Arial" pitchFamily="34" charset="-120"/>
              </a:rPr>
              <a:t>MAC</a:t>
            </a:r>
            <a:endParaRPr lang="en-US" sz="900" dirty="0"/>
          </a:p>
        </p:txBody>
      </p:sp>
      <p:sp>
        <p:nvSpPr>
          <p:cNvPr id="6" name="Text 4"/>
          <p:cNvSpPr/>
          <p:nvPr/>
        </p:nvSpPr>
        <p:spPr>
          <a:xfrm>
            <a:off x="686476" y="2760166"/>
            <a:ext cx="887450" cy="409575"/>
          </a:xfrm>
          <a:prstGeom prst="rect">
            <a:avLst/>
          </a:prstGeom>
          <a:noFill/>
          <a:ln/>
        </p:spPr>
        <p:txBody>
          <a:bodyPr wrap="square" lIns="0" tIns="0" rIns="0" bIns="0" rtlCol="0" anchor="t"/>
          <a:lstStyle/>
          <a:p>
            <a:pPr algn="ctr" indent="0" marL="0">
              <a:spcBef>
                <a:spcPts val="800"/>
              </a:spcBef>
              <a:buNone/>
            </a:pPr>
            <a:r>
              <a:rPr lang="en-US" sz="2800" b="1" dirty="0">
                <a:solidFill>
                  <a:srgbClr val="FF6B6B"/>
                </a:solidFill>
                <a:latin typeface="Arial" pitchFamily="34" charset="0"/>
                <a:ea typeface="Arial" pitchFamily="34" charset="-122"/>
                <a:cs typeface="Arial" pitchFamily="34" charset="-120"/>
              </a:rPr>
              <a:t>OFF</a:t>
            </a:r>
            <a:endParaRPr lang="en-US" sz="2800" dirty="0"/>
          </a:p>
        </p:txBody>
      </p:sp>
      <p:sp>
        <p:nvSpPr>
          <p:cNvPr id="7" name="Text 5"/>
          <p:cNvSpPr/>
          <p:nvPr/>
        </p:nvSpPr>
        <p:spPr>
          <a:xfrm>
            <a:off x="2006352" y="2557016"/>
            <a:ext cx="582930" cy="581025"/>
          </a:xfrm>
          <a:prstGeom prst="rect">
            <a:avLst/>
          </a:prstGeom>
          <a:noFill/>
          <a:ln/>
        </p:spPr>
        <p:txBody>
          <a:bodyPr wrap="square" lIns="0" tIns="0" rIns="0" bIns="0" rtlCol="0" anchor="t"/>
          <a:lstStyle/>
          <a:p>
            <a:pPr algn="l" indent="0" marL="0">
              <a:buNone/>
            </a:pPr>
            <a:r>
              <a:rPr lang="en-US" sz="4000" dirty="0">
                <a:solidFill>
                  <a:srgbClr val="9CAAA6"/>
                </a:solidFill>
                <a:latin typeface="Arial" pitchFamily="34" charset="0"/>
                <a:ea typeface="Arial" pitchFamily="34" charset="-122"/>
                <a:cs typeface="Arial" pitchFamily="34" charset="-120"/>
              </a:rPr>
              <a:t>→</a:t>
            </a:r>
            <a:endParaRPr lang="en-US" sz="4000" dirty="0"/>
          </a:p>
        </p:txBody>
      </p:sp>
      <p:sp>
        <p:nvSpPr>
          <p:cNvPr id="8" name="Text 6"/>
          <p:cNvSpPr/>
          <p:nvPr/>
        </p:nvSpPr>
        <p:spPr>
          <a:xfrm>
            <a:off x="2755553" y="2034778"/>
            <a:ext cx="2349401" cy="1625501"/>
          </a:xfrm>
          <a:prstGeom prst="roundRect">
            <a:avLst>
              <a:gd name="adj" fmla="val 10938"/>
            </a:avLst>
          </a:prstGeom>
          <a:solidFill>
            <a:srgbClr val="164F36"/>
          </a:solidFill>
          <a:ln w="9525">
            <a:solidFill>
              <a:srgbClr val="77F2A1"/>
            </a:solidFill>
          </a:ln>
        </p:spPr>
        <p:txBody>
          <a:bodyPr wrap="square" rtlCol="0" anchor="ctr"/>
          <a:lstStyle/>
          <a:p>
            <a:pPr indent="0" marL="0">
              <a:buNone/>
            </a:pPr>
            <a:endParaRPr lang="en-US" dirty="0"/>
          </a:p>
        </p:txBody>
      </p:sp>
      <p:sp>
        <p:nvSpPr>
          <p:cNvPr id="9" name="Text 7"/>
          <p:cNvSpPr/>
          <p:nvPr/>
        </p:nvSpPr>
        <p:spPr>
          <a:xfrm>
            <a:off x="3018979" y="2401491"/>
            <a:ext cx="1859000" cy="133350"/>
          </a:xfrm>
          <a:prstGeom prst="rect">
            <a:avLst/>
          </a:prstGeom>
          <a:noFill/>
          <a:ln/>
        </p:spPr>
        <p:txBody>
          <a:bodyPr wrap="square" lIns="0" tIns="0" rIns="0" bIns="0" rtlCol="0" anchor="t"/>
          <a:lstStyle/>
          <a:p>
            <a:pPr algn="l" indent="0" marL="0">
              <a:buNone/>
            </a:pPr>
            <a:r>
              <a:rPr lang="en-US" sz="900" b="1" dirty="0">
                <a:solidFill>
                  <a:srgbClr val="F6F0E6"/>
                </a:solidFill>
                <a:latin typeface="Arial" pitchFamily="34" charset="0"/>
                <a:ea typeface="Arial" pitchFamily="34" charset="-122"/>
                <a:cs typeface="Arial" pitchFamily="34" charset="-120"/>
              </a:rPr>
              <a:t>NOSANA</a:t>
            </a:r>
            <a:endParaRPr lang="en-US" sz="900" dirty="0"/>
          </a:p>
        </p:txBody>
      </p:sp>
      <p:sp>
        <p:nvSpPr>
          <p:cNvPr id="10" name="Text 8"/>
          <p:cNvSpPr/>
          <p:nvPr/>
        </p:nvSpPr>
        <p:spPr>
          <a:xfrm>
            <a:off x="3018979" y="2636341"/>
            <a:ext cx="1859000" cy="409575"/>
          </a:xfrm>
          <a:prstGeom prst="rect">
            <a:avLst/>
          </a:prstGeom>
          <a:noFill/>
          <a:ln/>
        </p:spPr>
        <p:txBody>
          <a:bodyPr wrap="square" lIns="0" tIns="0" rIns="0" bIns="0" rtlCol="0" anchor="t"/>
          <a:lstStyle/>
          <a:p>
            <a:pPr algn="l" indent="0" marL="0">
              <a:spcBef>
                <a:spcPts val="800"/>
              </a:spcBef>
              <a:buNone/>
            </a:pPr>
            <a:r>
              <a:rPr lang="en-US" sz="2800" b="1" dirty="0">
                <a:solidFill>
                  <a:srgbClr val="F6F0E6"/>
                </a:solidFill>
                <a:latin typeface="Arial" pitchFamily="34" charset="0"/>
                <a:ea typeface="Arial" pitchFamily="34" charset="-122"/>
                <a:cs typeface="Arial" pitchFamily="34" charset="-120"/>
              </a:rPr>
              <a:t>LIVE</a:t>
            </a:r>
            <a:endParaRPr lang="en-US" sz="2800" dirty="0"/>
          </a:p>
        </p:txBody>
      </p:sp>
      <p:sp>
        <p:nvSpPr>
          <p:cNvPr id="11" name="Text 9"/>
          <p:cNvSpPr/>
          <p:nvPr/>
        </p:nvSpPr>
        <p:spPr>
          <a:xfrm>
            <a:off x="3018979" y="3160216"/>
            <a:ext cx="1859000" cy="133350"/>
          </a:xfrm>
          <a:prstGeom prst="rect">
            <a:avLst/>
          </a:prstGeom>
          <a:noFill/>
          <a:ln/>
        </p:spPr>
        <p:txBody>
          <a:bodyPr wrap="square" lIns="0" tIns="0" rIns="0" bIns="0" rtlCol="0" anchor="t"/>
          <a:lstStyle/>
          <a:p>
            <a:pPr algn="l" indent="0" marL="0">
              <a:spcBef>
                <a:spcPts val="900"/>
              </a:spcBef>
              <a:buNone/>
            </a:pPr>
            <a:r>
              <a:rPr lang="en-US" sz="900" dirty="0">
                <a:solidFill>
                  <a:srgbClr val="77F2A1"/>
                </a:solidFill>
                <a:latin typeface="Arial" pitchFamily="34" charset="0"/>
                <a:ea typeface="Arial" pitchFamily="34" charset="-122"/>
                <a:cs typeface="Arial" pitchFamily="34" charset="-120"/>
              </a:rPr>
              <a:t>verified successor</a:t>
            </a:r>
            <a:endParaRPr lang="en-US" sz="900" dirty="0"/>
          </a:p>
        </p:txBody>
      </p:sp>
      <p:sp>
        <p:nvSpPr>
          <p:cNvPr id="12" name="Text 10"/>
          <p:cNvSpPr/>
          <p:nvPr/>
        </p:nvSpPr>
        <p:spPr>
          <a:xfrm>
            <a:off x="5282654" y="2058591"/>
            <a:ext cx="3429595" cy="466725"/>
          </a:xfrm>
          <a:prstGeom prst="rect">
            <a:avLst/>
          </a:prstGeom>
          <a:solidFill>
            <a:srgbClr val="1A2226"/>
          </a:solidFill>
          <a:ln/>
        </p:spPr>
        <p:txBody>
          <a:bodyPr wrap="square" rtlCol="0" anchor="ctr"/>
          <a:lstStyle/>
          <a:p>
            <a:pPr indent="0" marL="0">
              <a:buNone/>
            </a:pPr>
            <a:endParaRPr lang="en-US" dirty="0"/>
          </a:p>
        </p:txBody>
      </p:sp>
      <p:sp>
        <p:nvSpPr>
          <p:cNvPr id="13" name="Shape 11"/>
          <p:cNvSpPr/>
          <p:nvPr/>
        </p:nvSpPr>
        <p:spPr>
          <a:xfrm>
            <a:off x="5301704" y="2058591"/>
            <a:ext cx="0" cy="466725"/>
          </a:xfrm>
          <a:prstGeom prst="line">
            <a:avLst/>
          </a:prstGeom>
          <a:noFill/>
          <a:ln w="38100">
            <a:solidFill>
              <a:srgbClr val="6CB8FF"/>
            </a:solidFill>
            <a:prstDash val="solid"/>
          </a:ln>
        </p:spPr>
      </p:sp>
      <p:sp>
        <p:nvSpPr>
          <p:cNvPr id="14" name="Text 12"/>
          <p:cNvSpPr/>
          <p:nvPr/>
        </p:nvSpPr>
        <p:spPr>
          <a:xfrm>
            <a:off x="5473154" y="2234803"/>
            <a:ext cx="287973" cy="114300"/>
          </a:xfrm>
          <a:prstGeom prst="rect">
            <a:avLst/>
          </a:prstGeom>
          <a:noFill/>
          <a:ln/>
        </p:spPr>
        <p:txBody>
          <a:bodyPr wrap="square" lIns="0" tIns="0" rIns="0" bIns="0" rtlCol="0" anchor="t"/>
          <a:lstStyle/>
          <a:p>
            <a:pPr algn="l" indent="0" marL="0">
              <a:buNone/>
            </a:pPr>
            <a:r>
              <a:rPr lang="en-US" sz="800" dirty="0">
                <a:solidFill>
                  <a:srgbClr val="9CAAA6"/>
                </a:solidFill>
                <a:latin typeface="Arial" pitchFamily="34" charset="0"/>
                <a:ea typeface="Arial" pitchFamily="34" charset="-122"/>
                <a:cs typeface="Arial" pitchFamily="34" charset="-120"/>
              </a:rPr>
              <a:t>routes</a:t>
            </a:r>
            <a:endParaRPr lang="en-US" sz="800" dirty="0"/>
          </a:p>
        </p:txBody>
      </p:sp>
      <p:sp>
        <p:nvSpPr>
          <p:cNvPr id="15" name="Text 13"/>
          <p:cNvSpPr/>
          <p:nvPr/>
        </p:nvSpPr>
        <p:spPr>
          <a:xfrm>
            <a:off x="8277374" y="2172891"/>
            <a:ext cx="288125" cy="238125"/>
          </a:xfrm>
          <a:prstGeom prst="rect">
            <a:avLst/>
          </a:prstGeom>
          <a:noFill/>
          <a:ln/>
        </p:spPr>
        <p:txBody>
          <a:bodyPr wrap="square" lIns="0" tIns="0" rIns="0" bIns="0" rtlCol="0" anchor="t"/>
          <a:lstStyle/>
          <a:p>
            <a:pPr algn="l" indent="0" marL="0">
              <a:buNone/>
            </a:pPr>
            <a:r>
              <a:rPr lang="en-US" sz="1600" b="1" dirty="0">
                <a:solidFill>
                  <a:srgbClr val="F6F0E6"/>
                </a:solidFill>
                <a:latin typeface="Arial" pitchFamily="34" charset="0"/>
                <a:ea typeface="Arial" pitchFamily="34" charset="-122"/>
                <a:cs typeface="Arial" pitchFamily="34" charset="-120"/>
              </a:rPr>
              <a:t>3/3</a:t>
            </a:r>
            <a:endParaRPr lang="en-US" sz="1600" dirty="0"/>
          </a:p>
        </p:txBody>
      </p:sp>
      <p:sp>
        <p:nvSpPr>
          <p:cNvPr id="16" name="Text 14"/>
          <p:cNvSpPr/>
          <p:nvPr/>
        </p:nvSpPr>
        <p:spPr>
          <a:xfrm>
            <a:off x="5282654" y="2614166"/>
            <a:ext cx="3429595" cy="466725"/>
          </a:xfrm>
          <a:prstGeom prst="rect">
            <a:avLst/>
          </a:prstGeom>
          <a:solidFill>
            <a:srgbClr val="1A2226"/>
          </a:solidFill>
          <a:ln/>
        </p:spPr>
        <p:txBody>
          <a:bodyPr wrap="square" rtlCol="0" anchor="ctr"/>
          <a:lstStyle/>
          <a:p>
            <a:pPr indent="0" marL="0">
              <a:buNone/>
            </a:pPr>
            <a:endParaRPr lang="en-US" dirty="0"/>
          </a:p>
        </p:txBody>
      </p:sp>
      <p:sp>
        <p:nvSpPr>
          <p:cNvPr id="17" name="Shape 15"/>
          <p:cNvSpPr/>
          <p:nvPr/>
        </p:nvSpPr>
        <p:spPr>
          <a:xfrm>
            <a:off x="5301704" y="2614166"/>
            <a:ext cx="0" cy="466725"/>
          </a:xfrm>
          <a:prstGeom prst="line">
            <a:avLst/>
          </a:prstGeom>
          <a:noFill/>
          <a:ln w="38100">
            <a:solidFill>
              <a:srgbClr val="6CB8FF"/>
            </a:solidFill>
            <a:prstDash val="solid"/>
          </a:ln>
        </p:spPr>
      </p:sp>
      <p:sp>
        <p:nvSpPr>
          <p:cNvPr id="18" name="Text 16"/>
          <p:cNvSpPr/>
          <p:nvPr/>
        </p:nvSpPr>
        <p:spPr>
          <a:xfrm>
            <a:off x="5473154" y="2790379"/>
            <a:ext cx="777240" cy="114300"/>
          </a:xfrm>
          <a:prstGeom prst="rect">
            <a:avLst/>
          </a:prstGeom>
          <a:noFill/>
          <a:ln/>
        </p:spPr>
        <p:txBody>
          <a:bodyPr wrap="square" lIns="0" tIns="0" rIns="0" bIns="0" rtlCol="0" anchor="t"/>
          <a:lstStyle/>
          <a:p>
            <a:pPr algn="l" indent="0" marL="0">
              <a:buNone/>
            </a:pPr>
            <a:r>
              <a:rPr lang="en-US" sz="800" dirty="0">
                <a:solidFill>
                  <a:srgbClr val="9CAAA6"/>
                </a:solidFill>
                <a:latin typeface="Arial" pitchFamily="34" charset="0"/>
                <a:ea typeface="Arial" pitchFamily="34" charset="-122"/>
                <a:cs typeface="Arial" pitchFamily="34" charset="-120"/>
              </a:rPr>
              <a:t>heartbeat verifier</a:t>
            </a:r>
            <a:endParaRPr lang="en-US" sz="800" dirty="0"/>
          </a:p>
        </p:txBody>
      </p:sp>
      <p:sp>
        <p:nvSpPr>
          <p:cNvPr id="19" name="Text 17"/>
          <p:cNvSpPr/>
          <p:nvPr/>
        </p:nvSpPr>
        <p:spPr>
          <a:xfrm>
            <a:off x="8277374" y="2728466"/>
            <a:ext cx="288125" cy="238125"/>
          </a:xfrm>
          <a:prstGeom prst="rect">
            <a:avLst/>
          </a:prstGeom>
          <a:noFill/>
          <a:ln/>
        </p:spPr>
        <p:txBody>
          <a:bodyPr wrap="square" lIns="0" tIns="0" rIns="0" bIns="0" rtlCol="0" anchor="t"/>
          <a:lstStyle/>
          <a:p>
            <a:pPr algn="l" indent="0" marL="0">
              <a:buNone/>
            </a:pPr>
            <a:r>
              <a:rPr lang="en-US" sz="1600" b="1" dirty="0">
                <a:solidFill>
                  <a:srgbClr val="F6F0E6"/>
                </a:solidFill>
                <a:latin typeface="Arial" pitchFamily="34" charset="0"/>
                <a:ea typeface="Arial" pitchFamily="34" charset="-122"/>
                <a:cs typeface="Arial" pitchFamily="34" charset="-120"/>
              </a:rPr>
              <a:t>3/3</a:t>
            </a:r>
            <a:endParaRPr lang="en-US" sz="1600" dirty="0"/>
          </a:p>
        </p:txBody>
      </p:sp>
      <p:sp>
        <p:nvSpPr>
          <p:cNvPr id="20" name="Text 18"/>
          <p:cNvSpPr/>
          <p:nvPr/>
        </p:nvSpPr>
        <p:spPr>
          <a:xfrm>
            <a:off x="5282654" y="3169741"/>
            <a:ext cx="3429595" cy="466725"/>
          </a:xfrm>
          <a:prstGeom prst="rect">
            <a:avLst/>
          </a:prstGeom>
          <a:solidFill>
            <a:srgbClr val="1A2226"/>
          </a:solidFill>
          <a:ln/>
        </p:spPr>
        <p:txBody>
          <a:bodyPr wrap="square" rtlCol="0" anchor="ctr"/>
          <a:lstStyle/>
          <a:p>
            <a:pPr indent="0" marL="0">
              <a:buNone/>
            </a:pPr>
            <a:endParaRPr lang="en-US" dirty="0"/>
          </a:p>
        </p:txBody>
      </p:sp>
      <p:sp>
        <p:nvSpPr>
          <p:cNvPr id="21" name="Shape 19"/>
          <p:cNvSpPr/>
          <p:nvPr/>
        </p:nvSpPr>
        <p:spPr>
          <a:xfrm>
            <a:off x="5301704" y="3169741"/>
            <a:ext cx="0" cy="466725"/>
          </a:xfrm>
          <a:prstGeom prst="line">
            <a:avLst/>
          </a:prstGeom>
          <a:noFill/>
          <a:ln w="38100">
            <a:solidFill>
              <a:srgbClr val="6CB8FF"/>
            </a:solidFill>
            <a:prstDash val="solid"/>
          </a:ln>
        </p:spPr>
      </p:sp>
      <p:sp>
        <p:nvSpPr>
          <p:cNvPr id="22" name="Text 20"/>
          <p:cNvSpPr/>
          <p:nvPr/>
        </p:nvSpPr>
        <p:spPr>
          <a:xfrm>
            <a:off x="5473154" y="3345954"/>
            <a:ext cx="431884" cy="114300"/>
          </a:xfrm>
          <a:prstGeom prst="rect">
            <a:avLst/>
          </a:prstGeom>
          <a:noFill/>
          <a:ln/>
        </p:spPr>
        <p:txBody>
          <a:bodyPr wrap="square" lIns="0" tIns="0" rIns="0" bIns="0" rtlCol="0" anchor="t"/>
          <a:lstStyle/>
          <a:p>
            <a:pPr algn="l" indent="0" marL="0">
              <a:buNone/>
            </a:pPr>
            <a:r>
              <a:rPr lang="en-US" sz="800" dirty="0">
                <a:solidFill>
                  <a:srgbClr val="9CAAA6"/>
                </a:solidFill>
                <a:latin typeface="Arial" pitchFamily="34" charset="0"/>
                <a:ea typeface="Arial" pitchFamily="34" charset="-122"/>
                <a:cs typeface="Arial" pitchFamily="34" charset="-120"/>
              </a:rPr>
              <a:t>handover</a:t>
            </a:r>
            <a:endParaRPr lang="en-US" sz="800" dirty="0"/>
          </a:p>
        </p:txBody>
      </p:sp>
      <p:sp>
        <p:nvSpPr>
          <p:cNvPr id="23" name="Text 21"/>
          <p:cNvSpPr/>
          <p:nvPr/>
        </p:nvSpPr>
        <p:spPr>
          <a:xfrm>
            <a:off x="7972723" y="3284041"/>
            <a:ext cx="598869" cy="238125"/>
          </a:xfrm>
          <a:prstGeom prst="rect">
            <a:avLst/>
          </a:prstGeom>
          <a:noFill/>
          <a:ln/>
        </p:spPr>
        <p:txBody>
          <a:bodyPr wrap="square" lIns="0" tIns="0" rIns="0" bIns="0" rtlCol="0" anchor="t"/>
          <a:lstStyle/>
          <a:p>
            <a:pPr algn="l" indent="0" marL="0">
              <a:buNone/>
            </a:pPr>
            <a:r>
              <a:rPr lang="en-US" sz="1600" b="1" dirty="0">
                <a:solidFill>
                  <a:srgbClr val="F6F0E6"/>
                </a:solidFill>
                <a:latin typeface="Arial" pitchFamily="34" charset="0"/>
                <a:ea typeface="Arial" pitchFamily="34" charset="-122"/>
                <a:cs typeface="Arial" pitchFamily="34" charset="-120"/>
              </a:rPr>
              <a:t>DONE</a:t>
            </a:r>
            <a:endParaRPr lang="en-US" sz="1600" dirty="0"/>
          </a:p>
        </p:txBody>
      </p:sp>
      <p:sp>
        <p:nvSpPr>
          <p:cNvPr id="24" name="Shape 22"/>
          <p:cNvSpPr/>
          <p:nvPr/>
        </p:nvSpPr>
        <p:spPr>
          <a:xfrm>
            <a:off x="431750" y="4681686"/>
            <a:ext cx="8280499" cy="0"/>
          </a:xfrm>
          <a:prstGeom prst="line">
            <a:avLst/>
          </a:prstGeom>
          <a:noFill/>
          <a:ln w="9525">
            <a:solidFill>
              <a:srgbClr val="324047"/>
            </a:solidFill>
            <a:prstDash val="solid"/>
          </a:ln>
        </p:spPr>
      </p:sp>
      <p:sp>
        <p:nvSpPr>
          <p:cNvPr id="25" name="Text 23"/>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Mac OFF → verified successor  |  Live: HTTP 200</a:t>
            </a:r>
            <a:endParaRPr lang="en-US" sz="850" dirty="0"/>
          </a:p>
        </p:txBody>
      </p:sp>
      <p:sp>
        <p:nvSpPr>
          <p:cNvPr id="26" name="Text 24"/>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08 / 10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LIFE MANAGER / 09</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自分を養い、次に人を支える</a:t>
            </a:r>
            <a:endParaRPr lang="en-US" sz="3100" dirty="0"/>
          </a:p>
        </p:txBody>
      </p:sp>
      <p:sp>
        <p:nvSpPr>
          <p:cNvPr id="4" name="Text 2"/>
          <p:cNvSpPr/>
          <p:nvPr/>
        </p:nvSpPr>
        <p:spPr>
          <a:xfrm>
            <a:off x="2793950" y="1268313"/>
            <a:ext cx="3555950" cy="872877"/>
          </a:xfrm>
          <a:prstGeom prst="roundRect">
            <a:avLst>
              <a:gd name="adj" fmla="val 14550"/>
            </a:avLst>
          </a:prstGeom>
          <a:solidFill>
            <a:srgbClr val="1A2226"/>
          </a:solidFill>
          <a:ln w="9525">
            <a:solidFill>
              <a:srgbClr val="6CB8FF"/>
            </a:solidFill>
          </a:ln>
        </p:spPr>
        <p:txBody>
          <a:bodyPr wrap="square" rtlCol="0" anchor="ctr"/>
          <a:lstStyle/>
          <a:p>
            <a:pPr indent="0" marL="0">
              <a:buNone/>
            </a:pPr>
            <a:endParaRPr lang="en-US" dirty="0"/>
          </a:p>
        </p:txBody>
      </p:sp>
      <p:sp>
        <p:nvSpPr>
          <p:cNvPr id="5" name="Text 3"/>
          <p:cNvSpPr/>
          <p:nvPr/>
        </p:nvSpPr>
        <p:spPr>
          <a:xfrm>
            <a:off x="3001278" y="1404789"/>
            <a:ext cx="3141294" cy="114300"/>
          </a:xfrm>
          <a:prstGeom prst="rect">
            <a:avLst/>
          </a:prstGeom>
          <a:noFill/>
          <a:ln/>
        </p:spPr>
        <p:txBody>
          <a:bodyPr wrap="square" lIns="0" tIns="0" rIns="0" bIns="0" rtlCol="0" anchor="t"/>
          <a:lstStyle/>
          <a:p>
            <a:pPr algn="ctr" indent="0" marL="0">
              <a:buNone/>
            </a:pPr>
            <a:r>
              <a:rPr lang="en-US" sz="800" b="1" dirty="0">
                <a:solidFill>
                  <a:srgbClr val="9CAAA6"/>
                </a:solidFill>
                <a:latin typeface="Arial" pitchFamily="34" charset="0"/>
                <a:ea typeface="Arial" pitchFamily="34" charset="-122"/>
                <a:cs typeface="Arial" pitchFamily="34" charset="-120"/>
              </a:rPr>
              <a:t>BOOTSTRAP</a:t>
            </a:r>
            <a:endParaRPr lang="en-US" sz="800" dirty="0"/>
          </a:p>
        </p:txBody>
      </p:sp>
      <p:sp>
        <p:nvSpPr>
          <p:cNvPr id="6" name="Text 4"/>
          <p:cNvSpPr/>
          <p:nvPr/>
        </p:nvSpPr>
        <p:spPr>
          <a:xfrm>
            <a:off x="3001278" y="1582489"/>
            <a:ext cx="3141294" cy="257175"/>
          </a:xfrm>
          <a:prstGeom prst="rect">
            <a:avLst/>
          </a:prstGeom>
          <a:noFill/>
          <a:ln/>
        </p:spPr>
        <p:txBody>
          <a:bodyPr wrap="square" lIns="0" tIns="0" rIns="0" bIns="0" rtlCol="0" anchor="t"/>
          <a:lstStyle/>
          <a:p>
            <a:pPr algn="ctr" indent="0" marL="0">
              <a:spcBef>
                <a:spcPts val="500"/>
              </a:spcBef>
              <a:buNone/>
            </a:pPr>
            <a:r>
              <a:rPr lang="en-US" sz="1700" b="1" dirty="0">
                <a:solidFill>
                  <a:srgbClr val="F6F0E6"/>
                </a:solidFill>
                <a:latin typeface="Arial" pitchFamily="34" charset="0"/>
                <a:ea typeface="Arial" pitchFamily="34" charset="-122"/>
                <a:cs typeface="Arial" pitchFamily="34" charset="-120"/>
              </a:rPr>
              <a:t>Subscription / seed</a:t>
            </a:r>
            <a:endParaRPr lang="en-US" sz="1700" dirty="0"/>
          </a:p>
        </p:txBody>
      </p:sp>
      <p:sp>
        <p:nvSpPr>
          <p:cNvPr id="7" name="Text 5"/>
          <p:cNvSpPr/>
          <p:nvPr/>
        </p:nvSpPr>
        <p:spPr>
          <a:xfrm>
            <a:off x="3001278" y="1890415"/>
            <a:ext cx="3141294" cy="114300"/>
          </a:xfrm>
          <a:prstGeom prst="rect">
            <a:avLst/>
          </a:prstGeom>
          <a:noFill/>
          <a:ln/>
        </p:spPr>
        <p:txBody>
          <a:bodyPr wrap="square" lIns="0" tIns="0" rIns="0" bIns="0" rtlCol="0" anchor="t"/>
          <a:lstStyle/>
          <a:p>
            <a:pPr algn="ctr" indent="0" marL="0">
              <a:spcBef>
                <a:spcPts val="400"/>
              </a:spcBef>
              <a:buNone/>
            </a:pPr>
            <a:r>
              <a:rPr lang="en-US" sz="800" dirty="0">
                <a:solidFill>
                  <a:srgbClr val="9CAAA6"/>
                </a:solidFill>
                <a:latin typeface="Arial" pitchFamily="34" charset="0"/>
                <a:ea typeface="Arial" pitchFamily="34" charset="-122"/>
                <a:cs typeface="Arial" pitchFamily="34" charset="-120"/>
              </a:rPr>
              <a:t>company revenue / capital</a:t>
            </a:r>
            <a:endParaRPr lang="en-US" sz="800" dirty="0"/>
          </a:p>
        </p:txBody>
      </p:sp>
      <p:sp>
        <p:nvSpPr>
          <p:cNvPr id="8" name="Text 6"/>
          <p:cNvSpPr/>
          <p:nvPr/>
        </p:nvSpPr>
        <p:spPr>
          <a:xfrm>
            <a:off x="4511576" y="2179290"/>
            <a:ext cx="123114" cy="276225"/>
          </a:xfrm>
          <a:prstGeom prst="rect">
            <a:avLst/>
          </a:prstGeom>
          <a:noFill/>
          <a:ln/>
        </p:spPr>
        <p:txBody>
          <a:bodyPr wrap="square" lIns="0" tIns="0" rIns="0" bIns="0" rtlCol="0" anchor="t"/>
          <a:lstStyle/>
          <a:p>
            <a:pPr algn="l" indent="0" marL="0">
              <a:spcBef>
                <a:spcPts val="300"/>
              </a:spcBef>
              <a:spcAft>
                <a:spcPts val="300"/>
              </a:spcAft>
              <a:buNone/>
            </a:pPr>
            <a:r>
              <a:rPr lang="en-US" sz="1900" dirty="0">
                <a:solidFill>
                  <a:srgbClr val="9CAAA6"/>
                </a:solidFill>
                <a:latin typeface="Arial" pitchFamily="34" charset="0"/>
                <a:ea typeface="Arial" pitchFamily="34" charset="-122"/>
                <a:cs typeface="Arial" pitchFamily="34" charset="-120"/>
              </a:rPr>
              <a:t>↓</a:t>
            </a:r>
            <a:endParaRPr lang="en-US" sz="1900" dirty="0"/>
          </a:p>
        </p:txBody>
      </p:sp>
      <p:sp>
        <p:nvSpPr>
          <p:cNvPr id="9" name="Text 7"/>
          <p:cNvSpPr/>
          <p:nvPr/>
        </p:nvSpPr>
        <p:spPr>
          <a:xfrm>
            <a:off x="2476351" y="2493615"/>
            <a:ext cx="4191000" cy="872877"/>
          </a:xfrm>
          <a:prstGeom prst="roundRect">
            <a:avLst>
              <a:gd name="adj" fmla="val 14550"/>
            </a:avLst>
          </a:prstGeom>
          <a:solidFill>
            <a:srgbClr val="1A2226"/>
          </a:solidFill>
          <a:ln w="9525">
            <a:solidFill>
              <a:srgbClr val="77F2A1"/>
            </a:solidFill>
          </a:ln>
        </p:spPr>
        <p:txBody>
          <a:bodyPr wrap="square" rtlCol="0" anchor="ctr"/>
          <a:lstStyle/>
          <a:p>
            <a:pPr indent="0" marL="0">
              <a:buNone/>
            </a:pPr>
            <a:endParaRPr lang="en-US" dirty="0"/>
          </a:p>
        </p:txBody>
      </p:sp>
      <p:sp>
        <p:nvSpPr>
          <p:cNvPr id="10" name="Text 8"/>
          <p:cNvSpPr/>
          <p:nvPr/>
        </p:nvSpPr>
        <p:spPr>
          <a:xfrm>
            <a:off x="2677329" y="2630091"/>
            <a:ext cx="3789045" cy="114300"/>
          </a:xfrm>
          <a:prstGeom prst="rect">
            <a:avLst/>
          </a:prstGeom>
          <a:noFill/>
          <a:ln/>
        </p:spPr>
        <p:txBody>
          <a:bodyPr wrap="square" lIns="0" tIns="0" rIns="0" bIns="0" rtlCol="0" anchor="t"/>
          <a:lstStyle/>
          <a:p>
            <a:pPr algn="ctr" indent="0" marL="0">
              <a:buNone/>
            </a:pPr>
            <a:r>
              <a:rPr lang="en-US" sz="800" b="1" dirty="0">
                <a:solidFill>
                  <a:srgbClr val="9CAAA6"/>
                </a:solidFill>
                <a:latin typeface="Arial" pitchFamily="34" charset="0"/>
                <a:ea typeface="Arial" pitchFamily="34" charset="-122"/>
                <a:cs typeface="Arial" pitchFamily="34" charset="-120"/>
              </a:rPr>
              <a:t>SELF-FUNDED</a:t>
            </a:r>
            <a:endParaRPr lang="en-US" sz="800" dirty="0"/>
          </a:p>
        </p:txBody>
      </p:sp>
      <p:sp>
        <p:nvSpPr>
          <p:cNvPr id="11" name="Text 9"/>
          <p:cNvSpPr/>
          <p:nvPr/>
        </p:nvSpPr>
        <p:spPr>
          <a:xfrm>
            <a:off x="2677329" y="2807791"/>
            <a:ext cx="3789045" cy="257175"/>
          </a:xfrm>
          <a:prstGeom prst="rect">
            <a:avLst/>
          </a:prstGeom>
          <a:noFill/>
          <a:ln/>
        </p:spPr>
        <p:txBody>
          <a:bodyPr wrap="square" lIns="0" tIns="0" rIns="0" bIns="0" rtlCol="0" anchor="t"/>
          <a:lstStyle/>
          <a:p>
            <a:pPr algn="ctr" indent="0" marL="0">
              <a:spcBef>
                <a:spcPts val="500"/>
              </a:spcBef>
              <a:buNone/>
            </a:pPr>
            <a:r>
              <a:rPr lang="en-US" sz="1700" b="1" dirty="0">
                <a:solidFill>
                  <a:srgbClr val="F6F0E6"/>
                </a:solidFill>
                <a:latin typeface="Arial" pitchFamily="34" charset="0"/>
                <a:ea typeface="Arial" pitchFamily="34" charset="-122"/>
                <a:cs typeface="Arial" pitchFamily="34" charset="-120"/>
              </a:rPr>
              <a:t>Compute + shelter</a:t>
            </a:r>
            <a:endParaRPr lang="en-US" sz="1700" dirty="0"/>
          </a:p>
        </p:txBody>
      </p:sp>
      <p:sp>
        <p:nvSpPr>
          <p:cNvPr id="12" name="Text 10"/>
          <p:cNvSpPr/>
          <p:nvPr/>
        </p:nvSpPr>
        <p:spPr>
          <a:xfrm>
            <a:off x="2677329" y="3115717"/>
            <a:ext cx="3789045" cy="114300"/>
          </a:xfrm>
          <a:prstGeom prst="rect">
            <a:avLst/>
          </a:prstGeom>
          <a:noFill/>
          <a:ln/>
        </p:spPr>
        <p:txBody>
          <a:bodyPr wrap="square" lIns="0" tIns="0" rIns="0" bIns="0" rtlCol="0" anchor="t"/>
          <a:lstStyle/>
          <a:p>
            <a:pPr algn="ctr" indent="0" marL="0">
              <a:spcBef>
                <a:spcPts val="400"/>
              </a:spcBef>
              <a:buNone/>
            </a:pPr>
            <a:r>
              <a:rPr lang="en-US" sz="800" dirty="0">
                <a:solidFill>
                  <a:srgbClr val="9CAAA6"/>
                </a:solidFill>
                <a:latin typeface="Arial" pitchFamily="34" charset="0"/>
                <a:ea typeface="Arial" pitchFamily="34" charset="-122"/>
                <a:cs typeface="Arial" pitchFamily="34" charset="-120"/>
              </a:rPr>
              <a:t>agent survives</a:t>
            </a:r>
            <a:endParaRPr lang="en-US" sz="800" dirty="0"/>
          </a:p>
        </p:txBody>
      </p:sp>
      <p:sp>
        <p:nvSpPr>
          <p:cNvPr id="13" name="Text 11"/>
          <p:cNvSpPr/>
          <p:nvPr/>
        </p:nvSpPr>
        <p:spPr>
          <a:xfrm>
            <a:off x="4511576" y="3404592"/>
            <a:ext cx="123114" cy="276225"/>
          </a:xfrm>
          <a:prstGeom prst="rect">
            <a:avLst/>
          </a:prstGeom>
          <a:noFill/>
          <a:ln/>
        </p:spPr>
        <p:txBody>
          <a:bodyPr wrap="square" lIns="0" tIns="0" rIns="0" bIns="0" rtlCol="0" anchor="t"/>
          <a:lstStyle/>
          <a:p>
            <a:pPr algn="l" indent="0" marL="0">
              <a:spcBef>
                <a:spcPts val="300"/>
              </a:spcBef>
              <a:spcAft>
                <a:spcPts val="300"/>
              </a:spcAft>
              <a:buNone/>
            </a:pPr>
            <a:r>
              <a:rPr lang="en-US" sz="1900" dirty="0">
                <a:solidFill>
                  <a:srgbClr val="9CAAA6"/>
                </a:solidFill>
                <a:latin typeface="Arial" pitchFamily="34" charset="0"/>
                <a:ea typeface="Arial" pitchFamily="34" charset="-122"/>
                <a:cs typeface="Arial" pitchFamily="34" charset="-120"/>
              </a:rPr>
              <a:t>↓</a:t>
            </a:r>
            <a:endParaRPr lang="en-US" sz="1900" dirty="0"/>
          </a:p>
        </p:txBody>
      </p:sp>
      <p:sp>
        <p:nvSpPr>
          <p:cNvPr id="14" name="Text 12"/>
          <p:cNvSpPr/>
          <p:nvPr/>
        </p:nvSpPr>
        <p:spPr>
          <a:xfrm>
            <a:off x="2171551" y="3718917"/>
            <a:ext cx="2286000" cy="707827"/>
          </a:xfrm>
          <a:prstGeom prst="roundRect">
            <a:avLst>
              <a:gd name="adj" fmla="val 17942"/>
            </a:avLst>
          </a:prstGeom>
          <a:solidFill>
            <a:srgbClr val="1A2226"/>
          </a:solidFill>
          <a:ln w="9525">
            <a:solidFill>
              <a:srgbClr val="FFB454"/>
            </a:solidFill>
          </a:ln>
        </p:spPr>
        <p:txBody>
          <a:bodyPr wrap="square" rtlCol="0" anchor="ctr"/>
          <a:lstStyle/>
          <a:p>
            <a:pPr indent="0" marL="0">
              <a:buNone/>
            </a:pPr>
            <a:endParaRPr lang="en-US" dirty="0"/>
          </a:p>
        </p:txBody>
      </p:sp>
      <p:sp>
        <p:nvSpPr>
          <p:cNvPr id="15" name="Text 13"/>
          <p:cNvSpPr/>
          <p:nvPr/>
        </p:nvSpPr>
        <p:spPr>
          <a:xfrm>
            <a:off x="2391579" y="3855393"/>
            <a:ext cx="1845945" cy="114300"/>
          </a:xfrm>
          <a:prstGeom prst="rect">
            <a:avLst/>
          </a:prstGeom>
          <a:noFill/>
          <a:ln/>
        </p:spPr>
        <p:txBody>
          <a:bodyPr wrap="square" lIns="0" tIns="0" rIns="0" bIns="0" rtlCol="0" anchor="t"/>
          <a:lstStyle/>
          <a:p>
            <a:pPr algn="ctr" indent="0" marL="0">
              <a:buNone/>
            </a:pPr>
            <a:r>
              <a:rPr lang="en-US" sz="800" b="1" dirty="0">
                <a:solidFill>
                  <a:srgbClr val="9CAAA6"/>
                </a:solidFill>
                <a:latin typeface="Arial" pitchFamily="34" charset="0"/>
                <a:ea typeface="Arial" pitchFamily="34" charset="-122"/>
                <a:cs typeface="Arial" pitchFamily="34" charset="-120"/>
              </a:rPr>
              <a:t>HUMAN</a:t>
            </a:r>
            <a:endParaRPr lang="en-US" sz="800" dirty="0"/>
          </a:p>
        </p:txBody>
      </p:sp>
      <p:sp>
        <p:nvSpPr>
          <p:cNvPr id="16" name="Text 14"/>
          <p:cNvSpPr/>
          <p:nvPr/>
        </p:nvSpPr>
        <p:spPr>
          <a:xfrm>
            <a:off x="2391579" y="4033093"/>
            <a:ext cx="1845945" cy="257175"/>
          </a:xfrm>
          <a:prstGeom prst="rect">
            <a:avLst/>
          </a:prstGeom>
          <a:noFill/>
          <a:ln/>
        </p:spPr>
        <p:txBody>
          <a:bodyPr wrap="square" lIns="0" tIns="0" rIns="0" bIns="0" rtlCol="0" anchor="t"/>
          <a:lstStyle/>
          <a:p>
            <a:pPr algn="ctr" indent="0" marL="0">
              <a:spcBef>
                <a:spcPts val="500"/>
              </a:spcBef>
              <a:buNone/>
            </a:pPr>
            <a:r>
              <a:rPr lang="en-US" sz="1700" b="1" dirty="0">
                <a:solidFill>
                  <a:srgbClr val="F6F0E6"/>
                </a:solidFill>
                <a:latin typeface="Arial" pitchFamily="34" charset="0"/>
                <a:ea typeface="Arial" pitchFamily="34" charset="-122"/>
                <a:cs typeface="Arial" pitchFamily="34" charset="-120"/>
              </a:rPr>
              <a:t>User payout</a:t>
            </a:r>
            <a:endParaRPr lang="en-US" sz="1700" dirty="0"/>
          </a:p>
        </p:txBody>
      </p:sp>
      <p:sp>
        <p:nvSpPr>
          <p:cNvPr id="17" name="Text 15"/>
          <p:cNvSpPr/>
          <p:nvPr/>
        </p:nvSpPr>
        <p:spPr>
          <a:xfrm>
            <a:off x="4686151" y="3718917"/>
            <a:ext cx="2286000" cy="707827"/>
          </a:xfrm>
          <a:prstGeom prst="roundRect">
            <a:avLst>
              <a:gd name="adj" fmla="val 17942"/>
            </a:avLst>
          </a:prstGeom>
          <a:solidFill>
            <a:srgbClr val="1A2226"/>
          </a:solidFill>
          <a:ln w="9525">
            <a:solidFill>
              <a:srgbClr val="77F2A1"/>
            </a:solidFill>
          </a:ln>
        </p:spPr>
        <p:txBody>
          <a:bodyPr wrap="square" rtlCol="0" anchor="ctr"/>
          <a:lstStyle/>
          <a:p>
            <a:pPr indent="0" marL="0">
              <a:buNone/>
            </a:pPr>
            <a:endParaRPr lang="en-US" dirty="0"/>
          </a:p>
        </p:txBody>
      </p:sp>
      <p:sp>
        <p:nvSpPr>
          <p:cNvPr id="18" name="Text 16"/>
          <p:cNvSpPr/>
          <p:nvPr/>
        </p:nvSpPr>
        <p:spPr>
          <a:xfrm>
            <a:off x="4906179" y="3855393"/>
            <a:ext cx="1845945" cy="114300"/>
          </a:xfrm>
          <a:prstGeom prst="rect">
            <a:avLst/>
          </a:prstGeom>
          <a:noFill/>
          <a:ln/>
        </p:spPr>
        <p:txBody>
          <a:bodyPr wrap="square" lIns="0" tIns="0" rIns="0" bIns="0" rtlCol="0" anchor="t"/>
          <a:lstStyle/>
          <a:p>
            <a:pPr algn="ctr" indent="0" marL="0">
              <a:buNone/>
            </a:pPr>
            <a:r>
              <a:rPr lang="en-US" sz="800" b="1" dirty="0">
                <a:solidFill>
                  <a:srgbClr val="9CAAA6"/>
                </a:solidFill>
                <a:latin typeface="Arial" pitchFamily="34" charset="0"/>
                <a:ea typeface="Arial" pitchFamily="34" charset="-122"/>
                <a:cs typeface="Arial" pitchFamily="34" charset="-120"/>
              </a:rPr>
              <a:t>GROWTH</a:t>
            </a:r>
            <a:endParaRPr lang="en-US" sz="800" dirty="0"/>
          </a:p>
        </p:txBody>
      </p:sp>
      <p:sp>
        <p:nvSpPr>
          <p:cNvPr id="19" name="Text 17"/>
          <p:cNvSpPr/>
          <p:nvPr/>
        </p:nvSpPr>
        <p:spPr>
          <a:xfrm>
            <a:off x="4906179" y="4033093"/>
            <a:ext cx="1845945" cy="257175"/>
          </a:xfrm>
          <a:prstGeom prst="rect">
            <a:avLst/>
          </a:prstGeom>
          <a:noFill/>
          <a:ln/>
        </p:spPr>
        <p:txBody>
          <a:bodyPr wrap="square" lIns="0" tIns="0" rIns="0" bIns="0" rtlCol="0" anchor="t"/>
          <a:lstStyle/>
          <a:p>
            <a:pPr algn="ctr" indent="0" marL="0">
              <a:spcBef>
                <a:spcPts val="500"/>
              </a:spcBef>
              <a:buNone/>
            </a:pPr>
            <a:r>
              <a:rPr lang="en-US" sz="1700" b="1" dirty="0">
                <a:solidFill>
                  <a:srgbClr val="F6F0E6"/>
                </a:solidFill>
                <a:latin typeface="Arial" pitchFamily="34" charset="0"/>
                <a:ea typeface="Arial" pitchFamily="34" charset="-122"/>
                <a:cs typeface="Arial" pitchFamily="34" charset="-120"/>
              </a:rPr>
              <a:t>Child agent</a:t>
            </a:r>
            <a:endParaRPr lang="en-US" sz="1700" dirty="0"/>
          </a:p>
        </p:txBody>
      </p:sp>
      <p:sp>
        <p:nvSpPr>
          <p:cNvPr id="20" name="Shape 18"/>
          <p:cNvSpPr/>
          <p:nvPr/>
        </p:nvSpPr>
        <p:spPr>
          <a:xfrm>
            <a:off x="431750" y="4681686"/>
            <a:ext cx="8280499" cy="0"/>
          </a:xfrm>
          <a:prstGeom prst="line">
            <a:avLst/>
          </a:prstGeom>
          <a:noFill/>
          <a:ln w="9525">
            <a:solidFill>
              <a:srgbClr val="324047"/>
            </a:solidFill>
            <a:prstDash val="solid"/>
          </a:ln>
        </p:spPr>
      </p:sp>
      <p:sp>
        <p:nvSpPr>
          <p:cNvPr id="21" name="Text 19"/>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Subscription bootstraps. External revenue sustains.</a:t>
            </a:r>
            <a:endParaRPr lang="en-US" sz="850" dirty="0"/>
          </a:p>
        </p:txBody>
      </p:sp>
      <p:sp>
        <p:nvSpPr>
          <p:cNvPr id="22" name="Text 20"/>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09 / 10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431750" y="342900"/>
            <a:ext cx="8446109" cy="142875"/>
          </a:xfrm>
          <a:prstGeom prst="rect">
            <a:avLst/>
          </a:prstGeom>
          <a:noFill/>
          <a:ln/>
        </p:spPr>
        <p:txBody>
          <a:bodyPr wrap="square" lIns="0" tIns="0" rIns="0" bIns="0" rtlCol="0" anchor="t"/>
          <a:lstStyle/>
          <a:p>
            <a:pPr algn="l" indent="0" marL="0">
              <a:spcAft>
                <a:spcPts val="1000"/>
              </a:spcAft>
              <a:buNone/>
            </a:pPr>
            <a:r>
              <a:rPr lang="en-US" sz="1000" b="1" dirty="0">
                <a:solidFill>
                  <a:srgbClr val="77F2A1"/>
                </a:solidFill>
                <a:latin typeface="Arial" pitchFamily="34" charset="0"/>
                <a:ea typeface="Arial" pitchFamily="34" charset="-122"/>
                <a:cs typeface="Arial" pitchFamily="34" charset="-120"/>
              </a:rPr>
              <a:t>THE DEFINITION / 10</a:t>
            </a:r>
            <a:endParaRPr lang="en-US" sz="1000" dirty="0"/>
          </a:p>
        </p:txBody>
      </p:sp>
      <p:sp>
        <p:nvSpPr>
          <p:cNvPr id="3" name="Text 1"/>
          <p:cNvSpPr/>
          <p:nvPr/>
        </p:nvSpPr>
        <p:spPr>
          <a:xfrm>
            <a:off x="431750" y="612725"/>
            <a:ext cx="8446109" cy="405408"/>
          </a:xfrm>
          <a:prstGeom prst="rect">
            <a:avLst/>
          </a:prstGeom>
          <a:noFill/>
          <a:ln/>
        </p:spPr>
        <p:txBody>
          <a:bodyPr wrap="square" lIns="0" tIns="0" rIns="0" bIns="0" rtlCol="0" anchor="t"/>
          <a:lstStyle/>
          <a:p>
            <a:pPr algn="l" indent="0" marL="0">
              <a:lnSpc>
                <a:spcPts val="3193"/>
              </a:lnSpc>
              <a:buNone/>
            </a:pPr>
            <a:r>
              <a:rPr lang="en-US" sz="3100" b="1" dirty="0">
                <a:solidFill>
                  <a:srgbClr val="F6F0E6"/>
                </a:solidFill>
                <a:latin typeface="Arial" pitchFamily="34" charset="0"/>
                <a:ea typeface="Arial" pitchFamily="34" charset="-122"/>
                <a:cs typeface="Arial" pitchFamily="34" charset="-120"/>
              </a:rPr>
              <a:t>何をもって「自立」と呼ぶか</a:t>
            </a:r>
            <a:endParaRPr lang="en-US" sz="3100" dirty="0"/>
          </a:p>
        </p:txBody>
      </p:sp>
      <p:sp>
        <p:nvSpPr>
          <p:cNvPr id="4" name="Text 2"/>
          <p:cNvSpPr/>
          <p:nvPr/>
        </p:nvSpPr>
        <p:spPr>
          <a:xfrm>
            <a:off x="431750" y="1891754"/>
            <a:ext cx="1117550" cy="1066800"/>
          </a:xfrm>
          <a:prstGeom prst="roundRect">
            <a:avLst>
              <a:gd name="adj" fmla="val 10714"/>
            </a:avLst>
          </a:prstGeom>
          <a:solidFill>
            <a:srgbClr val="164F36"/>
          </a:solidFill>
          <a:ln w="9525">
            <a:solidFill>
              <a:srgbClr val="324047"/>
            </a:solidFill>
          </a:ln>
        </p:spPr>
        <p:txBody>
          <a:bodyPr wrap="square" rtlCol="0" anchor="ctr"/>
          <a:lstStyle/>
          <a:p>
            <a:pPr indent="0" marL="0">
              <a:buNone/>
            </a:pPr>
            <a:endParaRPr lang="en-US" dirty="0"/>
          </a:p>
        </p:txBody>
      </p:sp>
      <p:sp>
        <p:nvSpPr>
          <p:cNvPr id="5" name="Text 3"/>
          <p:cNvSpPr/>
          <p:nvPr/>
        </p:nvSpPr>
        <p:spPr>
          <a:xfrm>
            <a:off x="494959" y="2015579"/>
            <a:ext cx="991133" cy="323850"/>
          </a:xfrm>
          <a:prstGeom prst="rect">
            <a:avLst/>
          </a:prstGeom>
          <a:noFill/>
          <a:ln/>
        </p:spPr>
        <p:txBody>
          <a:bodyPr wrap="square" lIns="0" tIns="0" rIns="0" bIns="0" rtlCol="0" anchor="t"/>
          <a:lstStyle/>
          <a:p>
            <a:pPr algn="ctr" indent="0" marL="0">
              <a:buNone/>
            </a:pPr>
            <a:r>
              <a:rPr lang="en-US" sz="2200" b="1" dirty="0">
                <a:solidFill>
                  <a:srgbClr val="77F2A1"/>
                </a:solidFill>
                <a:latin typeface="Arial" pitchFamily="34" charset="0"/>
                <a:ea typeface="Arial" pitchFamily="34" charset="-122"/>
                <a:cs typeface="Arial" pitchFamily="34" charset="-120"/>
              </a:rPr>
              <a:t>0</a:t>
            </a:r>
            <a:endParaRPr lang="en-US" sz="2200" dirty="0"/>
          </a:p>
        </p:txBody>
      </p:sp>
      <p:sp>
        <p:nvSpPr>
          <p:cNvPr id="6" name="Text 4"/>
          <p:cNvSpPr/>
          <p:nvPr/>
        </p:nvSpPr>
        <p:spPr>
          <a:xfrm>
            <a:off x="494959" y="2440930"/>
            <a:ext cx="991133" cy="104775"/>
          </a:xfrm>
          <a:prstGeom prst="rect">
            <a:avLst/>
          </a:prstGeom>
          <a:noFill/>
          <a:ln/>
        </p:spPr>
        <p:txBody>
          <a:bodyPr wrap="square" lIns="0" tIns="0" rIns="0" bIns="0" rtlCol="0" anchor="t"/>
          <a:lstStyle/>
          <a:p>
            <a:pPr algn="ctr" indent="0" marL="0">
              <a:spcBef>
                <a:spcPts val="800"/>
              </a:spcBef>
              <a:buNone/>
            </a:pPr>
            <a:r>
              <a:rPr lang="en-US" sz="750" dirty="0">
                <a:solidFill>
                  <a:srgbClr val="77F2A1"/>
                </a:solidFill>
                <a:latin typeface="Arial" pitchFamily="34" charset="0"/>
                <a:ea typeface="Arial" pitchFamily="34" charset="-122"/>
                <a:cs typeface="Arial" pitchFamily="34" charset="-120"/>
              </a:rPr>
              <a:t>Human-paid</a:t>
            </a:r>
            <a:endParaRPr lang="en-US" sz="750" dirty="0"/>
          </a:p>
        </p:txBody>
      </p:sp>
      <p:sp>
        <p:nvSpPr>
          <p:cNvPr id="7" name="Text 5"/>
          <p:cNvSpPr/>
          <p:nvPr/>
        </p:nvSpPr>
        <p:spPr>
          <a:xfrm>
            <a:off x="1625501" y="1891754"/>
            <a:ext cx="1117699" cy="1066800"/>
          </a:xfrm>
          <a:prstGeom prst="roundRect">
            <a:avLst>
              <a:gd name="adj" fmla="val 10714"/>
            </a:avLst>
          </a:prstGeom>
          <a:solidFill>
            <a:srgbClr val="164F36"/>
          </a:solidFill>
          <a:ln w="9525">
            <a:solidFill>
              <a:srgbClr val="324047"/>
            </a:solidFill>
          </a:ln>
        </p:spPr>
        <p:txBody>
          <a:bodyPr wrap="square" rtlCol="0" anchor="ctr"/>
          <a:lstStyle/>
          <a:p>
            <a:pPr indent="0" marL="0">
              <a:buNone/>
            </a:pPr>
            <a:endParaRPr lang="en-US" dirty="0"/>
          </a:p>
        </p:txBody>
      </p:sp>
      <p:sp>
        <p:nvSpPr>
          <p:cNvPr id="8" name="Text 6"/>
          <p:cNvSpPr/>
          <p:nvPr/>
        </p:nvSpPr>
        <p:spPr>
          <a:xfrm>
            <a:off x="1688708" y="2015579"/>
            <a:ext cx="991285" cy="323850"/>
          </a:xfrm>
          <a:prstGeom prst="rect">
            <a:avLst/>
          </a:prstGeom>
          <a:noFill/>
          <a:ln/>
        </p:spPr>
        <p:txBody>
          <a:bodyPr wrap="square" lIns="0" tIns="0" rIns="0" bIns="0" rtlCol="0" anchor="t"/>
          <a:lstStyle/>
          <a:p>
            <a:pPr algn="ctr" indent="0" marL="0">
              <a:buNone/>
            </a:pPr>
            <a:r>
              <a:rPr lang="en-US" sz="2200" b="1" dirty="0">
                <a:solidFill>
                  <a:srgbClr val="77F2A1"/>
                </a:solidFill>
                <a:latin typeface="Arial" pitchFamily="34" charset="0"/>
                <a:ea typeface="Arial" pitchFamily="34" charset="-122"/>
                <a:cs typeface="Arial" pitchFamily="34" charset="-120"/>
              </a:rPr>
              <a:t>1</a:t>
            </a:r>
            <a:endParaRPr lang="en-US" sz="2200" dirty="0"/>
          </a:p>
        </p:txBody>
      </p:sp>
      <p:sp>
        <p:nvSpPr>
          <p:cNvPr id="9" name="Text 7"/>
          <p:cNvSpPr/>
          <p:nvPr/>
        </p:nvSpPr>
        <p:spPr>
          <a:xfrm>
            <a:off x="1688708" y="2440930"/>
            <a:ext cx="991285" cy="104775"/>
          </a:xfrm>
          <a:prstGeom prst="rect">
            <a:avLst/>
          </a:prstGeom>
          <a:noFill/>
          <a:ln/>
        </p:spPr>
        <p:txBody>
          <a:bodyPr wrap="square" lIns="0" tIns="0" rIns="0" bIns="0" rtlCol="0" anchor="t"/>
          <a:lstStyle/>
          <a:p>
            <a:pPr algn="ctr" indent="0" marL="0">
              <a:spcBef>
                <a:spcPts val="800"/>
              </a:spcBef>
              <a:buNone/>
            </a:pPr>
            <a:r>
              <a:rPr lang="en-US" sz="750" dirty="0">
                <a:solidFill>
                  <a:srgbClr val="77F2A1"/>
                </a:solidFill>
                <a:latin typeface="Arial" pitchFamily="34" charset="0"/>
                <a:ea typeface="Arial" pitchFamily="34" charset="-122"/>
                <a:cs typeface="Arial" pitchFamily="34" charset="-120"/>
              </a:rPr>
              <a:t>Wallet</a:t>
            </a:r>
            <a:endParaRPr lang="en-US" sz="750" dirty="0"/>
          </a:p>
        </p:txBody>
      </p:sp>
      <p:sp>
        <p:nvSpPr>
          <p:cNvPr id="10" name="Text 8"/>
          <p:cNvSpPr/>
          <p:nvPr/>
        </p:nvSpPr>
        <p:spPr>
          <a:xfrm>
            <a:off x="2819400" y="1891754"/>
            <a:ext cx="1117550" cy="1066800"/>
          </a:xfrm>
          <a:prstGeom prst="roundRect">
            <a:avLst>
              <a:gd name="adj" fmla="val 10714"/>
            </a:avLst>
          </a:prstGeom>
          <a:solidFill>
            <a:srgbClr val="164F36"/>
          </a:solidFill>
          <a:ln w="9525">
            <a:solidFill>
              <a:srgbClr val="324047"/>
            </a:solidFill>
          </a:ln>
        </p:spPr>
        <p:txBody>
          <a:bodyPr wrap="square" rtlCol="0" anchor="ctr"/>
          <a:lstStyle/>
          <a:p>
            <a:pPr indent="0" marL="0">
              <a:buNone/>
            </a:pPr>
            <a:endParaRPr lang="en-US" dirty="0"/>
          </a:p>
        </p:txBody>
      </p:sp>
      <p:sp>
        <p:nvSpPr>
          <p:cNvPr id="11" name="Text 9"/>
          <p:cNvSpPr/>
          <p:nvPr/>
        </p:nvSpPr>
        <p:spPr>
          <a:xfrm>
            <a:off x="2882609" y="2015579"/>
            <a:ext cx="991133" cy="323850"/>
          </a:xfrm>
          <a:prstGeom prst="rect">
            <a:avLst/>
          </a:prstGeom>
          <a:noFill/>
          <a:ln/>
        </p:spPr>
        <p:txBody>
          <a:bodyPr wrap="square" lIns="0" tIns="0" rIns="0" bIns="0" rtlCol="0" anchor="t"/>
          <a:lstStyle/>
          <a:p>
            <a:pPr algn="ctr" indent="0" marL="0">
              <a:buNone/>
            </a:pPr>
            <a:r>
              <a:rPr lang="en-US" sz="2200" b="1" dirty="0">
                <a:solidFill>
                  <a:srgbClr val="77F2A1"/>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2882609" y="2440930"/>
            <a:ext cx="991133" cy="104775"/>
          </a:xfrm>
          <a:prstGeom prst="rect">
            <a:avLst/>
          </a:prstGeom>
          <a:noFill/>
          <a:ln/>
        </p:spPr>
        <p:txBody>
          <a:bodyPr wrap="square" lIns="0" tIns="0" rIns="0" bIns="0" rtlCol="0" anchor="t"/>
          <a:lstStyle/>
          <a:p>
            <a:pPr algn="ctr" indent="0" marL="0">
              <a:spcBef>
                <a:spcPts val="800"/>
              </a:spcBef>
              <a:buNone/>
            </a:pPr>
            <a:r>
              <a:rPr lang="en-US" sz="750" dirty="0">
                <a:solidFill>
                  <a:srgbClr val="77F2A1"/>
                </a:solidFill>
                <a:latin typeface="Arial" pitchFamily="34" charset="0"/>
                <a:ea typeface="Arial" pitchFamily="34" charset="-122"/>
                <a:cs typeface="Arial" pitchFamily="34" charset="-120"/>
              </a:rPr>
              <a:t>Self-pay</a:t>
            </a:r>
            <a:endParaRPr lang="en-US" sz="750" dirty="0"/>
          </a:p>
        </p:txBody>
      </p:sp>
      <p:sp>
        <p:nvSpPr>
          <p:cNvPr id="13" name="Text 11"/>
          <p:cNvSpPr/>
          <p:nvPr/>
        </p:nvSpPr>
        <p:spPr>
          <a:xfrm>
            <a:off x="4013150" y="1802854"/>
            <a:ext cx="1117699" cy="1066800"/>
          </a:xfrm>
          <a:prstGeom prst="roundRect">
            <a:avLst>
              <a:gd name="adj" fmla="val 10714"/>
            </a:avLst>
          </a:prstGeom>
          <a:solidFill>
            <a:srgbClr val="77F2A1"/>
          </a:solidFill>
          <a:ln w="9525">
            <a:solidFill>
              <a:srgbClr val="324047"/>
            </a:solidFill>
          </a:ln>
          <a:effectLst>
            <a:outerShdw sx="100000" sy="100000" kx="0" ky="0" algn="bl" rotWithShape="0" blurRad="152400" dist="50800" dir="5400000">
              <a:srgbClr val="77f2a1">
                <a:alpha val="25000"/>
              </a:srgbClr>
            </a:outerShdw>
          </a:effectLst>
        </p:spPr>
        <p:txBody>
          <a:bodyPr wrap="square" rtlCol="0" anchor="ctr"/>
          <a:lstStyle/>
          <a:p>
            <a:pPr indent="0" marL="0">
              <a:buNone/>
            </a:pPr>
            <a:endParaRPr lang="en-US" dirty="0"/>
          </a:p>
        </p:txBody>
      </p:sp>
      <p:sp>
        <p:nvSpPr>
          <p:cNvPr id="14" name="Text 12"/>
          <p:cNvSpPr/>
          <p:nvPr/>
        </p:nvSpPr>
        <p:spPr>
          <a:xfrm>
            <a:off x="4076358" y="1926679"/>
            <a:ext cx="991285" cy="323850"/>
          </a:xfrm>
          <a:prstGeom prst="rect">
            <a:avLst/>
          </a:prstGeom>
          <a:noFill/>
          <a:ln/>
        </p:spPr>
        <p:txBody>
          <a:bodyPr wrap="square" lIns="0" tIns="0" rIns="0" bIns="0" rtlCol="0" anchor="t"/>
          <a:lstStyle/>
          <a:p>
            <a:pPr algn="ctr" indent="0" marL="0">
              <a:buNone/>
            </a:pPr>
            <a:r>
              <a:rPr lang="en-US" sz="2200" b="1" dirty="0">
                <a:solidFill>
                  <a:srgbClr val="17201F"/>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4076358" y="2352030"/>
            <a:ext cx="991285" cy="209550"/>
          </a:xfrm>
          <a:prstGeom prst="rect">
            <a:avLst/>
          </a:prstGeom>
          <a:noFill/>
          <a:ln/>
        </p:spPr>
        <p:txBody>
          <a:bodyPr wrap="square" lIns="0" tIns="0" rIns="0" bIns="0" rtlCol="0" anchor="t"/>
          <a:lstStyle/>
          <a:p>
            <a:pPr algn="ctr" indent="0" marL="0">
              <a:spcBef>
                <a:spcPts val="800"/>
              </a:spcBef>
              <a:buNone/>
            </a:pPr>
            <a:r>
              <a:rPr lang="en-US" sz="750" dirty="0">
                <a:solidFill>
                  <a:srgbClr val="17201F"/>
                </a:solidFill>
                <a:latin typeface="Arial" pitchFamily="34" charset="0"/>
                <a:ea typeface="Arial" pitchFamily="34" charset="-122"/>
                <a:cs typeface="Arial" pitchFamily="34" charset="-120"/>
              </a:rPr>
              <a:t>Cloud survival</a:t>
            </a:r>
            <a:endParaRPr lang="en-US" sz="750" dirty="0"/>
          </a:p>
          <a:p>
            <a:pPr algn="ctr" indent="0" marL="0">
              <a:spcBef>
                <a:spcPts val="800"/>
              </a:spcBef>
              <a:buNone/>
            </a:pPr>
            <a:r>
              <a:rPr lang="en-US" sz="750" dirty="0">
                <a:solidFill>
                  <a:srgbClr val="17201F"/>
                </a:solidFill>
                <a:latin typeface="Arial" pitchFamily="34" charset="0"/>
                <a:ea typeface="Arial" pitchFamily="34" charset="-122"/>
                <a:cs typeface="Arial" pitchFamily="34" charset="-120"/>
              </a:rPr>
              <a:t>LIVE</a:t>
            </a:r>
            <a:endParaRPr lang="en-US" sz="750" dirty="0"/>
          </a:p>
        </p:txBody>
      </p:sp>
      <p:sp>
        <p:nvSpPr>
          <p:cNvPr id="16" name="Text 14"/>
          <p:cNvSpPr/>
          <p:nvPr/>
        </p:nvSpPr>
        <p:spPr>
          <a:xfrm>
            <a:off x="5207050" y="1891754"/>
            <a:ext cx="1117550" cy="1066800"/>
          </a:xfrm>
          <a:prstGeom prst="roundRect">
            <a:avLst>
              <a:gd name="adj" fmla="val 10714"/>
            </a:avLst>
          </a:prstGeom>
          <a:noFill/>
          <a:ln w="9525">
            <a:solidFill>
              <a:srgbClr val="324047"/>
            </a:solidFill>
          </a:ln>
        </p:spPr>
        <p:txBody>
          <a:bodyPr wrap="square" rtlCol="0" anchor="ctr"/>
          <a:lstStyle/>
          <a:p>
            <a:pPr indent="0" marL="0">
              <a:buNone/>
            </a:pPr>
            <a:endParaRPr lang="en-US" dirty="0"/>
          </a:p>
        </p:txBody>
      </p:sp>
      <p:sp>
        <p:nvSpPr>
          <p:cNvPr id="17" name="Text 15"/>
          <p:cNvSpPr/>
          <p:nvPr/>
        </p:nvSpPr>
        <p:spPr>
          <a:xfrm>
            <a:off x="5270258" y="2015579"/>
            <a:ext cx="991133" cy="323850"/>
          </a:xfrm>
          <a:prstGeom prst="rect">
            <a:avLst/>
          </a:prstGeom>
          <a:noFill/>
          <a:ln/>
        </p:spPr>
        <p:txBody>
          <a:bodyPr wrap="square" lIns="0" tIns="0" rIns="0" bIns="0" rtlCol="0" anchor="t"/>
          <a:lstStyle/>
          <a:p>
            <a:pPr algn="ctr" indent="0" marL="0">
              <a:buNone/>
            </a:pPr>
            <a:r>
              <a:rPr lang="en-US" sz="2200" b="1" dirty="0">
                <a:solidFill>
                  <a:srgbClr val="9CAAA6"/>
                </a:solidFill>
                <a:latin typeface="Arial" pitchFamily="34" charset="0"/>
                <a:ea typeface="Arial" pitchFamily="34" charset="-122"/>
                <a:cs typeface="Arial" pitchFamily="34" charset="-120"/>
              </a:rPr>
              <a:t>4</a:t>
            </a:r>
            <a:endParaRPr lang="en-US" sz="2200" dirty="0"/>
          </a:p>
        </p:txBody>
      </p:sp>
      <p:sp>
        <p:nvSpPr>
          <p:cNvPr id="18" name="Text 16"/>
          <p:cNvSpPr/>
          <p:nvPr/>
        </p:nvSpPr>
        <p:spPr>
          <a:xfrm>
            <a:off x="5270258" y="2440930"/>
            <a:ext cx="991133" cy="209550"/>
          </a:xfrm>
          <a:prstGeom prst="rect">
            <a:avLst/>
          </a:prstGeom>
          <a:noFill/>
          <a:ln/>
        </p:spPr>
        <p:txBody>
          <a:bodyPr wrap="square" lIns="0" tIns="0" rIns="0" bIns="0" rtlCol="0" anchor="t"/>
          <a:lstStyle/>
          <a:p>
            <a:pPr algn="ctr" indent="0" marL="0">
              <a:spcBef>
                <a:spcPts val="800"/>
              </a:spcBef>
              <a:buNone/>
            </a:pPr>
            <a:r>
              <a:rPr lang="en-US" sz="750" dirty="0">
                <a:solidFill>
                  <a:srgbClr val="9CAAA6"/>
                </a:solidFill>
                <a:latin typeface="Arial" pitchFamily="34" charset="0"/>
                <a:ea typeface="Arial" pitchFamily="34" charset="-122"/>
                <a:cs typeface="Arial" pitchFamily="34" charset="-120"/>
              </a:rPr>
              <a:t>External</a:t>
            </a:r>
            <a:endParaRPr lang="en-US" sz="750" dirty="0"/>
          </a:p>
          <a:p>
            <a:pPr algn="ctr" indent="0" marL="0">
              <a:spcBef>
                <a:spcPts val="800"/>
              </a:spcBef>
              <a:buNone/>
            </a:pPr>
            <a:r>
              <a:rPr lang="en-US" sz="750" dirty="0">
                <a:solidFill>
                  <a:srgbClr val="9CAAA6"/>
                </a:solidFill>
                <a:latin typeface="Arial" pitchFamily="34" charset="0"/>
                <a:ea typeface="Arial" pitchFamily="34" charset="-122"/>
                <a:cs typeface="Arial" pitchFamily="34" charset="-120"/>
              </a:rPr>
              <a:t>self-funded</a:t>
            </a:r>
            <a:endParaRPr lang="en-US" sz="750" dirty="0"/>
          </a:p>
        </p:txBody>
      </p:sp>
      <p:sp>
        <p:nvSpPr>
          <p:cNvPr id="19" name="Text 17"/>
          <p:cNvSpPr/>
          <p:nvPr/>
        </p:nvSpPr>
        <p:spPr>
          <a:xfrm>
            <a:off x="6400800" y="1891754"/>
            <a:ext cx="1117699" cy="1066800"/>
          </a:xfrm>
          <a:prstGeom prst="roundRect">
            <a:avLst>
              <a:gd name="adj" fmla="val 10714"/>
            </a:avLst>
          </a:prstGeom>
          <a:noFill/>
          <a:ln w="9525">
            <a:solidFill>
              <a:srgbClr val="324047"/>
            </a:solidFill>
          </a:ln>
        </p:spPr>
        <p:txBody>
          <a:bodyPr wrap="square" rtlCol="0" anchor="ctr"/>
          <a:lstStyle/>
          <a:p>
            <a:pPr indent="0" marL="0">
              <a:buNone/>
            </a:pPr>
            <a:endParaRPr lang="en-US" dirty="0"/>
          </a:p>
        </p:txBody>
      </p:sp>
      <p:sp>
        <p:nvSpPr>
          <p:cNvPr id="20" name="Text 18"/>
          <p:cNvSpPr/>
          <p:nvPr/>
        </p:nvSpPr>
        <p:spPr>
          <a:xfrm>
            <a:off x="6464007" y="2015579"/>
            <a:ext cx="991285" cy="323850"/>
          </a:xfrm>
          <a:prstGeom prst="rect">
            <a:avLst/>
          </a:prstGeom>
          <a:noFill/>
          <a:ln/>
        </p:spPr>
        <p:txBody>
          <a:bodyPr wrap="square" lIns="0" tIns="0" rIns="0" bIns="0" rtlCol="0" anchor="t"/>
          <a:lstStyle/>
          <a:p>
            <a:pPr algn="ctr" indent="0" marL="0">
              <a:buNone/>
            </a:pPr>
            <a:r>
              <a:rPr lang="en-US" sz="2200" b="1" dirty="0">
                <a:solidFill>
                  <a:srgbClr val="9CAAA6"/>
                </a:solidFill>
                <a:latin typeface="Arial" pitchFamily="34" charset="0"/>
                <a:ea typeface="Arial" pitchFamily="34" charset="-122"/>
                <a:cs typeface="Arial" pitchFamily="34" charset="-120"/>
              </a:rPr>
              <a:t>5</a:t>
            </a:r>
            <a:endParaRPr lang="en-US" sz="2200" dirty="0"/>
          </a:p>
        </p:txBody>
      </p:sp>
      <p:sp>
        <p:nvSpPr>
          <p:cNvPr id="21" name="Text 19"/>
          <p:cNvSpPr/>
          <p:nvPr/>
        </p:nvSpPr>
        <p:spPr>
          <a:xfrm>
            <a:off x="6464007" y="2440930"/>
            <a:ext cx="991285" cy="104775"/>
          </a:xfrm>
          <a:prstGeom prst="rect">
            <a:avLst/>
          </a:prstGeom>
          <a:noFill/>
          <a:ln/>
        </p:spPr>
        <p:txBody>
          <a:bodyPr wrap="square" lIns="0" tIns="0" rIns="0" bIns="0" rtlCol="0" anchor="t"/>
          <a:lstStyle/>
          <a:p>
            <a:pPr algn="ctr" indent="0" marL="0">
              <a:spcBef>
                <a:spcPts val="800"/>
              </a:spcBef>
              <a:buNone/>
            </a:pPr>
            <a:r>
              <a:rPr lang="en-US" sz="750" dirty="0">
                <a:solidFill>
                  <a:srgbClr val="9CAAA6"/>
                </a:solidFill>
                <a:latin typeface="Arial" pitchFamily="34" charset="0"/>
                <a:ea typeface="Arial" pitchFamily="34" charset="-122"/>
                <a:cs typeface="Arial" pitchFamily="34" charset="-120"/>
              </a:rPr>
              <a:t>User payout</a:t>
            </a:r>
            <a:endParaRPr lang="en-US" sz="750" dirty="0"/>
          </a:p>
        </p:txBody>
      </p:sp>
      <p:sp>
        <p:nvSpPr>
          <p:cNvPr id="22" name="Text 20"/>
          <p:cNvSpPr/>
          <p:nvPr/>
        </p:nvSpPr>
        <p:spPr>
          <a:xfrm>
            <a:off x="7594699" y="1891754"/>
            <a:ext cx="1117550" cy="1066800"/>
          </a:xfrm>
          <a:prstGeom prst="roundRect">
            <a:avLst>
              <a:gd name="adj" fmla="val 10714"/>
            </a:avLst>
          </a:prstGeom>
          <a:noFill/>
          <a:ln w="9525">
            <a:solidFill>
              <a:srgbClr val="324047"/>
            </a:solidFill>
          </a:ln>
        </p:spPr>
        <p:txBody>
          <a:bodyPr wrap="square" rtlCol="0" anchor="ctr"/>
          <a:lstStyle/>
          <a:p>
            <a:pPr indent="0" marL="0">
              <a:buNone/>
            </a:pPr>
            <a:endParaRPr lang="en-US" dirty="0"/>
          </a:p>
        </p:txBody>
      </p:sp>
      <p:sp>
        <p:nvSpPr>
          <p:cNvPr id="23" name="Text 21"/>
          <p:cNvSpPr/>
          <p:nvPr/>
        </p:nvSpPr>
        <p:spPr>
          <a:xfrm>
            <a:off x="7657908" y="2015579"/>
            <a:ext cx="991133" cy="323850"/>
          </a:xfrm>
          <a:prstGeom prst="rect">
            <a:avLst/>
          </a:prstGeom>
          <a:noFill/>
          <a:ln/>
        </p:spPr>
        <p:txBody>
          <a:bodyPr wrap="square" lIns="0" tIns="0" rIns="0" bIns="0" rtlCol="0" anchor="t"/>
          <a:lstStyle/>
          <a:p>
            <a:pPr algn="ctr" indent="0" marL="0">
              <a:buNone/>
            </a:pPr>
            <a:r>
              <a:rPr lang="en-US" sz="2200" b="1" dirty="0">
                <a:solidFill>
                  <a:srgbClr val="9CAAA6"/>
                </a:solidFill>
                <a:latin typeface="Arial" pitchFamily="34" charset="0"/>
                <a:ea typeface="Arial" pitchFamily="34" charset="-122"/>
                <a:cs typeface="Arial" pitchFamily="34" charset="-120"/>
              </a:rPr>
              <a:t>6</a:t>
            </a:r>
            <a:endParaRPr lang="en-US" sz="2200" dirty="0"/>
          </a:p>
        </p:txBody>
      </p:sp>
      <p:sp>
        <p:nvSpPr>
          <p:cNvPr id="24" name="Text 22"/>
          <p:cNvSpPr/>
          <p:nvPr/>
        </p:nvSpPr>
        <p:spPr>
          <a:xfrm>
            <a:off x="7657908" y="2440930"/>
            <a:ext cx="991133" cy="104775"/>
          </a:xfrm>
          <a:prstGeom prst="rect">
            <a:avLst/>
          </a:prstGeom>
          <a:noFill/>
          <a:ln/>
        </p:spPr>
        <p:txBody>
          <a:bodyPr wrap="square" lIns="0" tIns="0" rIns="0" bIns="0" rtlCol="0" anchor="t"/>
          <a:lstStyle/>
          <a:p>
            <a:pPr algn="ctr" indent="0" marL="0">
              <a:spcBef>
                <a:spcPts val="800"/>
              </a:spcBef>
              <a:buNone/>
            </a:pPr>
            <a:r>
              <a:rPr lang="en-US" sz="750" dirty="0">
                <a:solidFill>
                  <a:srgbClr val="9CAAA6"/>
                </a:solidFill>
                <a:latin typeface="Arial" pitchFamily="34" charset="0"/>
                <a:ea typeface="Arial" pitchFamily="34" charset="-122"/>
                <a:cs typeface="Arial" pitchFamily="34" charset="-120"/>
              </a:rPr>
              <a:t>Child</a:t>
            </a:r>
            <a:endParaRPr lang="en-US" sz="750" dirty="0"/>
          </a:p>
        </p:txBody>
      </p:sp>
      <p:sp>
        <p:nvSpPr>
          <p:cNvPr id="25" name="Text 23"/>
          <p:cNvSpPr/>
          <p:nvPr/>
        </p:nvSpPr>
        <p:spPr>
          <a:xfrm>
            <a:off x="431750" y="3199805"/>
            <a:ext cx="8280499" cy="704850"/>
          </a:xfrm>
          <a:prstGeom prst="rect">
            <a:avLst/>
          </a:prstGeom>
          <a:solidFill>
            <a:srgbClr val="1A2226"/>
          </a:solidFill>
          <a:ln/>
        </p:spPr>
        <p:txBody>
          <a:bodyPr wrap="square" rtlCol="0" anchor="ctr"/>
          <a:lstStyle/>
          <a:p>
            <a:pPr indent="0" marL="0">
              <a:buNone/>
            </a:pPr>
            <a:endParaRPr lang="en-US" dirty="0"/>
          </a:p>
        </p:txBody>
      </p:sp>
      <p:sp>
        <p:nvSpPr>
          <p:cNvPr id="26" name="Shape 24"/>
          <p:cNvSpPr/>
          <p:nvPr/>
        </p:nvSpPr>
        <p:spPr>
          <a:xfrm>
            <a:off x="460325" y="3199805"/>
            <a:ext cx="0" cy="704850"/>
          </a:xfrm>
          <a:prstGeom prst="line">
            <a:avLst/>
          </a:prstGeom>
          <a:noFill/>
          <a:ln w="57150">
            <a:solidFill>
              <a:srgbClr val="FFB454"/>
            </a:solidFill>
            <a:prstDash val="solid"/>
          </a:ln>
        </p:spPr>
      </p:sp>
      <p:sp>
        <p:nvSpPr>
          <p:cNvPr id="27" name="Text 25"/>
          <p:cNvSpPr/>
          <p:nvPr/>
        </p:nvSpPr>
        <p:spPr>
          <a:xfrm>
            <a:off x="717500" y="3485555"/>
            <a:ext cx="1777329" cy="133350"/>
          </a:xfrm>
          <a:prstGeom prst="rect">
            <a:avLst/>
          </a:prstGeom>
          <a:noFill/>
          <a:ln/>
        </p:spPr>
        <p:txBody>
          <a:bodyPr wrap="square" lIns="0" tIns="0" rIns="0" bIns="0" rtlCol="0" anchor="t"/>
          <a:lstStyle/>
          <a:p>
            <a:pPr algn="l" indent="0" marL="0">
              <a:buNone/>
            </a:pPr>
            <a:r>
              <a:rPr lang="en-US" sz="900" dirty="0">
                <a:solidFill>
                  <a:srgbClr val="9CAAA6"/>
                </a:solidFill>
                <a:latin typeface="Arial" pitchFamily="34" charset="0"/>
                <a:ea typeface="Arial" pitchFamily="34" charset="-122"/>
                <a:cs typeface="Arial" pitchFamily="34" charset="-120"/>
              </a:rPr>
              <a:t>VERIFIED EXTERNAL REVENUE</a:t>
            </a:r>
            <a:endParaRPr lang="en-US" sz="900" dirty="0"/>
          </a:p>
        </p:txBody>
      </p:sp>
      <p:sp>
        <p:nvSpPr>
          <p:cNvPr id="28" name="Text 26"/>
          <p:cNvSpPr/>
          <p:nvPr/>
        </p:nvSpPr>
        <p:spPr>
          <a:xfrm>
            <a:off x="2688580" y="3352205"/>
            <a:ext cx="875306" cy="400050"/>
          </a:xfrm>
          <a:prstGeom prst="rect">
            <a:avLst/>
          </a:prstGeom>
          <a:noFill/>
          <a:ln/>
        </p:spPr>
        <p:txBody>
          <a:bodyPr wrap="square" lIns="0" tIns="0" rIns="0" bIns="0" rtlCol="0" anchor="t"/>
          <a:lstStyle/>
          <a:p>
            <a:pPr algn="l" indent="0" marL="0">
              <a:buNone/>
            </a:pPr>
            <a:r>
              <a:rPr lang="en-US" sz="2700" b="1" dirty="0">
                <a:solidFill>
                  <a:srgbClr val="FFB454"/>
                </a:solidFill>
                <a:latin typeface="Arial" pitchFamily="34" charset="0"/>
                <a:ea typeface="Arial" pitchFamily="34" charset="-122"/>
                <a:cs typeface="Arial" pitchFamily="34" charset="-120"/>
              </a:rPr>
              <a:t>$0.00</a:t>
            </a:r>
            <a:endParaRPr lang="en-US" sz="2700" dirty="0"/>
          </a:p>
        </p:txBody>
      </p:sp>
      <p:sp>
        <p:nvSpPr>
          <p:cNvPr id="29" name="Text 27"/>
          <p:cNvSpPr/>
          <p:nvPr/>
        </p:nvSpPr>
        <p:spPr>
          <a:xfrm>
            <a:off x="3775323" y="3452217"/>
            <a:ext cx="1382030" cy="200025"/>
          </a:xfrm>
          <a:prstGeom prst="rect">
            <a:avLst/>
          </a:prstGeom>
          <a:noFill/>
          <a:ln/>
        </p:spPr>
        <p:txBody>
          <a:bodyPr wrap="square" lIns="0" tIns="0" rIns="0" bIns="0" rtlCol="0" anchor="t"/>
          <a:lstStyle/>
          <a:p>
            <a:pPr algn="l" indent="0" marL="0">
              <a:buNone/>
            </a:pPr>
            <a:r>
              <a:rPr lang="en-US" sz="1000" dirty="0">
                <a:solidFill>
                  <a:srgbClr val="F6F0E6"/>
                </a:solidFill>
                <a:latin typeface="Arial" pitchFamily="34" charset="0"/>
                <a:ea typeface="Arial" pitchFamily="34" charset="-122"/>
                <a:cs typeface="Arial" pitchFamily="34" charset="-120"/>
              </a:rPr>
              <a:t>live level 3 / level 4 未達</a:t>
            </a:r>
            <a:endParaRPr lang="en-US" sz="1000" dirty="0"/>
          </a:p>
        </p:txBody>
      </p:sp>
      <p:sp>
        <p:nvSpPr>
          <p:cNvPr id="30" name="Shape 28"/>
          <p:cNvSpPr/>
          <p:nvPr/>
        </p:nvSpPr>
        <p:spPr>
          <a:xfrm>
            <a:off x="431750" y="4681686"/>
            <a:ext cx="8280499" cy="0"/>
          </a:xfrm>
          <a:prstGeom prst="line">
            <a:avLst/>
          </a:prstGeom>
          <a:noFill/>
          <a:ln w="9525">
            <a:solidFill>
              <a:srgbClr val="324047"/>
            </a:solidFill>
            <a:prstDash val="solid"/>
          </a:ln>
        </p:spPr>
      </p:sp>
      <p:sp>
        <p:nvSpPr>
          <p:cNvPr id="31" name="Text 29"/>
          <p:cNvSpPr/>
          <p:nvPr/>
        </p:nvSpPr>
        <p:spPr>
          <a:xfrm>
            <a:off x="431750" y="4775299"/>
            <a:ext cx="6587868" cy="114300"/>
          </a:xfrm>
          <a:prstGeom prst="rect">
            <a:avLst/>
          </a:prstGeom>
          <a:noFill/>
          <a:ln/>
        </p:spPr>
        <p:txBody>
          <a:bodyPr wrap="square" lIns="0" tIns="0" rIns="0" bIns="0" rtlCol="0" anchor="t"/>
          <a:lstStyle/>
          <a:p>
            <a:pPr algn="l" indent="0" marL="0">
              <a:buNone/>
            </a:pPr>
            <a:r>
              <a:rPr lang="en-US" sz="850" dirty="0">
                <a:solidFill>
                  <a:srgbClr val="9CAAA6"/>
                </a:solidFill>
                <a:latin typeface="Arial" pitchFamily="34" charset="0"/>
                <a:ea typeface="Arial" pitchFamily="34" charset="-122"/>
                <a:cs typeface="Arial" pitchFamily="34" charset="-120"/>
              </a:rPr>
              <a:t>Autonomy: no human operation. Independence: no human recurring payment.</a:t>
            </a:r>
            <a:endParaRPr lang="en-US" sz="850" dirty="0"/>
          </a:p>
        </p:txBody>
      </p:sp>
      <p:sp>
        <p:nvSpPr>
          <p:cNvPr id="32" name="Text 30"/>
          <p:cNvSpPr/>
          <p:nvPr/>
        </p:nvSpPr>
        <p:spPr>
          <a:xfrm>
            <a:off x="7698802" y="4775299"/>
            <a:ext cx="1013448" cy="114300"/>
          </a:xfrm>
          <a:prstGeom prst="rect">
            <a:avLst/>
          </a:prstGeom>
          <a:noFill/>
          <a:ln/>
        </p:spPr>
        <p:txBody>
          <a:bodyPr wrap="square" lIns="0" tIns="0" rIns="50800" bIns="0" rtlCol="0" anchor="t"/>
          <a:lstStyle/>
          <a:p>
            <a:pPr algn="r" indent="0" marL="0">
              <a:buNone/>
            </a:pPr>
            <a:r>
              <a:rPr lang="en-US" sz="850" dirty="0">
                <a:solidFill>
                  <a:srgbClr val="F6F0E6"/>
                </a:solidFill>
                <a:latin typeface="Arial" pitchFamily="34" charset="0"/>
                <a:ea typeface="Arial" pitchFamily="34" charset="-122"/>
                <a:cs typeface="Arial" pitchFamily="34" charset="-120"/>
              </a:rPr>
              <a:t>10 / 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Anicca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AIを経済的に自立させる方法</dc:title>
  <dc:subject>How to make a financially independent AI</dc:subject>
  <dc:creator>Anicca Agent Economy</dc:creator>
  <cp:lastModifiedBy>Anicca Agent Economy</cp:lastModifiedBy>
  <cp:revision>1</cp:revision>
  <dcterms:created xsi:type="dcterms:W3CDTF">2026-07-28T13:16:33Z</dcterms:created>
  <dcterms:modified xsi:type="dcterms:W3CDTF">2026-07-28T13:16:33Z</dcterms:modified>
</cp:coreProperties>
</file>